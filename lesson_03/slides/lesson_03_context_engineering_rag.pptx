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7f8ece0e934e93" /><Relationship Type="http://schemas.openxmlformats.org/officeDocument/2006/relationships/extended-properties" Target="/docProps/app.xml" Id="R08a0d0eee61b4ca5" /><Relationship Type="http://schemas.openxmlformats.org/officeDocument/2006/relationships/officeDocument" Target="/ppt/presentation.xml" Id="R0d58b8a01cd644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5e89494ba64ece"/>
  </p:sldMasterIdLst>
  <p:notesMasterIdLst>
    <p:notesMasterId xmlns:r="http://schemas.openxmlformats.org/officeDocument/2006/relationships" r:id="R9e0fc4e99acd4a4f"/>
  </p:notesMasterIdLst>
  <p:sldIdLst>
    <p:sldId xmlns:r="http://schemas.openxmlformats.org/officeDocument/2006/relationships" id="256" r:id="R140e27a25cfe4942"/>
    <p:sldId xmlns:r="http://schemas.openxmlformats.org/officeDocument/2006/relationships" id="257" r:id="Rf0e3979e2ac34a92"/>
    <p:sldId xmlns:r="http://schemas.openxmlformats.org/officeDocument/2006/relationships" id="258" r:id="Rc292b2f10ae54cb5"/>
    <p:sldId xmlns:r="http://schemas.openxmlformats.org/officeDocument/2006/relationships" id="259" r:id="Re3e2466315df4a87"/>
    <p:sldId xmlns:r="http://schemas.openxmlformats.org/officeDocument/2006/relationships" id="260" r:id="R60dffd5b726e4037"/>
    <p:sldId xmlns:r="http://schemas.openxmlformats.org/officeDocument/2006/relationships" id="261" r:id="Raabebb5e73af4bef"/>
    <p:sldId xmlns:r="http://schemas.openxmlformats.org/officeDocument/2006/relationships" id="262" r:id="R4c5b81b765174630"/>
    <p:sldId xmlns:r="http://schemas.openxmlformats.org/officeDocument/2006/relationships" id="263" r:id="Ra57b9ed4cb374b46"/>
    <p:sldId xmlns:r="http://schemas.openxmlformats.org/officeDocument/2006/relationships" id="264" r:id="R7a13181be11e4900"/>
    <p:sldId xmlns:r="http://schemas.openxmlformats.org/officeDocument/2006/relationships" id="265" r:id="Rc464c9c9abf94ec0"/>
    <p:sldId xmlns:r="http://schemas.openxmlformats.org/officeDocument/2006/relationships" id="266" r:id="R33976c178cd44763"/>
    <p:sldId xmlns:r="http://schemas.openxmlformats.org/officeDocument/2006/relationships" id="267" r:id="Ra0e3870a5cb24047"/>
    <p:sldId xmlns:r="http://schemas.openxmlformats.org/officeDocument/2006/relationships" id="268" r:id="Rc602cf46636b456f"/>
    <p:sldId xmlns:r="http://schemas.openxmlformats.org/officeDocument/2006/relationships" id="269" r:id="R1e9a23d0891f4a0e"/>
    <p:sldId xmlns:r="http://schemas.openxmlformats.org/officeDocument/2006/relationships" id="270" r:id="Rc7b0f112600d4ede"/>
    <p:sldId xmlns:r="http://schemas.openxmlformats.org/officeDocument/2006/relationships" id="271" r:id="R6ce15c43e4f54f50"/>
    <p:sldId xmlns:r="http://schemas.openxmlformats.org/officeDocument/2006/relationships" id="272" r:id="Ra5d39e7dcedb4972"/>
    <p:sldId xmlns:r="http://schemas.openxmlformats.org/officeDocument/2006/relationships" id="273" r:id="R6105f28223844fe0"/>
    <p:sldId xmlns:r="http://schemas.openxmlformats.org/officeDocument/2006/relationships" id="274" r:id="R46c6d941cb4d464d"/>
    <p:sldId xmlns:r="http://schemas.openxmlformats.org/officeDocument/2006/relationships" id="275" r:id="R99ba59adf35b4595"/>
    <p:sldId xmlns:r="http://schemas.openxmlformats.org/officeDocument/2006/relationships" id="276" r:id="R81db9634a9ef4ee3"/>
    <p:sldId xmlns:r="http://schemas.openxmlformats.org/officeDocument/2006/relationships" id="277" r:id="R218ac9b6c7a04e87"/>
    <p:sldId xmlns:r="http://schemas.openxmlformats.org/officeDocument/2006/relationships" id="278" r:id="R39f44491b84b430b"/>
    <p:sldId xmlns:r="http://schemas.openxmlformats.org/officeDocument/2006/relationships" id="279" r:id="R1f3a97717b5747fb"/>
    <p:sldId xmlns:r="http://schemas.openxmlformats.org/officeDocument/2006/relationships" id="280" r:id="Rc76ccf7608c34c20"/>
    <p:sldId xmlns:r="http://schemas.openxmlformats.org/officeDocument/2006/relationships" id="281" r:id="R9b05581b645547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c25aa71b314e12" /><Relationship Type="http://schemas.openxmlformats.org/officeDocument/2006/relationships/slideMaster" Target="/ppt/slideMasters/slideMaster1.xml" Id="R6a5e89494ba64ece" /><Relationship Type="http://schemas.openxmlformats.org/officeDocument/2006/relationships/notesMaster" Target="/ppt/notesMasters/notesMaster1.xml" Id="R9e0fc4e99acd4a4f" /><Relationship Type="http://schemas.openxmlformats.org/officeDocument/2006/relationships/presProps" Target="/ppt/presProps.xml" Id="R96889a6820864db3" /><Relationship Type="http://schemas.openxmlformats.org/officeDocument/2006/relationships/tableStyles" Target="/ppt/tableStyles.xml" Id="Rbdb60e38b24f46fd" /><Relationship Type="http://schemas.openxmlformats.org/officeDocument/2006/relationships/slide" Target="/ppt/slides/slide1.xml" Id="R140e27a25cfe4942" /><Relationship Type="http://schemas.openxmlformats.org/officeDocument/2006/relationships/slide" Target="/ppt/slides/slide2.xml" Id="Rf0e3979e2ac34a92" /><Relationship Type="http://schemas.openxmlformats.org/officeDocument/2006/relationships/slide" Target="/ppt/slides/slide3.xml" Id="Rc292b2f10ae54cb5" /><Relationship Type="http://schemas.openxmlformats.org/officeDocument/2006/relationships/slide" Target="/ppt/slides/slide4.xml" Id="Re3e2466315df4a87" /><Relationship Type="http://schemas.openxmlformats.org/officeDocument/2006/relationships/slide" Target="/ppt/slides/slide5.xml" Id="R60dffd5b726e4037" /><Relationship Type="http://schemas.openxmlformats.org/officeDocument/2006/relationships/slide" Target="/ppt/slides/slide6.xml" Id="Raabebb5e73af4bef" /><Relationship Type="http://schemas.openxmlformats.org/officeDocument/2006/relationships/slide" Target="/ppt/slides/slide7.xml" Id="R4c5b81b765174630" /><Relationship Type="http://schemas.openxmlformats.org/officeDocument/2006/relationships/slide" Target="/ppt/slides/slide8.xml" Id="Ra57b9ed4cb374b46" /><Relationship Type="http://schemas.openxmlformats.org/officeDocument/2006/relationships/slide" Target="/ppt/slides/slide9.xml" Id="R7a13181be11e4900" /><Relationship Type="http://schemas.openxmlformats.org/officeDocument/2006/relationships/slide" Target="/ppt/slides/slide10.xml" Id="Rc464c9c9abf94ec0" /><Relationship Type="http://schemas.openxmlformats.org/officeDocument/2006/relationships/slide" Target="/ppt/slides/slide11.xml" Id="R33976c178cd44763" /><Relationship Type="http://schemas.openxmlformats.org/officeDocument/2006/relationships/slide" Target="/ppt/slides/slide12.xml" Id="Ra0e3870a5cb24047" /><Relationship Type="http://schemas.openxmlformats.org/officeDocument/2006/relationships/slide" Target="/ppt/slides/slide13.xml" Id="Rc602cf46636b456f" /><Relationship Type="http://schemas.openxmlformats.org/officeDocument/2006/relationships/slide" Target="/ppt/slides/slide14.xml" Id="R1e9a23d0891f4a0e" /><Relationship Type="http://schemas.openxmlformats.org/officeDocument/2006/relationships/slide" Target="/ppt/slides/slide15.xml" Id="Rc7b0f112600d4ede" /><Relationship Type="http://schemas.openxmlformats.org/officeDocument/2006/relationships/slide" Target="/ppt/slides/slide16.xml" Id="R6ce15c43e4f54f50" /><Relationship Type="http://schemas.openxmlformats.org/officeDocument/2006/relationships/slide" Target="/ppt/slides/slide17.xml" Id="Ra5d39e7dcedb4972" /><Relationship Type="http://schemas.openxmlformats.org/officeDocument/2006/relationships/slide" Target="/ppt/slides/slide18.xml" Id="R6105f28223844fe0" /><Relationship Type="http://schemas.openxmlformats.org/officeDocument/2006/relationships/slide" Target="/ppt/slides/slide19.xml" Id="R46c6d941cb4d464d" /><Relationship Type="http://schemas.openxmlformats.org/officeDocument/2006/relationships/slide" Target="/ppt/slides/slide20.xml" Id="R99ba59adf35b4595" /><Relationship Type="http://schemas.openxmlformats.org/officeDocument/2006/relationships/slide" Target="/ppt/slides/slide21.xml" Id="R81db9634a9ef4ee3" /><Relationship Type="http://schemas.openxmlformats.org/officeDocument/2006/relationships/slide" Target="/ppt/slides/slide22.xml" Id="R218ac9b6c7a04e87" /><Relationship Type="http://schemas.openxmlformats.org/officeDocument/2006/relationships/slide" Target="/ppt/slides/slide23.xml" Id="R39f44491b84b430b" /><Relationship Type="http://schemas.openxmlformats.org/officeDocument/2006/relationships/slide" Target="/ppt/slides/slide24.xml" Id="R1f3a97717b5747fb" /><Relationship Type="http://schemas.openxmlformats.org/officeDocument/2006/relationships/slide" Target="/ppt/slides/slide25.xml" Id="Rc76ccf7608c34c20" /><Relationship Type="http://schemas.openxmlformats.org/officeDocument/2006/relationships/slide" Target="/ppt/slides/slide26.xml" Id="R9b05581b645547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c244e624ed46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4b9491467f4c62" /><Relationship Type="http://schemas.openxmlformats.org/officeDocument/2006/relationships/notesMaster" Target="/ppt/notesMasters/notesMaster1.xml" Id="R99b2e01649f84f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e4ceb1e03f4914" /><Relationship Type="http://schemas.openxmlformats.org/officeDocument/2006/relationships/notesMaster" Target="/ppt/notesMasters/notesMaster1.xml" Id="R33a6f7e5e77d42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3069acd51e4fcf" /><Relationship Type="http://schemas.openxmlformats.org/officeDocument/2006/relationships/notesMaster" Target="/ppt/notesMasters/notesMaster1.xml" Id="Ra9680981a3ee49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fcd6929b584423" /><Relationship Type="http://schemas.openxmlformats.org/officeDocument/2006/relationships/notesMaster" Target="/ppt/notesMasters/notesMaster1.xml" Id="R8ed2b6ebaf144a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7dc0c7fae34826" /><Relationship Type="http://schemas.openxmlformats.org/officeDocument/2006/relationships/notesMaster" Target="/ppt/notesMasters/notesMaster1.xml" Id="R8fcf7e321a514a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823fe33b694a39" /><Relationship Type="http://schemas.openxmlformats.org/officeDocument/2006/relationships/notesMaster" Target="/ppt/notesMasters/notesMaster1.xml" Id="R101f4613e4544a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a3c1e42b1943c1" /><Relationship Type="http://schemas.openxmlformats.org/officeDocument/2006/relationships/notesMaster" Target="/ppt/notesMasters/notesMaster1.xml" Id="R9fd5076007ca4e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4e55683c934ede" /><Relationship Type="http://schemas.openxmlformats.org/officeDocument/2006/relationships/notesMaster" Target="/ppt/notesMasters/notesMaster1.xml" Id="R5bf5065674a544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3357b24e3f4484" /><Relationship Type="http://schemas.openxmlformats.org/officeDocument/2006/relationships/notesMaster" Target="/ppt/notesMasters/notesMaster1.xml" Id="Rb24b86d8daff48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30bc0893944ee7" /><Relationship Type="http://schemas.openxmlformats.org/officeDocument/2006/relationships/notesMaster" Target="/ppt/notesMasters/notesMaster1.xml" Id="R0383e6bfe7ba46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549d0d525774e64" /><Relationship Type="http://schemas.openxmlformats.org/officeDocument/2006/relationships/notesMaster" Target="/ppt/notesMasters/notesMaster1.xml" Id="Reb7470cfc54f49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2a642f006a43ef" /><Relationship Type="http://schemas.openxmlformats.org/officeDocument/2006/relationships/notesMaster" Target="/ppt/notesMasters/notesMaster1.xml" Id="R6fde032ec275485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06910630a8e499d" /><Relationship Type="http://schemas.openxmlformats.org/officeDocument/2006/relationships/notesMaster" Target="/ppt/notesMasters/notesMaster1.xml" Id="Rb1183d29da04433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da5b1bf95764235" /><Relationship Type="http://schemas.openxmlformats.org/officeDocument/2006/relationships/notesMaster" Target="/ppt/notesMasters/notesMaster1.xml" Id="Ra35fd4dbc6b6458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16a936313ef4237" /><Relationship Type="http://schemas.openxmlformats.org/officeDocument/2006/relationships/notesMaster" Target="/ppt/notesMasters/notesMaster1.xml" Id="R4dd31ad4438742a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35e4f6f18f64ad8" /><Relationship Type="http://schemas.openxmlformats.org/officeDocument/2006/relationships/notesMaster" Target="/ppt/notesMasters/notesMaster1.xml" Id="R35fe364f741b44d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1784458ac7b4a62" /><Relationship Type="http://schemas.openxmlformats.org/officeDocument/2006/relationships/notesMaster" Target="/ppt/notesMasters/notesMaster1.xml" Id="R5a93a653424d4f6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7154b42304345eb" /><Relationship Type="http://schemas.openxmlformats.org/officeDocument/2006/relationships/notesMaster" Target="/ppt/notesMasters/notesMaster1.xml" Id="R7470decbe4de489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0e4553cf0d749a8" /><Relationship Type="http://schemas.openxmlformats.org/officeDocument/2006/relationships/notesMaster" Target="/ppt/notesMasters/notesMaster1.xml" Id="R5a943f58454d4ff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c9668ab095d49df" /><Relationship Type="http://schemas.openxmlformats.org/officeDocument/2006/relationships/notesMaster" Target="/ppt/notesMasters/notesMaster1.xml" Id="R9ec1018fc2e740d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8d06e5d956d461a" /><Relationship Type="http://schemas.openxmlformats.org/officeDocument/2006/relationships/notesMaster" Target="/ppt/notesMasters/notesMaster1.xml" Id="Rb87dfb8630e646f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ab128f5274e4074" /><Relationship Type="http://schemas.openxmlformats.org/officeDocument/2006/relationships/notesMaster" Target="/ppt/notesMasters/notesMaster1.xml" Id="R98697b2623d24b9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da6fd63fa5b45c8" /><Relationship Type="http://schemas.openxmlformats.org/officeDocument/2006/relationships/notesMaster" Target="/ppt/notesMasters/notesMaster1.xml" Id="Rac707906eab1464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cfc6af5be8440d0" /><Relationship Type="http://schemas.openxmlformats.org/officeDocument/2006/relationships/notesMaster" Target="/ppt/notesMasters/notesMaster1.xml" Id="R634092f5756347b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9780847f9fc4912" /><Relationship Type="http://schemas.openxmlformats.org/officeDocument/2006/relationships/notesMaster" Target="/ppt/notesMasters/notesMaster1.xml" Id="R86093f770ef9445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c4b7d69f69b4ab1" /><Relationship Type="http://schemas.openxmlformats.org/officeDocument/2006/relationships/notesMaster" Target="/ppt/notesMasters/notesMaster1.xml" Id="R0c860177e14e4a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Сегодня начинаем не с базы данных, а с вопроса: что модель получает до ответа и почему этого может быть недостаточно. Затем семь раз запускаем один и тот же кейс.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synthesis;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занятии три результата. Понять состав контекста, выбрать способ поиска и проверить найденный фрагмент. Каждый следующий запуск исправляет одну конкретную проблему.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synthesis;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Контекст не является обязательной линейной цепочкой. Иногда достаточно инструкции и вопроса. Для актуального юридического ответа нужен ещё проверенный фрагмент закона.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synthesis;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Дата события уже может быть в вопросе. Текст закона там обычно отсутствует. RAG нужен, чтобы найти фрагмент документа и добавить его в контекст. Для расчётов нужны инструменты, а при нехватке фактов нужен уточняющий вопрос.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synthesis;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Сайт сам добавил платную страховку, галочка уже стояла. Проверяем закон, пункт, дату действия и срок. Требование о возврате адресуется продавцу, исполнителю или владельцу агрегатора.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Федеральный закон от 07.04.2025 № 69-ФЗ: https://publication.pravo.gov.ru/document/0001202504070015</a:t>
            </a:r>
          </a:p>
          <a:p xmlns:a="http://schemas.openxmlformats.org/drawingml/2006/main">
            <a:r>
              <a:t>Разъяснение прокуратуры: https://epp.genproc.gov.ru/ru/utp/activity/legal-education/explain/e5881522/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карта практики. Запуски 3 и 4 показывают один провал и его исправление. Поэтому запусков семь, а крупных изменений шесть.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/Users/vasily/PycharmProjects/ai-course/03/examples/README.md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Перейти в IDE и запустить python workflow_legal_agent.py --step plain. Модель не получает закон и результаты поиска. Сверяем не общий смысл, а закон, статью, дату и срок.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/Users/vasily/PycharmProjects/ai-course/03/examples/00_plain_llm.py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проверенном запуске Gemini распознала проблему, но назвала 7 или 10 дней и 01.09.2022. В официальном тексте указаны п. 3.1 ст. 16, дата 01.09.2025 и срок три дня. Новый запуск может ошибиться иначе.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/Users/vasily/PycharmProjects/ai-course/03/examples/README.md</a:t>
            </a:r>
          </a:p>
          <a:p xmlns:a="http://schemas.openxmlformats.org/drawingml/2006/main">
            <a:r>
              <a:t>Федеральный закон от 07.04.2025 № 69-ФЗ: https://publication.pravo.gov.ru/document/0001202504070015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Полнотекстовый поиск сопоставляет слова. Вопрос говорит про страховку, а закон про дополнительную платную услугу. Общих слов мало. Зато номер закона, статья, дата и точный термин находятся хорошо. Учебный пример использует TF-IDF без морфологии.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PostgreSQL Full Text Search: https://www.postgresql.org/docs/current/textsearch-intro.html</a:t>
            </a:r>
          </a:p>
          <a:p xmlns:a="http://schemas.openxmlformats.org/drawingml/2006/main">
            <a:r>
              <a:t>/Users/vasily/PycharmProjects/ai-course/03/examples/01_fulltext_search.py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Модель эмбеддингов переводит любой текст в длинный список чисел. Вопрос и документ проходят через одну модель, поэтому их векторы можно сравнить. Похожий смысл даёт близкие представления, даже когда слова разные. Эмбеддинг не хранит готовый ответ.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Gemini embeddings guide: https://ai.google.dev/gemini-api/docs/embeddings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Запустить полнотекстовый и векторный поиск. На проверенном прогоне первый поставил выше период охлаждения, а второй нашёл 69-ФЗ и правило про автодобавленную услугу.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/Users/vasily/PycharmProjects/ai-course/03/examples/01_fulltext_search.py</a:t>
            </a:r>
          </a:p>
          <a:p xmlns:a="http://schemas.openxmlformats.org/drawingml/2006/main">
            <a:r>
              <a:t>/Users/vasily/PycharmProjects/ai-course/03/examples/02_vector_search.py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Полнотекстовый поиск полезен для реквизитов. Эмбеддинги полезны для перефразирования. На практике оба возвращают кандидатов, после чего применяются фильтры по теме, источнику и дате.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PostgreSQL Full Text Search: https://www.postgresql.org/docs/current/textsearch-intro.html</a:t>
            </a:r>
          </a:p>
          <a:p xmlns:a="http://schemas.openxmlformats.org/drawingml/2006/main">
            <a:r>
              <a:t>Google Gemini embeddings guide: https://ai.google.dev/gemini-api/docs/embeddings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 ответа закон разрезается на фрагменты и индексируется. По запросу индекс возвращает нужный фрагмент. Вопрос и фрагмент попадают в контекст модели. Отдельно проверяем, что найденного текста достаточно.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Gemini embeddings guide: https://ai.google.dev/gemini-api/docs/embeddings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Перейти в IDE и запустить python workflow_legal_agent.py --step bad-chunks. Настройки намеренно плохие: 280 символов, нулевое перекрытие и top-1. Разрез попадает внутрь правила.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/Users/vasily/PycharmProjects/ai-course/03/examples/03_bad_chunking_rag.py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проверенном прогоне top-1 закончился на словах «выполнение дополнит». В нём нет п. 3.1, требования о согласии, запрета автогалочки, даты действия и срока. Ответ «Недостаточно данных» здесь правильный.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/Users/vasily/PycharmProjects/ai-course/03/examples/03_bad_chunking_rag.py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закона сначала сохраняем смысловую единицу: статью, пункт или подпункт. К фрагменту добавляем документ, статью, дату и источник. Перекрытие помогает только на соседней границе.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synthesis;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Запустить python workflow_legal_agent.py --step structured-rag. Теперь один фрагмент содержит норму, дату, требование о согласии, запрет автоматической отметки и срок возврата. Каждый тезис ответа можно сопоставить с источником.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/Users/vasily/PycharmProjects/ai-course/03/examples/04_structured_rag.py</a:t>
            </a:r>
          </a:p>
          <a:p xmlns:a="http://schemas.openxmlformats.org/drawingml/2006/main">
            <a:r>
              <a:t>/Users/vasily/PycharmProjects/ai-course/03/examples/README.md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одном сообщении две темы: страховка и выплаты при сокращении. Один общий top-1 закрывает только первую. Для второго вывода документа нет, поэтому общий поиск устроен неправильно.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Федеральный закон от 31.07.2025 № 306-ФЗ: https://publication.pravo.gov.ru/document/0001202507310053</a:t>
            </a:r>
          </a:p>
          <a:p xmlns:a="http://schemas.openxmlformats.org/drawingml/2006/main">
            <a:r>
              <a:t>/Users/vasily/PycharmProjects/ai-course/03/examples/05_multi_rag_router.py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Роутер получает вопрос первым и возвращает названия корпусов, а не юридический ответ. Для каждой темы запускается отдельный поиск, затем найденные фрагменты объединяются.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/Users/vasily/PycharmProjects/ai-course/03/examples/05_multi_rag_router.py</a:t>
            </a:r>
          </a:p>
          <a:p xmlns:a="http://schemas.openxmlformats.org/drawingml/2006/main">
            <a:r>
              <a:t>Course synthesis.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коде consumer и labor являются техническими именами корпусов. Для обычной московской компании нужна статья 178 ТК РФ. Статья 318 относится к Крайнему Северу и приравненным местностям.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Федеральный закон от 31.07.2025 № 306-ФЗ: https://publication.pravo.gov.ru/document/0001202507310053</a:t>
            </a:r>
          </a:p>
          <a:p xmlns:a="http://schemas.openxmlformats.org/drawingml/2006/main">
            <a:r>
              <a:t>/Users/vasily/PycharmProjects/ai-course/03/examples/05_multi_rag_router.py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Один и тот же вопрос требует разных редакций до и после 01.09.2025. Старую версию не удаляем. В поиск передаём дату события, чтобы выбрать действовавший текст. Запустить python workflow_legal_agent.py --step versions.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Федеральный закон от 07.04.2025 № 69-ФЗ: https://publication.pravo.gov.ru/document/0001202504070015</a:t>
            </a:r>
          </a:p>
          <a:p xmlns:a="http://schemas.openxmlformats.org/drawingml/2006/main">
            <a:r>
              <a:t>/Users/vasily/PycharmProjects/ai-course/03/examples/06_versioned_update.py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pgvector удобно использовать, когда данные уже находятся в PostgreSQL и нужны SQL, JOIN и транзакции. Qdrant подходит для отдельного сервиса векторного поиска. Ни одна база не исправляет плохие чанки или неверный корпус.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pgvector documentation: https://github.com/pgvector/pgvector</a:t>
            </a:r>
          </a:p>
          <a:p xmlns:a="http://schemas.openxmlformats.org/drawingml/2006/main">
            <a:r>
              <a:t>Qdrant filtering documentation: https://qdrant.tech/documentation/concepts/filtering/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Сначала проверяем retrieval: документ, редакцию и полноту. Затем проверяем ответ: каждый вывод должен опираться на найденный контекст. Так видно, где возникла ошибка.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/Users/vasily/PycharmProjects/ai-course/03/examples/test_examples_offline.py</a:t>
            </a:r>
          </a:p>
          <a:p xmlns:a="http://schemas.openxmlformats.org/drawingml/2006/main">
            <a:r>
              <a:t>Course synthesis.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контракт ответа агента, а не ещё один тест RAG. В ответе должны быть факты, действующая норма, условия вывода и ссылка на фрагмент. Если данных мало, агент задаёт вопрос или останавливается.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synthesis; not legal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Домашка переносит тот же подход на Python Cookbook. Книгу режем по рецептам, сохраняем страницы и ищем фрагмент до генерации кода. Проверяем и обычный ответ модели, и продолжение цикла после tool calls. На приложенном PDF извлечение уже проходит: 226 рецептов, 812 чанков, максимум 1800 символов, страницы 19-683.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/Users/vasily/PycharmProjects/ai-course/03/examples/coding_agent_with_cookbook_rag.py</a:t>
            </a:r>
          </a:p>
          <a:p xmlns:a="http://schemas.openxmlformats.org/drawingml/2006/main">
            <a:r>
              <a:t>/Users/vasily/Downloads/D. Beazley, B.K. Jones - Python Cookbook, 3rd Edition. 2013.pdf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Финальная схема собирает весь урок. Роутер выбирает один или несколько корпусов. В каждом RAG офлайн готовятся чанки, эмбеддинги и индекс. На запросе retriever находит Top-K кандидатов, reranker повторно оценивает пары «вопрос плюс чанк», а fusion объединяет ветки и выбирает контекст. Модель собирает ответ, а verifier проверяет, что выводы опираются на источники.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synthesis; no external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5de5c5d02242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fad67be506458b" /><Relationship Type="http://schemas.openxmlformats.org/officeDocument/2006/relationships/slideLayout" Target="/ppt/slideLayouts/slideLayout1.xml" Id="R88c8550dcad84b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c8550dcad84b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058929f2b4c29" /><Relationship Type="http://schemas.openxmlformats.org/officeDocument/2006/relationships/notesSlide" Target="/ppt/notesSlides/notesSlide1.xml" Id="R0685087a828a4f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8c2a99ead48ff" /><Relationship Type="http://schemas.openxmlformats.org/officeDocument/2006/relationships/notesSlide" Target="/ppt/notesSlides/notesSlide2.xml" Id="R2fa02ea50c874d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c463bc19047be" /><Relationship Type="http://schemas.openxmlformats.org/officeDocument/2006/relationships/notesSlide" Target="/ppt/notesSlides/notesSlide3.xml" Id="Ra5bb4796fb094f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a31be9ceb4078" /><Relationship Type="http://schemas.openxmlformats.org/officeDocument/2006/relationships/notesSlide" Target="/ppt/notesSlides/notesSlide4.xml" Id="Rd83dd6d209314b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5ea89914a46d3" /><Relationship Type="http://schemas.openxmlformats.org/officeDocument/2006/relationships/notesSlide" Target="/ppt/notesSlides/notesSlide5.xml" Id="Ra36956664d4b49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35dc96aa84ab5" /><Relationship Type="http://schemas.openxmlformats.org/officeDocument/2006/relationships/notesSlide" Target="/ppt/notesSlides/notesSlide6.xml" Id="R41ec294b480e4f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866dfb6824d0a" /><Relationship Type="http://schemas.openxmlformats.org/officeDocument/2006/relationships/notesSlide" Target="/ppt/notesSlides/notesSlide7.xml" Id="Rd93c931ea78c4c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b7dbe9dc8498a" /><Relationship Type="http://schemas.openxmlformats.org/officeDocument/2006/relationships/notesSlide" Target="/ppt/notesSlides/notesSlide8.xml" Id="Rdc607683967a47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1b85abb9b4c17" /><Relationship Type="http://schemas.openxmlformats.org/officeDocument/2006/relationships/notesSlide" Target="/ppt/notesSlides/notesSlide9.xml" Id="Rdffcdcbb397242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70917905d42ad" /><Relationship Type="http://schemas.openxmlformats.org/officeDocument/2006/relationships/notesSlide" Target="/ppt/notesSlides/notesSlide10.xml" Id="R1c66745db5e64c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c5a168b4b40fd" /><Relationship Type="http://schemas.openxmlformats.org/officeDocument/2006/relationships/notesSlide" Target="/ppt/notesSlides/notesSlide11.xml" Id="R8fb5be97024547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74a20d4424028" /><Relationship Type="http://schemas.openxmlformats.org/officeDocument/2006/relationships/notesSlide" Target="/ppt/notesSlides/notesSlide12.xml" Id="R54a673102c014e2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73908301d446a" /><Relationship Type="http://schemas.openxmlformats.org/officeDocument/2006/relationships/notesSlide" Target="/ppt/notesSlides/notesSlide13.xml" Id="Rcd9efa322ac34bd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601899ed34133" /><Relationship Type="http://schemas.openxmlformats.org/officeDocument/2006/relationships/notesSlide" Target="/ppt/notesSlides/notesSlide14.xml" Id="Rd8f280a2f6a74b4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196afa9274233" /><Relationship Type="http://schemas.openxmlformats.org/officeDocument/2006/relationships/notesSlide" Target="/ppt/notesSlides/notesSlide15.xml" Id="R732069ef41164d0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90713accd4357" /><Relationship Type="http://schemas.openxmlformats.org/officeDocument/2006/relationships/notesSlide" Target="/ppt/notesSlides/notesSlide16.xml" Id="Rd37b3a76952b4dc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3ff14afe04e69" /><Relationship Type="http://schemas.openxmlformats.org/officeDocument/2006/relationships/notesSlide" Target="/ppt/notesSlides/notesSlide17.xml" Id="R613652ab40b9489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a55bc24eb49cf" /><Relationship Type="http://schemas.openxmlformats.org/officeDocument/2006/relationships/notesSlide" Target="/ppt/notesSlides/notesSlide18.xml" Id="R50cd6420d2b244e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e9cc9d9aa4c37" /><Relationship Type="http://schemas.openxmlformats.org/officeDocument/2006/relationships/notesSlide" Target="/ppt/notesSlides/notesSlide19.xml" Id="Rb8b637eb323947b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d10d7bd4942ec" /><Relationship Type="http://schemas.openxmlformats.org/officeDocument/2006/relationships/notesSlide" Target="/ppt/notesSlides/notesSlide20.xml" Id="Rfeafc0ab83f9449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b93a548ec43bc" /><Relationship Type="http://schemas.openxmlformats.org/officeDocument/2006/relationships/notesSlide" Target="/ppt/notesSlides/notesSlide21.xml" Id="Rfe007fef1e98463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fd820fac54062" /><Relationship Type="http://schemas.openxmlformats.org/officeDocument/2006/relationships/notesSlide" Target="/ppt/notesSlides/notesSlide22.xml" Id="R858cd21952e54ec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732b9c5874471" /><Relationship Type="http://schemas.openxmlformats.org/officeDocument/2006/relationships/notesSlide" Target="/ppt/notesSlides/notesSlide23.xml" Id="R0d204efc92c5413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17b9b990f41db" /><Relationship Type="http://schemas.openxmlformats.org/officeDocument/2006/relationships/notesSlide" Target="/ppt/notesSlides/notesSlide24.xml" Id="Rb3ddd8d6baa14d0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1041f87fd4d64" /><Relationship Type="http://schemas.openxmlformats.org/officeDocument/2006/relationships/notesSlide" Target="/ppt/notesSlides/notesSlide25.xml" Id="R2dce3a578e024d2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4a8c72dfa4250" /><Relationship Type="http://schemas.openxmlformats.org/officeDocument/2006/relationships/notesSlide" Target="/ppt/notesSlides/notesSlide26.xml" Id="Rbc4112d955394f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A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0F7379-79C5-430C-8FAE-A5AB62D3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0C9E8"/>
                </a:solidFill>
              </a:defRPr>
            </a:pPr>
            <a:r>
              <a:rPr sz="975" b="1">
                <a:solidFill>
                  <a:srgbClr val="50C9E8"/>
                </a:solidFill>
              </a:rPr>
              <a:t>ЛЕКЦИЯ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1F808-8A2B-4144-86AF-9446FC9E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752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Context engineering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и 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C5AE6-4A28-42CB-BDDD-642936C2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C9D9E7"/>
                </a:solidFill>
              </a:defRPr>
            </a:pPr>
            <a:r>
              <a:rPr sz="1725" b="0">
                <a:solidFill>
                  <a:srgbClr val="C9D9E7"/>
                </a:solidFill>
              </a:rPr>
              <a:t>Как дать модели нужные данные до ответа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DC720-F02A-4CB0-B249-B70A03FB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C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2A34B-B886-480E-898B-1F60A753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Один кейс, семь запусков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7337F-B3BE-4F0D-BA74-BEEC96B9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047750"/>
            <a:ext cx="2286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F262B-79BC-4625-94C4-15457202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28800"/>
            <a:ext cx="95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6049E-28E5-40AD-91EC-14A99832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9052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C9E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889030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CDD900-6F58-47E1-9F57-C5E37209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67F0"/>
                </a:solidFill>
              </a:defRPr>
            </a:pPr>
            <a:r>
              <a:rPr sz="900" b="1">
                <a:solidFill>
                  <a:srgbClr val="2867F0"/>
                </a:solidFill>
              </a:rPr>
              <a:t>ЦЕЛЬ ЗАНЯТИЯ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9E442-0E0A-4A86-B1E3-CD2BB25E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2238"/>
                </a:solidFill>
              </a:defRPr>
            </a:pPr>
            <a:r>
              <a:rPr sz="2700" b="1">
                <a:solidFill>
                  <a:srgbClr val="112238"/>
                </a:solidFill>
              </a:rPr>
              <a:t>Что разберём за занятие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C2C96-377E-4EBE-8E45-32EFD012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781"/>
                </a:solidFill>
              </a:defRPr>
            </a:pPr>
            <a:r>
              <a:rPr sz="900" b="1">
                <a:solidFill>
                  <a:srgbClr val="6F7781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97CAD-5D7F-4E8B-A556-EDA2162B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2238"/>
                </a:solidFill>
              </a:defRPr>
            </a:pPr>
            <a:r>
              <a:rPr sz="1800" b="1">
                <a:solidFill>
                  <a:srgbClr val="112238"/>
                </a:solidFill>
              </a:rPr>
              <a:t>К концу занятия вы сможете: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C1CE3-AE76-4D80-AD22-52C261AB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3D2FF-7FBE-4410-92B7-4C3BCFC1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79353-7410-40F6-A489-8B834C1A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8602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2238"/>
                </a:solidFill>
              </a:defRPr>
            </a:pPr>
            <a:r>
              <a:rPr sz="1575" b="1">
                <a:solidFill>
                  <a:srgbClr val="112238"/>
                </a:solidFill>
              </a:rPr>
              <a:t>Контекст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C98D07-E595-4E22-9BF3-DCBFDFCB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09875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7781"/>
                </a:solidFill>
              </a:defRPr>
            </a:pPr>
            <a:r>
              <a:rPr sz="1125" b="0">
                <a:solidFill>
                  <a:srgbClr val="6F7781"/>
                </a:solidFill>
              </a:rPr>
              <a:t>что модель видит перед ответом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FCD55-2B5F-48CD-BFEB-11D87BD7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65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A87D9-9C79-4B06-A4C9-ECC5018A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0985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952FA1-E468-4598-AA59-F58E488D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8602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2238"/>
                </a:solidFill>
              </a:defRPr>
            </a:pPr>
            <a:r>
              <a:rPr sz="1575" b="1">
                <a:solidFill>
                  <a:srgbClr val="112238"/>
                </a:solidFill>
              </a:rPr>
              <a:t>Поиск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EC529E-5F8C-4AAC-B134-5AA93567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09875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7781"/>
                </a:solidFill>
              </a:defRPr>
            </a:pPr>
            <a:r>
              <a:rPr sz="1125" b="0">
                <a:solidFill>
                  <a:srgbClr val="6F7781"/>
                </a:solidFill>
              </a:rPr>
              <a:t>как найти нужный закон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DE1C02-F12F-40EB-BF0E-6E495C04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38EF4D-08C2-485D-A845-AFEB8117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0727ED-BAAB-4DC4-A81E-397EBF54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8602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2238"/>
                </a:solidFill>
              </a:defRPr>
            </a:pPr>
            <a:r>
              <a:rPr sz="1575" b="1">
                <a:solidFill>
                  <a:srgbClr val="112238"/>
                </a:solidFill>
              </a:rPr>
              <a:t>Проверка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6F3603-2B03-42AC-8D96-1F44DFA7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09875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7781"/>
                </a:solidFill>
              </a:defRPr>
            </a:pPr>
            <a:r>
              <a:rPr sz="1125" b="0">
                <a:solidFill>
                  <a:srgbClr val="6F7781"/>
                </a:solidFill>
              </a:rPr>
              <a:t>как проверить найденный фрагмент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A315F9-066D-4384-BE22-6FE7AEEC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933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BE1E11-91F6-41DC-8258-8419BE63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958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Начнём с ошибки модели без документов.</a:t>
            </a:r>
          </a:p>
        </p:txBody>
      </p:sp>
    </p:spTree>
    <p:extLst>
      <p:ext uri="{BB962C8B-B14F-4D97-AF65-F5344CB8AC3E}">
        <p14:creationId xmlns:p14="http://schemas.microsoft.com/office/powerpoint/2010/main" val="17237789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1E5DD4-B2AC-422A-B06A-CA46D6DA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67F0"/>
                </a:solidFill>
              </a:defRPr>
            </a:pPr>
            <a:r>
              <a:rPr sz="900" b="1">
                <a:solidFill>
                  <a:srgbClr val="2867F0"/>
                </a:solidFill>
              </a:rPr>
              <a:t>CONTEXT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CCE95-7375-455F-9258-A8239300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2238"/>
                </a:solidFill>
              </a:defRPr>
            </a:pPr>
            <a:r>
              <a:rPr sz="2700" b="1">
                <a:solidFill>
                  <a:srgbClr val="112238"/>
                </a:solidFill>
              </a:rPr>
              <a:t>Из чего собирается контекст модели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FF1E0-FAB6-49C0-B9F7-B214736F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781"/>
                </a:solidFill>
              </a:defRPr>
            </a:pPr>
            <a:r>
              <a:rPr sz="900" b="1">
                <a:solidFill>
                  <a:srgbClr val="6F7781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73D0A-4FA2-46BC-9828-4AA48F5A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50CF3-DEC0-432A-9C1D-AB5CCD99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Инструкция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1FE12-C3A3-44F6-8604-90D20962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933700"/>
            <a:ext cx="381000" cy="28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85FB3-0AF3-4787-A103-5C2B0FBE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7336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98A2AD"/>
                </a:solidFill>
              </a:defRPr>
            </a:pPr>
            <a:r>
              <a:rPr sz="2400" b="1">
                <a:solidFill>
                  <a:srgbClr val="98A2AD"/>
                </a:solidFill>
              </a:rP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74E2AC-DA90-405D-AE52-1BECC948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8125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9B610-65EB-4493-B674-77CE2DF3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8605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Вопрос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66C602-9947-4024-95EC-3344B646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933700"/>
            <a:ext cx="381000" cy="28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3430B-56A1-422F-935A-F20F70FB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336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98A2AD"/>
                </a:solidFill>
              </a:defRPr>
            </a:pPr>
            <a:r>
              <a:rPr sz="2400" b="1">
                <a:solidFill>
                  <a:srgbClr val="98A2AD"/>
                </a:solidFill>
              </a:rP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868144-896B-437F-8DD3-18B30146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8125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C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8F419C-0210-4E3F-8079-F7D0CCCD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8605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Факты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из диалога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733607-CBE5-4E06-BEFF-FDA6E1E2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933700"/>
            <a:ext cx="381000" cy="28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A8E274-5A9C-41C8-9E78-A323B131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7336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98A2AD"/>
                </a:solidFill>
              </a:defRPr>
            </a:pPr>
            <a:r>
              <a:rPr sz="2400" b="1">
                <a:solidFill>
                  <a:srgbClr val="98A2AD"/>
                </a:solidFill>
              </a:rP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94EE14-0450-4285-94F6-1290FC10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8125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4BB643-ED84-4C09-84B6-5972652D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8605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Найденный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документ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DCC782-9CFA-4CB0-8DA0-B2C14B3D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933700"/>
            <a:ext cx="381000" cy="28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E57013-DB80-4E23-A2AE-455149D5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7336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98A2AD"/>
                </a:solidFill>
              </a:defRPr>
            </a:pPr>
            <a:r>
              <a:rPr sz="2400" b="1">
                <a:solidFill>
                  <a:srgbClr val="98A2AD"/>
                </a:solidFill>
              </a:rP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69FA36-D282-4278-915E-94C68536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8125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A9FBB7-6395-4F6E-928C-026F40B4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8605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Результат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инструмента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38C9D6-9B05-4266-A535-4790D737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2238"/>
                </a:solidFill>
              </a:defRPr>
            </a:pPr>
            <a:r>
              <a:rPr sz="1875" b="1">
                <a:solidFill>
                  <a:srgbClr val="112238"/>
                </a:solidFill>
              </a:rPr>
              <a:t>Это не обязательные шаги. Берём только то, что помогает ответить.</a:t>
            </a:r>
          </a:p>
        </p:txBody>
      </p:sp>
      <p:cxnSp>
        <p:nvCxnSpPr>
          <p:cNvPr id="50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381250" y="29432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 cap="flat">
            <a:solidFill>
              <a:srgbClr val="98A2AD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591050" y="29432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 cap="flat">
            <a:solidFill>
              <a:srgbClr val="98A2AD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800850" y="29432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 cap="flat">
            <a:solidFill>
              <a:srgbClr val="98A2AD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010650" y="29432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 cap="flat">
            <a:solidFill>
              <a:srgbClr val="98A2AD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9786303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2A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1FDB56-1ADB-4DDA-8235-F955D36E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0C9E8"/>
                </a:solidFill>
              </a:defRPr>
            </a:pPr>
            <a:r>
              <a:rPr sz="900" b="1">
                <a:solidFill>
                  <a:srgbClr val="50C9E8"/>
                </a:solidFill>
              </a:rPr>
              <a:t>CONTEXT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004BD-A0CD-4B91-A6FA-0261C85A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RAG нужен, когда в вопросе нет нужного документа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C1D66-3B43-4FE8-B8D2-5483CDBC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AB6C9"/>
                </a:solidFill>
              </a:defRPr>
            </a:pPr>
            <a:r>
              <a:rPr sz="900" b="1">
                <a:solidFill>
                  <a:srgbClr val="9AB6C9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B4CCF-ACE1-4FCD-B3B8-35CF9966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5143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F7F96-5811-4265-BB88-95139785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4724400" cy="2676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Дата покупки есть в вопросе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→ берём её из сообщения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8"/>
                </a:solidFill>
              </a:defRPr>
            </a:pPr>
            <a:r>
              <a:rPr sz="1125" b="0">
                <a:solidFill>
                  <a:srgbClr val="EAF3F8"/>
                </a:solidFill>
              </a:rP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Текста закона нет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→ ищем документ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0B985-72F2-4956-BEA8-F58D5C60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40005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9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9CC0E-98BC-47A4-81DA-565095E4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571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C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12DA93-78EB-4158-940B-50BB7C33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14550"/>
            <a:ext cx="3638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2238"/>
                </a:solidFill>
              </a:defRPr>
            </a:pPr>
            <a:r>
              <a:rPr sz="1500" b="1">
                <a:solidFill>
                  <a:srgbClr val="112238"/>
                </a:solidFill>
              </a:rPr>
              <a:t>Что делает RAG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B6C6B-84D9-4A7B-99E6-5B2D0D1D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14600"/>
            <a:ext cx="3619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F7781"/>
                </a:solidFill>
              </a:defRPr>
            </a:pPr>
            <a:r>
              <a:rPr sz="1200" b="0">
                <a:solidFill>
                  <a:srgbClr val="6F7781"/>
                </a:solidFill>
              </a:rPr>
              <a:t>Находит нужный фрагмент и добавляет его в контекст модели.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8911BB-2421-494D-A2D4-3ABA8DDD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RAG ищет документы. Он не отвечает вместо модели.</a:t>
            </a:r>
          </a:p>
        </p:txBody>
      </p:sp>
    </p:spTree>
    <p:extLst>
      <p:ext uri="{BB962C8B-B14F-4D97-AF65-F5344CB8AC3E}">
        <p14:creationId xmlns:p14="http://schemas.microsoft.com/office/powerpoint/2010/main" val="17464833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CD909-E737-42AF-8964-69CB9EA6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67F0"/>
                </a:solidFill>
              </a:defRPr>
            </a:pPr>
            <a:r>
              <a:rPr sz="900" b="1">
                <a:solidFill>
                  <a:srgbClr val="2867F0"/>
                </a:solidFill>
              </a:rPr>
              <a:t>КЕЙС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28E6B-332E-4458-A5F3-EAF7E340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2238"/>
                </a:solidFill>
              </a:defRPr>
            </a:pPr>
            <a:r>
              <a:rPr sz="2700" b="1">
                <a:solidFill>
                  <a:srgbClr val="112238"/>
                </a:solidFill>
              </a:rPr>
              <a:t>Кейс: страховка уже добавлена к билету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08DB4-2362-4E10-A7D7-F6130476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781"/>
                </a:solidFill>
              </a:defRPr>
            </a:pPr>
            <a:r>
              <a:rPr sz="900" b="1">
                <a:solidFill>
                  <a:srgbClr val="6F7781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7B9ED3-5D1C-456C-BB7E-0FD183D5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867F0"/>
                </a:solidFill>
              </a:defRPr>
            </a:pPr>
            <a:r>
              <a:rPr sz="1500" b="1">
                <a:solidFill>
                  <a:srgbClr val="2867F0"/>
                </a:solidFill>
              </a:rPr>
              <a:t>Вопрос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28F2B-6348-4196-AB67-8FD09787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5715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F"/>
          </a:solidFill>
          <a:ln xmlns:a="http://schemas.openxmlformats.org/drawingml/2006/main" w="9525">
            <a:solidFill>
              <a:srgbClr val="2867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27C0C-4FAF-4CC3-AD79-954AF999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521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2238"/>
                </a:solidFill>
              </a:defRPr>
            </a:pPr>
            <a:r>
              <a:rPr sz="1650" b="1">
                <a:solidFill>
                  <a:srgbClr val="112238"/>
                </a:solidFill>
              </a:rPr>
              <a:t>«15.09.2025 сайт сам добавил к билету платную страховку. Галочка уже стояла. Можно ли вернуть деньги и как быстро?»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DE3E36-2F59-43DA-82E4-AAA9D453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38375"/>
            <a:ext cx="3714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9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0B8BD-678F-4939-AB35-A1211696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38375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6C61E-F8AD-4F62-8126-0929281A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47925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2238"/>
                </a:solidFill>
              </a:defRPr>
            </a:pPr>
            <a:r>
              <a:rPr sz="1500" b="1">
                <a:solidFill>
                  <a:srgbClr val="112238"/>
                </a:solidFill>
              </a:rPr>
              <a:t>Что проверяем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C873C-A3B7-466F-99B4-35447CC8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47975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F7781"/>
                </a:solidFill>
              </a:defRPr>
            </a:pPr>
            <a:r>
              <a:rPr sz="1350" b="1">
                <a:solidFill>
                  <a:srgbClr val="6F7781"/>
                </a:solidFill>
              </a:rPr>
              <a:t>Закон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6F7781"/>
                </a:solidFill>
              </a:defRPr>
            </a:pPr>
            <a:r>
              <a:rPr sz="1350" b="1">
                <a:solidFill>
                  <a:srgbClr val="6F7781"/>
                </a:solidFill>
              </a:rPr>
              <a:t>Пункт статьи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6F7781"/>
                </a:solidFill>
              </a:defRPr>
            </a:pPr>
            <a:r>
              <a:rPr sz="1350" b="1">
                <a:solidFill>
                  <a:srgbClr val="6F7781"/>
                </a:solidFill>
              </a:rPr>
              <a:t>Дату действия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6F7781"/>
                </a:solidFill>
              </a:defRPr>
            </a:pPr>
            <a:r>
              <a:rPr sz="1350" b="1">
                <a:solidFill>
                  <a:srgbClr val="6F7781"/>
                </a:solidFill>
              </a:rPr>
              <a:t>Срок возврата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D5C73-259C-43C7-A041-6649837D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6B5B"/>
                </a:solidFill>
              </a:defRPr>
            </a:pPr>
            <a:r>
              <a:rPr sz="1350" b="1">
                <a:solidFill>
                  <a:srgbClr val="FF6B5B"/>
                </a:solidFill>
              </a:rPr>
              <a:t>Ответ сверяем с официальным текстом закона.</a:t>
            </a:r>
          </a:p>
        </p:txBody>
      </p:sp>
    </p:spTree>
    <p:extLst>
      <p:ext uri="{BB962C8B-B14F-4D97-AF65-F5344CB8AC3E}">
        <p14:creationId xmlns:p14="http://schemas.microsoft.com/office/powerpoint/2010/main" val="18527711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74D918-30AC-4E7D-B80D-CCFA9C55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67F0"/>
                </a:solidFill>
              </a:defRPr>
            </a:pPr>
            <a:r>
              <a:rPr sz="900" b="1">
                <a:solidFill>
                  <a:srgbClr val="2867F0"/>
                </a:solidFill>
              </a:rPr>
              <a:t>ПРАКТИКА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DFCF5-3654-4623-8BD3-1447EE68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2238"/>
                </a:solidFill>
              </a:defRPr>
            </a:pPr>
            <a:r>
              <a:rPr sz="2700" b="1">
                <a:solidFill>
                  <a:srgbClr val="112238"/>
                </a:solidFill>
              </a:rPr>
              <a:t>Как будет развиваться один и тот же агент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D29DC-C356-42DA-BD4A-9953549E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781"/>
                </a:solidFill>
              </a:defRPr>
            </a:pPr>
            <a:r>
              <a:rPr sz="900" b="1">
                <a:solidFill>
                  <a:srgbClr val="6F7781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5AB08-FA3A-405F-9433-02AAF0DE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E5"/>
          </a:solidFill>
          <a:ln xmlns:a="http://schemas.openxmlformats.org/drawingml/2006/main" w="9525">
            <a:solidFill>
              <a:srgbClr val="EDE9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C1279-8722-4B2D-AA11-2FF035DF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621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2238"/>
                </a:solidFill>
              </a:defRPr>
            </a:pPr>
            <a:r>
              <a:rPr sz="1500" b="1">
                <a:solidFill>
                  <a:srgbClr val="112238"/>
                </a:solidFill>
              </a:rPr>
              <a:t>0. Только модель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EA5575-88C6-4CE1-9BE5-D7E109EC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05075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F7781"/>
                </a:solidFill>
              </a:defRPr>
            </a:pPr>
            <a:r>
              <a:rPr sz="1200" b="0">
                <a:solidFill>
                  <a:srgbClr val="6F7781"/>
                </a:solidFill>
              </a:rPr>
              <a:t>ошибка без источника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FECFC-2C06-43EB-AC8F-07550E06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9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4F30C-05C0-4412-A1A7-0BDF6809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621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2238"/>
                </a:solidFill>
              </a:defRPr>
            </a:pPr>
            <a:r>
              <a:rPr sz="1500" b="1">
                <a:solidFill>
                  <a:srgbClr val="112238"/>
                </a:solidFill>
              </a:rPr>
              <a:t>1. Поиск по словам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92469-B188-4AF2-903F-25215538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05075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F7781"/>
                </a:solidFill>
              </a:defRPr>
            </a:pPr>
            <a:r>
              <a:rPr sz="1200" b="0">
                <a:solidFill>
                  <a:srgbClr val="6F7781"/>
                </a:solidFill>
              </a:rPr>
              <a:t>ищет точные совпадения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EBFF35-CB89-4A85-8BCE-9BEE4F18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9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C024BB-69CC-401D-A058-0BD23A65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621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2238"/>
                </a:solidFill>
              </a:defRPr>
            </a:pPr>
            <a:r>
              <a:rPr sz="1500" b="1">
                <a:solidFill>
                  <a:srgbClr val="112238"/>
                </a:solidFill>
              </a:rPr>
              <a:t>2. Эмбеддинги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B3C24C-58ED-4B7A-AA27-8633FC52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05075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F7781"/>
                </a:solidFill>
              </a:defRPr>
            </a:pPr>
            <a:r>
              <a:rPr sz="1200" b="0">
                <a:solidFill>
                  <a:srgbClr val="6F7781"/>
                </a:solidFill>
              </a:rPr>
              <a:t>видят перефразирование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42B52F-4410-4D6C-92BC-567885FF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9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4898BE-3D87-4861-8A07-B28AD27E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766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2238"/>
                </a:solidFill>
              </a:defRPr>
            </a:pPr>
            <a:r>
              <a:rPr sz="1500" b="1">
                <a:solidFill>
                  <a:srgbClr val="112238"/>
                </a:solidFill>
              </a:rPr>
              <a:t>3-4. Чанки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997E55-625A-485D-9D57-EF0D3E9A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9575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F7781"/>
                </a:solidFill>
              </a:defRPr>
            </a:pPr>
            <a:r>
              <a:rPr sz="1200" b="0">
                <a:solidFill>
                  <a:srgbClr val="6F7781"/>
                </a:solidFill>
              </a:rPr>
              <a:t>разрыв и исправление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03EC5C-0FDE-4BF8-BDD8-EE9F0CDE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67125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9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806947-AB4C-4417-A4E2-CA71DDF1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766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2238"/>
                </a:solidFill>
              </a:defRPr>
            </a:pPr>
            <a:r>
              <a:rPr sz="1500" b="1">
                <a:solidFill>
                  <a:srgbClr val="112238"/>
                </a:solidFill>
              </a:rPr>
              <a:t>5. Роутинг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4D4552-CFEE-47F3-A3F9-45CD9DF4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19575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F7781"/>
                </a:solidFill>
              </a:defRPr>
            </a:pPr>
            <a:r>
              <a:rPr sz="1200" b="0">
                <a:solidFill>
                  <a:srgbClr val="6F7781"/>
                </a:solidFill>
              </a:rPr>
              <a:t>две темы, два корпуса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244EAE-CA8A-43F6-9D4C-2EB61797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67125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9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6C6B2A-C5C4-4B87-AA4B-0113E2B5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766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2238"/>
                </a:solidFill>
              </a:defRPr>
            </a:pPr>
            <a:r>
              <a:rPr sz="1500" b="1">
                <a:solidFill>
                  <a:srgbClr val="112238"/>
                </a:solidFill>
              </a:rPr>
              <a:t>6. Обновление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A6E80B-CDA0-4D7E-966F-3F36C485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19575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F7781"/>
                </a:solidFill>
              </a:defRPr>
            </a:pPr>
            <a:r>
              <a:rPr sz="1200" b="0">
                <a:solidFill>
                  <a:srgbClr val="6F7781"/>
                </a:solidFill>
              </a:rPr>
              <a:t>версия закона на дату</a:t>
            </a:r>
          </a:p>
        </p:txBody>
      </p:sp>
    </p:spTree>
    <p:extLst>
      <p:ext uri="{BB962C8B-B14F-4D97-AF65-F5344CB8AC3E}">
        <p14:creationId xmlns:p14="http://schemas.microsoft.com/office/powerpoint/2010/main" val="7433969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2A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E3AEC-78F2-4044-BAA7-39A534C7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0C9E8"/>
                </a:solidFill>
              </a:defRPr>
            </a:pPr>
            <a:r>
              <a:rPr sz="900" b="1">
                <a:solidFill>
                  <a:srgbClr val="50C9E8"/>
                </a:solidFill>
              </a:rPr>
              <a:t>КОД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F14A8-908D-479D-B99E-3D626BBA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Код 1. Спросим модель без документов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080F0-1AED-4A36-A8B8-93A2B53A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AB6C9"/>
                </a:solidFill>
              </a:defRPr>
            </a:pPr>
            <a:r>
              <a:rPr sz="900" b="1">
                <a:solidFill>
                  <a:srgbClr val="9AB6C9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B5053-2E88-4793-9ABA-270619B0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762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53143-6391-468E-A8B6-D9100DB5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43434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Открываем 00_plain_llm.py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8"/>
                </a:solidFill>
              </a:defRPr>
            </a:pPr>
            <a:r>
              <a:rPr sz="1125" b="0">
                <a:solidFill>
                  <a:srgbClr val="EAF3F8"/>
                </a:solidFill>
              </a:rPr>
              <a:t/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«Сайт сам добавил страховку и поставил галочку. Можно ли вернуть деньги и когда?»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C5063-90EF-4583-9270-74B9AFD4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0005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9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6D8BC-A99F-4BF2-8072-F2A76A2C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571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B3F75-FE7E-4E0A-AE8B-C069DA6C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62175"/>
            <a:ext cx="3638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2238"/>
                </a:solidFill>
              </a:defRPr>
            </a:pPr>
            <a:r>
              <a:rPr sz="1500" b="1">
                <a:solidFill>
                  <a:srgbClr val="112238"/>
                </a:solidFill>
              </a:rPr>
              <a:t>Что сверяем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7B10E9-E8F8-456E-91A3-D1ACB8E6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62225"/>
            <a:ext cx="3619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F7781"/>
                </a:solidFill>
              </a:defRPr>
            </a:pPr>
            <a:r>
              <a:rPr sz="1200" b="0">
                <a:solidFill>
                  <a:srgbClr val="6F7781"/>
                </a:solidFill>
              </a:rPr>
              <a:t>Закон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F7781"/>
                </a:solidFill>
              </a:defRPr>
            </a:pPr>
            <a:r>
              <a:rPr sz="1200" b="0">
                <a:solidFill>
                  <a:srgbClr val="6F7781"/>
                </a:solidFill>
              </a:rPr>
              <a:t>Статью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F7781"/>
                </a:solidFill>
              </a:defRPr>
            </a:pPr>
            <a:r>
              <a:rPr sz="1200" b="0">
                <a:solidFill>
                  <a:srgbClr val="6F7781"/>
                </a:solidFill>
              </a:rPr>
              <a:t>Дату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F7781"/>
                </a:solidFill>
              </a:defRPr>
            </a:pPr>
            <a:r>
              <a:rPr sz="1200" b="0">
                <a:solidFill>
                  <a:srgbClr val="6F7781"/>
                </a:solidFill>
              </a:rPr>
              <a:t>Срок возврата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C9FE8-818C-46A1-BDE4-A293ACE4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Переходим в код и запускаем запрос без поиска.</a:t>
            </a:r>
          </a:p>
        </p:txBody>
      </p:sp>
    </p:spTree>
    <p:extLst>
      <p:ext uri="{BB962C8B-B14F-4D97-AF65-F5344CB8AC3E}">
        <p14:creationId xmlns:p14="http://schemas.microsoft.com/office/powerpoint/2010/main" val="3294212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77E852-C240-4CAD-A5B7-2E96299B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67F0"/>
                </a:solidFill>
              </a:defRPr>
            </a:pPr>
            <a:r>
              <a:rPr sz="900" b="1">
                <a:solidFill>
                  <a:srgbClr val="2867F0"/>
                </a:solidFill>
              </a:rPr>
              <a:t>ПОСЛЕ КОДА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9394A-A5DD-4CC1-99F1-13BD0C59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2238"/>
                </a:solidFill>
              </a:defRPr>
            </a:pPr>
            <a:r>
              <a:rPr sz="2700" b="1">
                <a:solidFill>
                  <a:srgbClr val="112238"/>
                </a:solidFill>
              </a:rPr>
              <a:t>Модель ошиблась в дате и сроке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430A0-7016-4C2A-B7DA-B6562017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781"/>
                </a:solidFill>
              </a:defRPr>
            </a:pPr>
            <a:r>
              <a:rPr sz="900" b="1">
                <a:solidFill>
                  <a:srgbClr val="6F7781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9FCCB-8787-4B2C-B614-70B9FD18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6B5B"/>
                </a:solidFill>
              </a:defRPr>
            </a:pPr>
            <a:r>
              <a:rPr sz="1650" b="1">
                <a:solidFill>
                  <a:srgbClr val="FF6B5B"/>
                </a:solidFill>
              </a:rPr>
              <a:t>Gemini в проверенном запуске: 7 или 10 дней, дата 01.09.2022.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29AA1-0B93-46B9-93C0-C2CC25E7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2238"/>
                </a:solidFill>
              </a:defRPr>
            </a:pPr>
            <a:r>
              <a:rPr sz="1800" b="1">
                <a:solidFill>
                  <a:srgbClr val="112238"/>
                </a:solidFill>
              </a:rPr>
              <a:t>В официальном тексте: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CE286-C550-4D8D-9816-BD947F92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83FBE-87D4-46EC-A043-60B2CB32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289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9AD76-040A-405C-BA6B-58B7048F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575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2238"/>
                </a:solidFill>
              </a:defRPr>
            </a:pPr>
            <a:r>
              <a:rPr sz="1500" b="0">
                <a:solidFill>
                  <a:srgbClr val="112238"/>
                </a:solidFill>
              </a:rPr>
              <a:t>69-ФЗ, п. 3.1 ст. 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D4DC0-0869-46D5-903E-80F6B622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B8762-941D-4C85-9346-8C8FACF3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7C268-676A-479C-B052-4EFCCDA5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81425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2238"/>
                </a:solidFill>
              </a:defRPr>
            </a:pPr>
            <a:r>
              <a:rPr sz="1500" b="0">
                <a:solidFill>
                  <a:srgbClr val="112238"/>
                </a:solidFill>
              </a:rPr>
              <a:t>действует с 01.09.2025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E2A687-D6A2-4DCB-A0A2-8DB5D886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97B1E-B3FB-466C-A6C9-5DCDFF47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D82677-B0B1-4070-B4BC-DB9754CC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053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2238"/>
                </a:solidFill>
              </a:defRPr>
            </a:pPr>
            <a:r>
              <a:rPr sz="1500" b="0">
                <a:solidFill>
                  <a:srgbClr val="112238"/>
                </a:solidFill>
              </a:rPr>
              <a:t>возврат в течение 3 дней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ABA997-0AF6-4D28-B4D9-F284522A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05FC4-5F64-449B-AC21-C1D05D1B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8C7570-5B7A-4144-A44F-2CAAB754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29175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2238"/>
                </a:solidFill>
              </a:defRPr>
            </a:pPr>
            <a:r>
              <a:rPr sz="1500" b="0">
                <a:solidFill>
                  <a:srgbClr val="112238"/>
                </a:solidFill>
              </a:rPr>
              <a:t>письменное согласие обязательно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216EE-4D43-44FA-925A-02B14D41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14625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9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8B3C7B-5493-4398-A217-86AFBE67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14625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A43F76-6B99-4B5A-9CC7-4C9EBFC6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24175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2238"/>
                </a:solidFill>
              </a:defRPr>
            </a:pPr>
            <a:r>
              <a:rPr sz="1500" b="1">
                <a:solidFill>
                  <a:srgbClr val="112238"/>
                </a:solidFill>
              </a:rPr>
              <a:t>Вывод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8E62ED-6D22-4DAA-B8E8-0415A20A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24225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F7781"/>
                </a:solidFill>
              </a:defRPr>
            </a:pPr>
            <a:r>
              <a:rPr sz="1200" b="0">
                <a:solidFill>
                  <a:srgbClr val="6F7781"/>
                </a:solidFill>
              </a:rPr>
              <a:t>Уверенный ответ без источника нельзя считать проверенным.</a:t>
            </a:r>
          </a:p>
        </p:txBody>
      </p:sp>
    </p:spTree>
    <p:extLst>
      <p:ext uri="{BB962C8B-B14F-4D97-AF65-F5344CB8AC3E}">
        <p14:creationId xmlns:p14="http://schemas.microsoft.com/office/powerpoint/2010/main" val="19076793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5F5513-ADE5-40C1-875E-C8097860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67F0"/>
                </a:solidFill>
              </a:defRPr>
            </a:pPr>
            <a:r>
              <a:rPr sz="900" b="1">
                <a:solidFill>
                  <a:srgbClr val="2867F0"/>
                </a:solidFill>
              </a:rPr>
              <a:t>ПОИСК ПО СЛОВАМ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E9E0C3-9961-422B-B2A1-53E40AEF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2238"/>
                </a:solidFill>
              </a:defRPr>
            </a:pPr>
            <a:r>
              <a:rPr sz="2400" b="1">
                <a:solidFill>
                  <a:srgbClr val="112238"/>
                </a:solidFill>
              </a:rPr>
              <a:t>Полнотекстовый поиск сопоставляет слова, а не смысл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95929-F4E2-45C7-B1BE-ED6D35A8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781"/>
                </a:solidFill>
              </a:defRPr>
            </a:pPr>
            <a:r>
              <a:rPr sz="900" b="1">
                <a:solidFill>
                  <a:srgbClr val="6F7781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6540A-D64A-4541-85A1-05DD8CCD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4000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AABCB-76AB-4D56-980D-184B8304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238375"/>
            <a:ext cx="35814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AF3F8"/>
                </a:solidFill>
              </a:defRPr>
            </a:pPr>
            <a:r>
              <a:rPr sz="1125" b="0">
                <a:solidFill>
                  <a:srgbClr val="EAF3F8"/>
                </a:solidFill>
              </a:rPr>
              <a:t>Вопрос пользователя: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8"/>
                </a:solidFill>
              </a:defRPr>
            </a:pPr>
            <a:r>
              <a:rPr sz="1125" b="0">
                <a:solidFill>
                  <a:srgbClr val="EAF3F8"/>
                </a:solidFill>
              </a:rPr>
              <a:t>«Страховка уже была добавлена»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80886-4E5D-41B7-8668-4807B738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000250"/>
            <a:ext cx="1619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3B9CF-C71B-485F-A735-545DE151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6695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страховка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E3529-722F-4DFF-9149-53182EEE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95550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7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31423-7707-4735-A6ED-9DC3E89D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9552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6F7781"/>
                </a:solidFill>
              </a:defRPr>
            </a:pPr>
            <a:r>
              <a:rPr sz="2400" b="1">
                <a:solidFill>
                  <a:srgbClr val="6F7781"/>
                </a:solidFill>
              </a:rPr>
              <a:t>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84D209-9C1A-450E-93D4-BC9E4AAC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0250"/>
            <a:ext cx="2762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4BB973-BF8F-4399-B398-49C53DBF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дополнительная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платная услуга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646F2-6540-43D9-AFD6-D8981A1C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12238"/>
                </a:solidFill>
              </a:defRPr>
            </a:pPr>
            <a:r>
              <a:rPr sz="1725" b="1">
                <a:solidFill>
                  <a:srgbClr val="112238"/>
                </a:solidFill>
              </a:rPr>
              <a:t>Общих слов почти нет. Зато номера, даты и точные термины такой поиск находит хорошо.</a:t>
            </a:r>
          </a:p>
        </p:txBody>
      </p:sp>
    </p:spTree>
    <p:extLst>
      <p:ext uri="{BB962C8B-B14F-4D97-AF65-F5344CB8AC3E}">
        <p14:creationId xmlns:p14="http://schemas.microsoft.com/office/powerpoint/2010/main" val="17133575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2A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E57624-787A-4648-8B08-FD21FE06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0C9E8"/>
                </a:solidFill>
              </a:defRPr>
            </a:pPr>
            <a:r>
              <a:rPr sz="900" b="1">
                <a:solidFill>
                  <a:srgbClr val="50C9E8"/>
                </a:solidFill>
              </a:rPr>
              <a:t>ЭМБЕДДИНГИ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A9B56-1148-462D-9C82-C8EB26BB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Эмбеддинг: один смысл в разных словах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BE597-241F-45FE-A4EA-4AF780C4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AB6C9"/>
                </a:solidFill>
              </a:defRPr>
            </a:pPr>
            <a:r>
              <a:rPr sz="900" b="1">
                <a:solidFill>
                  <a:srgbClr val="9AB6C9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5823A-C25F-4679-8E45-F3CDD794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11F11-13A6-4779-A58C-B306CE10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447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7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71450" tIns="76200" rIns="17145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Текст вопроса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«Сайт сам добавил страховку»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8F6EE-9C5C-4084-8B72-47875864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92478F-526D-4AB2-978D-036DA68C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B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71450" tIns="76200" rIns="17145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Вектор вопроса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[... список чисел ...]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65741-4642-40B9-8FDD-16A15B1A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C734D4-A01F-4ED9-9D00-AC214B43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447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71450" tIns="76200" rIns="17145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Текст документа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«Платная услуга без согласия»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7C22A7-1DA2-486E-BA4C-CFE73AE2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847FE-EA72-48DD-B4D5-E1B058A2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A5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71450" tIns="76200" rIns="17145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Вектор документа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[... список чисел ...]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C14AF-F0F8-4CB7-B2FC-F8227C8F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62500"/>
            <a:ext cx="942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Модель эмбеддингов переводит оба текста в числа. Поиск сравнивает получившиеся векторы.</a:t>
            </a:r>
          </a:p>
        </p:txBody>
      </p:sp>
      <p:sp>
        <p:nvSpPr>
          <p:cNvPr id="14" name="embedding-left-arrow">
            <a:extLst xmlns:a="http://schemas.openxmlformats.org/drawingml/2006/main">
              <a:ext uri="{FF2B5EF4-FFF2-40B4-BE49-F238E27FC236}">
                <a16:creationId xmlns:a16="http://schemas.microsoft.com/office/drawing/2014/main" id="{9676EEAA-33CA-4948-BF5D-0922FFE7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57500"/>
            <a:ext cx="62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0C9E8"/>
                </a:solidFill>
              </a:defRPr>
            </a:pPr>
            <a:r>
              <a:rPr sz="2250" b="1">
                <a:solidFill>
                  <a:srgbClr val="50C9E8"/>
                </a:solidFill>
              </a:rPr>
              <a:t>↓</a:t>
            </a:r>
          </a:p>
        </p:txBody>
      </p:sp>
      <p:sp>
        <p:nvSpPr>
          <p:cNvPr id="15" name="embedding-right-arrow">
            <a:extLst xmlns:a="http://schemas.openxmlformats.org/drawingml/2006/main">
              <a:ext uri="{FF2B5EF4-FFF2-40B4-BE49-F238E27FC236}">
                <a16:creationId xmlns:a16="http://schemas.microsoft.com/office/drawing/2014/main" id="{26CBD595-FD05-4BBE-911A-1284D504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57500"/>
            <a:ext cx="62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0C9E8"/>
                </a:solidFill>
              </a:defRPr>
            </a:pPr>
            <a:r>
              <a:rPr sz="2250" b="1">
                <a:solidFill>
                  <a:srgbClr val="50C9E8"/>
                </a:solidFill>
              </a:rPr>
              <a:t>↓</a:t>
            </a:r>
          </a:p>
        </p:txBody>
      </p:sp>
      <p:sp>
        <p:nvSpPr>
          <p:cNvPr id="16" name="embedding-compare">
            <a:extLst xmlns:a="http://schemas.openxmlformats.org/drawingml/2006/main">
              <a:ext uri="{FF2B5EF4-FFF2-40B4-BE49-F238E27FC236}">
                <a16:creationId xmlns:a16="http://schemas.microsoft.com/office/drawing/2014/main" id="{F55E62D9-9968-4EA0-8BE1-11ABD6EB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3718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0C9E8"/>
                </a:solidFill>
              </a:defRPr>
            </a:pPr>
            <a:r>
              <a:rPr sz="1050" b="1">
                <a:solidFill>
                  <a:srgbClr val="50C9E8"/>
                </a:solidFill>
              </a:rPr>
              <a:t>близкие векторы</a:t>
            </a:r>
          </a:p>
          <a:p xmlns:a="http://schemas.openxmlformats.org/drawingml/2006/main">
            <a:pPr algn="ctr">
              <a:defRPr sz="1050" b="1">
                <a:solidFill>
                  <a:srgbClr val="50C9E8"/>
                </a:solidFill>
              </a:defRPr>
            </a:pPr>
            <a:r>
              <a:rPr sz="1050" b="1">
                <a:solidFill>
                  <a:srgbClr val="50C9E8"/>
                </a:solidFill>
              </a:rPr>
              <a:t>→ кандидат</a:t>
            </a:r>
          </a:p>
        </p:txBody>
      </p:sp>
    </p:spTree>
    <p:extLst>
      <p:ext uri="{BB962C8B-B14F-4D97-AF65-F5344CB8AC3E}">
        <p14:creationId xmlns:p14="http://schemas.microsoft.com/office/powerpoint/2010/main" val="11021920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5F5363-EC07-4F5E-ADA3-D2363698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67F0"/>
                </a:solidFill>
              </a:defRPr>
            </a:pPr>
            <a:r>
              <a:rPr sz="900" b="1">
                <a:solidFill>
                  <a:srgbClr val="2867F0"/>
                </a:solidFill>
              </a:rPr>
              <a:t>КОД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4B16E-454A-4692-BE04-8858B88C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2238"/>
                </a:solidFill>
              </a:defRPr>
            </a:pPr>
            <a:r>
              <a:rPr sz="2700" b="1">
                <a:solidFill>
                  <a:srgbClr val="112238"/>
                </a:solidFill>
              </a:rPr>
              <a:t>Один вопрос, два результата поиска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6D29FE-7E70-437D-B032-BA800B4E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781"/>
                </a:solidFill>
              </a:defRPr>
            </a:pPr>
            <a:r>
              <a:rPr sz="900" b="1">
                <a:solidFill>
                  <a:srgbClr val="6F7781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1D624-E288-492F-A476-0E598D0C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2238"/>
                </a:solidFill>
              </a:defRPr>
            </a:pPr>
            <a:r>
              <a:rPr sz="1800" b="1">
                <a:solidFill>
                  <a:srgbClr val="112238"/>
                </a:solidFill>
              </a:rPr>
              <a:t>Один вопрос: «Сайт сам добавил страховку. Можно ли вернуть деньги?»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1F34E-402C-4F8C-A491-3A52224C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4857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9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D5B63-BD31-4123-A5D2-8D8996E3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42C35-E66E-4A68-BF66-04F11935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28925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2238"/>
                </a:solidFill>
              </a:defRPr>
            </a:pPr>
            <a:r>
              <a:rPr sz="1500" b="1">
                <a:solidFill>
                  <a:srgbClr val="112238"/>
                </a:solidFill>
              </a:rPr>
              <a:t>По словам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4347E9-4155-43B4-8EC3-3F400371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28975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F7781"/>
                </a:solidFill>
              </a:defRPr>
            </a:pPr>
            <a:r>
              <a:rPr sz="1200" b="0">
                <a:solidFill>
                  <a:srgbClr val="6F7781"/>
                </a:solidFill>
              </a:rPr>
              <a:t>«Период охлаждения страховки»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F7781"/>
                </a:solidFill>
              </a:defRPr>
            </a:pPr>
            <a:r>
              <a:rPr sz="1200" b="0">
                <a:solidFill>
                  <a:srgbClr val="6F7781"/>
                </a:solidFill>
              </a:rPr>
              <a:t>Не тот кейс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941CF-D7DE-4147-8D06-F8E83923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4857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9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5B5C76-A4DD-454B-A0D0-ED3DD44E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CF56A-B31A-4BB0-B0EA-B8684B84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28925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2238"/>
                </a:solidFill>
              </a:defRPr>
            </a:pPr>
            <a:r>
              <a:rPr sz="1500" b="1">
                <a:solidFill>
                  <a:srgbClr val="112238"/>
                </a:solidFill>
              </a:rPr>
              <a:t>По смыслу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195BA-FCD8-4900-BC53-DEC58229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28975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F7781"/>
                </a:solidFill>
              </a:defRPr>
            </a:pPr>
            <a:r>
              <a:rPr sz="1200" b="0">
                <a:solidFill>
                  <a:srgbClr val="6F7781"/>
                </a:solidFill>
              </a:rPr>
              <a:t>«Автоматическая отметка и дополнительная услуга»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F7781"/>
                </a:solidFill>
              </a:defRPr>
            </a:pPr>
            <a:r>
              <a:rPr sz="1200" b="0">
                <a:solidFill>
                  <a:srgbClr val="6F7781"/>
                </a:solidFill>
              </a:rPr>
              <a:t>69-ФЗ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6B31F7-9E08-47F3-87F0-1D3D863A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12238"/>
                </a:solidFill>
              </a:defRPr>
            </a:pPr>
            <a:r>
              <a:rPr sz="1725" b="1">
                <a:solidFill>
                  <a:srgbClr val="112238"/>
                </a:solidFill>
              </a:rPr>
              <a:t>Открываем 01_fulltext_search.py и 02_vector_search.py. Сравниваем top-1.</a:t>
            </a:r>
          </a:p>
        </p:txBody>
      </p:sp>
    </p:spTree>
    <p:extLst>
      <p:ext uri="{BB962C8B-B14F-4D97-AF65-F5344CB8AC3E}">
        <p14:creationId xmlns:p14="http://schemas.microsoft.com/office/powerpoint/2010/main" val="19359663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09C8F1-7AFE-4111-8D46-61F0A95D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67F0"/>
                </a:solidFill>
              </a:defRPr>
            </a:pPr>
            <a:r>
              <a:rPr sz="900" b="1">
                <a:solidFill>
                  <a:srgbClr val="2867F0"/>
                </a:solidFill>
              </a:rPr>
              <a:t>ПОСЛЕ КОДА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484C9-4A6F-4C63-AB4E-AE45B7B8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2238"/>
                </a:solidFill>
              </a:defRPr>
            </a:pPr>
            <a:r>
              <a:rPr sz="2700" b="1">
                <a:solidFill>
                  <a:srgbClr val="112238"/>
                </a:solidFill>
              </a:rPr>
              <a:t>В RAG обычно нужны оба поиска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F47F0-A029-42BE-9E0C-4E6D3AA4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781"/>
                </a:solidFill>
              </a:defRPr>
            </a:pPr>
            <a:r>
              <a:rPr sz="900" b="1">
                <a:solidFill>
                  <a:srgbClr val="6F7781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BEA49-A38F-4654-A125-B1E53D3A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905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BC6AA7-C1A1-4C5E-843D-AF39F17E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907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По словам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5FD6E-DEDD-4A15-9EC3-2F6C67A6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764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2238"/>
                </a:solidFill>
              </a:defRPr>
            </a:pPr>
            <a:r>
              <a:rPr sz="1575" b="1">
                <a:solidFill>
                  <a:srgbClr val="112238"/>
                </a:solidFill>
              </a:rPr>
              <a:t>Ищет точные совпадения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FF056-BFDE-4D5B-8228-D570CB85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954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F7781"/>
                </a:solidFill>
              </a:defRPr>
            </a:pPr>
            <a:r>
              <a:rPr sz="1350" b="0">
                <a:solidFill>
                  <a:srgbClr val="6F7781"/>
                </a:solidFill>
              </a:rPr>
              <a:t>номер закона, статья, дата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E0D0A5-BCEA-47A8-A4AF-EC59FBB2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905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3DE51A-37DA-45A1-8D5F-88B4BD5E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Эмбеддинги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2F23B-DAA0-4412-BB78-BB8E8B58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718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2238"/>
                </a:solidFill>
              </a:defRPr>
            </a:pPr>
            <a:r>
              <a:rPr sz="1575" b="1">
                <a:solidFill>
                  <a:srgbClr val="112238"/>
                </a:solidFill>
              </a:rPr>
              <a:t>Ищут близкий смысл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4341B-B87F-45D6-BEEE-D81DA765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908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F7781"/>
                </a:solidFill>
              </a:defRPr>
            </a:pPr>
            <a:r>
              <a:rPr sz="1350" b="0">
                <a:solidFill>
                  <a:srgbClr val="6F7781"/>
                </a:solidFill>
              </a:rPr>
              <a:t>вопрос пользователя и текст нормы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9D7765-EBEE-4498-B7FA-92E33E61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905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6218A5-A75E-47FF-9732-FF152E6E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Вместе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09512-96D8-4138-B226-67AC1D4D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6717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2238"/>
                </a:solidFill>
              </a:defRPr>
            </a:pPr>
            <a:r>
              <a:rPr sz="1575" b="1">
                <a:solidFill>
                  <a:srgbClr val="112238"/>
                </a:solidFill>
              </a:rPr>
              <a:t>Возвращают кандидатов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9EC735-8FC4-46E8-9796-CF547305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862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F7781"/>
                </a:solidFill>
              </a:defRPr>
            </a:pPr>
            <a:r>
              <a:rPr sz="1350" b="0">
                <a:solidFill>
                  <a:srgbClr val="6F7781"/>
                </a:solidFill>
              </a:rPr>
              <a:t>дальше RAG собирает контекст</a:t>
            </a:r>
          </a:p>
        </p:txBody>
      </p:sp>
    </p:spTree>
    <p:extLst>
      <p:ext uri="{BB962C8B-B14F-4D97-AF65-F5344CB8AC3E}">
        <p14:creationId xmlns:p14="http://schemas.microsoft.com/office/powerpoint/2010/main" val="15091591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E2A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53265C-696D-4657-9082-EE09F6A3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0C9E8"/>
                </a:solidFill>
              </a:defRPr>
            </a:pPr>
            <a:r>
              <a:rPr sz="900" b="1">
                <a:solidFill>
                  <a:srgbClr val="50C9E8"/>
                </a:solidFill>
              </a:rPr>
              <a:t>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1C9E7-2FD6-469D-9F2E-FDFD06C4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RAG собирает контекст до вызова модели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40558-7DBA-4D3E-A862-46CA2560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AB6C9"/>
                </a:solidFill>
              </a:defRPr>
            </a:pPr>
            <a:r>
              <a:rPr sz="900" b="1">
                <a:solidFill>
                  <a:srgbClr val="9AB6C9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748D4-5864-4F22-8990-D95233E1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857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A68DC-1487-4CB0-B524-8A604307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44386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1. Закон режем на фрагменты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2. Сохраняем статью, дату и источник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3. Ищем нужный фрагмент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4. Передаём вопрос и фрагмент модели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1034E-A581-4F3E-979D-1BD2AA3A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3905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68436-E7A9-4C15-AB5C-0725A9BF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57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47BFB-1729-4480-80A9-6BB6D7DC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57425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2238"/>
                </a:solidFill>
              </a:defRPr>
            </a:pPr>
            <a:r>
              <a:rPr sz="1500" b="1">
                <a:solidFill>
                  <a:srgbClr val="112238"/>
                </a:solidFill>
              </a:rPr>
              <a:t>Кто за что отвечает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6FA9C-3167-48DC-B91F-9AAC861C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57475"/>
            <a:ext cx="352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F7781"/>
                </a:solidFill>
              </a:defRPr>
            </a:pPr>
            <a:r>
              <a:rPr sz="1200" b="0">
                <a:solidFill>
                  <a:srgbClr val="6F7781"/>
                </a:solidFill>
              </a:rPr>
              <a:t>Индекс находит фрагмент.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F7781"/>
                </a:solidFill>
              </a:defRPr>
            </a:pPr>
            <a:r>
              <a:rPr sz="1200" b="0">
                <a:solidFill>
                  <a:srgbClr val="6F7781"/>
                </a:solidFill>
              </a:rPr>
              <a:t>Модель формулирует ответ.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F7781"/>
                </a:solidFill>
              </a:defRPr>
            </a:pPr>
            <a:r>
              <a:rPr sz="1200" b="0">
                <a:solidFill>
                  <a:srgbClr val="6F7781"/>
                </a:solidFill>
              </a:rPr>
              <a:t>Мы проверяем опору.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45BCB3-15D5-4F96-BF3A-D54BD1A7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Найденный фрагмент должен содержать все условия для вывода.</a:t>
            </a:r>
          </a:p>
        </p:txBody>
      </p:sp>
    </p:spTree>
    <p:extLst>
      <p:ext uri="{BB962C8B-B14F-4D97-AF65-F5344CB8AC3E}">
        <p14:creationId xmlns:p14="http://schemas.microsoft.com/office/powerpoint/2010/main" val="11345128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5E85FB-876A-4E41-B0C5-94EBBF5D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67F0"/>
                </a:solidFill>
              </a:defRPr>
            </a:pPr>
            <a:r>
              <a:rPr sz="900" b="1">
                <a:solidFill>
                  <a:srgbClr val="2867F0"/>
                </a:solidFill>
              </a:rPr>
              <a:t>КОД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1A8A7-C623-4A77-B22A-73FE5184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2238"/>
                </a:solidFill>
              </a:defRPr>
            </a:pPr>
            <a:r>
              <a:rPr sz="2700" b="1">
                <a:solidFill>
                  <a:srgbClr val="112238"/>
                </a:solidFill>
              </a:rPr>
              <a:t>Код: разрезали правило посередине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5D399A-6766-4C6D-A9E0-53ED64E0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781"/>
                </a:solidFill>
              </a:defRPr>
            </a:pPr>
            <a:r>
              <a:rPr sz="900" b="1">
                <a:solidFill>
                  <a:srgbClr val="6F7781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59FEC-AE16-4A17-B892-801ED7BE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4476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9C19A-5208-4ED1-88A7-6DA68A05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0576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AF3F8"/>
                </a:solidFill>
              </a:defRPr>
            </a:pPr>
            <a:r>
              <a:rPr sz="1125" b="0">
                <a:solidFill>
                  <a:srgbClr val="EAF3F8"/>
                </a:solidFill>
              </a:rPr>
              <a:t>Настройки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8"/>
                </a:solidFill>
              </a:defRPr>
            </a:pPr>
            <a:r>
              <a:rPr sz="1125" b="0">
                <a:solidFill>
                  <a:srgbClr val="EAF3F8"/>
                </a:solidFill>
              </a:rPr>
              <a:t>280 символов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8"/>
                </a:solidFill>
              </a:defRPr>
            </a:pPr>
            <a:r>
              <a:rPr sz="1125" b="0">
                <a:solidFill>
                  <a:srgbClr val="EAF3F8"/>
                </a:solidFill>
              </a:rPr>
              <a:t>перекрытие 0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8"/>
                </a:solidFill>
              </a:defRPr>
            </a:pPr>
            <a:r>
              <a:rPr sz="1125" b="0">
                <a:solidFill>
                  <a:srgbClr val="EAF3F8"/>
                </a:solidFill>
              </a:rPr>
              <a:t>top-1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03135-830C-4638-BF27-731BC99F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F"/>
          </a:solidFill>
          <a:ln xmlns:a="http://schemas.openxmlformats.org/drawingml/2006/main" w="9525">
            <a:solidFill>
              <a:srgbClr val="2867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5469F-0DA5-485E-9C4A-42689BE7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2238"/>
                </a:solidFill>
              </a:defRPr>
            </a:pPr>
            <a:r>
              <a:rPr sz="1350" b="1">
                <a:solidFill>
                  <a:srgbClr val="112238"/>
                </a:solidFill>
              </a:rPr>
              <a:t>В контекст попало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2238"/>
                </a:solidFill>
              </a:defRPr>
            </a:pPr>
            <a:r>
              <a:rPr sz="1350" b="1">
                <a:solidFill>
                  <a:srgbClr val="112238"/>
                </a:solidFill>
              </a:rPr>
              <a:t>только начало правила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3BC02-7E4F-4C51-945E-29BD8D7F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52625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E5"/>
          </a:solidFill>
          <a:ln xmlns:a="http://schemas.openxmlformats.org/drawingml/2006/main" w="9525">
            <a:solidFill>
              <a:srgbClr val="FF6B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C18A0A-EDC1-4834-B11B-0F659E16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2238"/>
                </a:solidFill>
              </a:defRPr>
            </a:pPr>
            <a:r>
              <a:rPr sz="1350" b="1">
                <a:solidFill>
                  <a:srgbClr val="112238"/>
                </a:solidFill>
              </a:rPr>
              <a:t>За границей осталось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2238"/>
                </a:solidFill>
              </a:defRPr>
            </a:pPr>
            <a:r>
              <a:rPr sz="1350" b="1">
                <a:solidFill>
                  <a:srgbClr val="112238"/>
                </a:solidFill>
              </a:rPr>
              <a:t>условие возврата за 3 дня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4987C-39F8-4E6C-A0F9-2F26361D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6B5B"/>
                </a:solidFill>
              </a:defRPr>
            </a:pPr>
            <a:r>
              <a:rPr sz="1725" b="1">
                <a:solidFill>
                  <a:srgbClr val="FF6B5B"/>
                </a:solidFill>
              </a:rPr>
              <a:t>Проверяем не score, а хватает ли фрагмента для вывода.</a:t>
            </a:r>
          </a:p>
        </p:txBody>
      </p:sp>
    </p:spTree>
    <p:extLst>
      <p:ext uri="{BB962C8B-B14F-4D97-AF65-F5344CB8AC3E}">
        <p14:creationId xmlns:p14="http://schemas.microsoft.com/office/powerpoint/2010/main" val="13565822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93EE2-191C-4820-9012-A85E4731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67F0"/>
                </a:solidFill>
              </a:defRPr>
            </a:pPr>
            <a:r>
              <a:rPr sz="900" b="1">
                <a:solidFill>
                  <a:srgbClr val="2867F0"/>
                </a:solidFill>
              </a:rPr>
              <a:t>ПОСЛЕ КОДА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AC64E-3C8B-4703-9A40-A808DF5B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2238"/>
                </a:solidFill>
              </a:defRPr>
            </a:pPr>
            <a:r>
              <a:rPr sz="2400" b="1">
                <a:solidFill>
                  <a:srgbClr val="112238"/>
                </a:solidFill>
              </a:rPr>
              <a:t>В найденном фрагменте нет условий для ответа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4E742-1A28-4A28-8F72-7B533C7F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781"/>
                </a:solidFill>
              </a:defRPr>
            </a:pPr>
            <a:r>
              <a:rPr sz="900" b="1">
                <a:solidFill>
                  <a:srgbClr val="6F7781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B0033-7DFF-4D95-BEF7-229C2EA3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476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9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32010-9384-45F2-B10A-B08C93C9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62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867F0"/>
                </a:solidFill>
              </a:defRPr>
            </a:pPr>
            <a:r>
              <a:rPr sz="1050" b="1">
                <a:solidFill>
                  <a:srgbClr val="2867F0"/>
                </a:solidFill>
              </a:rPr>
              <a:t>Полученный фрагмент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E0820-166B-452F-86AC-5DCA675D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3762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2238"/>
                </a:solidFill>
              </a:defRPr>
            </a:pPr>
            <a:r>
              <a:rPr sz="1650" b="1">
                <a:solidFill>
                  <a:srgbClr val="112238"/>
                </a:solidFill>
              </a:rPr>
              <a:t>заканчивается на: «...выполнение дополнит»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5F453-16D2-4C02-BD76-87F2469B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955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C89C2-47F8-48D5-B4EE-BC6811A3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4476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9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F7655E-E8B8-49C4-927A-A52DF6D1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62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6B5B"/>
                </a:solidFill>
              </a:defRPr>
            </a:pPr>
            <a:r>
              <a:rPr sz="1050" b="1">
                <a:solidFill>
                  <a:srgbClr val="FF6B5B"/>
                </a:solidFill>
              </a:rPr>
              <a:t>За границей остались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36D626-32CF-4B5E-ACDB-B90F566D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622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2238"/>
                </a:solidFill>
              </a:defRPr>
            </a:pPr>
            <a:r>
              <a:rPr sz="1650" b="1">
                <a:solidFill>
                  <a:srgbClr val="112238"/>
                </a:solidFill>
              </a:rPr>
              <a:t>п. 3.1, письменное согласие,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12238"/>
                </a:solidFill>
              </a:defRPr>
            </a:pPr>
            <a:r>
              <a:rPr sz="1650" b="1">
                <a:solidFill>
                  <a:srgbClr val="112238"/>
                </a:solidFill>
              </a:rPr>
              <a:t>запрет автогалочки, 3 дня,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12238"/>
                </a:solidFill>
              </a:defRPr>
            </a:pPr>
            <a:r>
              <a:rPr sz="1650" b="1">
                <a:solidFill>
                  <a:srgbClr val="112238"/>
                </a:solidFill>
              </a:rPr>
              <a:t>дата действия нормы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9C8E2-44F0-4FD7-8F5A-F576342D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101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2238"/>
                </a:solidFill>
              </a:defRPr>
            </a:pPr>
            <a:r>
              <a:rPr sz="1650" b="1">
                <a:solidFill>
                  <a:srgbClr val="112238"/>
                </a:solidFill>
              </a:rPr>
              <a:t>Правильная реакция модели: не делать юридический вывод.</a:t>
            </a:r>
          </a:p>
        </p:txBody>
      </p:sp>
    </p:spTree>
    <p:extLst>
      <p:ext uri="{BB962C8B-B14F-4D97-AF65-F5344CB8AC3E}">
        <p14:creationId xmlns:p14="http://schemas.microsoft.com/office/powerpoint/2010/main" val="8172990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E2A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8E0CB2-3C28-4021-87CB-2567F3DE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0C9E8"/>
                </a:solidFill>
              </a:defRPr>
            </a:pPr>
            <a:r>
              <a:rPr sz="900" b="1">
                <a:solidFill>
                  <a:srgbClr val="50C9E8"/>
                </a:solidFill>
              </a:rPr>
              <a:t>ИСПРАВЛЯЕМ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49543-6408-4F8E-B6F3-84522BF7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Чанк должен совпадать с границей правила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A22A7-F4CD-429E-8A22-65208FB7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AB6C9"/>
                </a:solidFill>
              </a:defRPr>
            </a:pPr>
            <a:r>
              <a:rPr sz="900" b="1">
                <a:solidFill>
                  <a:srgbClr val="9AB6C9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0D304-54D4-4F0F-8BA2-EAFE100A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286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DAF3D-D3D2-415E-A31E-FA262FDD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0C9E8"/>
                </a:solidFill>
              </a:defRPr>
            </a:pPr>
            <a:r>
              <a:rPr sz="1500" b="1">
                <a:solidFill>
                  <a:srgbClr val="50C9E8"/>
                </a:solidFill>
              </a:rPr>
              <a:t>Плохо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FFB873-9C14-4955-9AAC-99ECD0D6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режем каждые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280 символов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3A4CC-FD9A-4292-8F82-E37D1953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43125"/>
            <a:ext cx="2286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4D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8C392-C207-4021-9293-4BAC09FA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288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0C9E8"/>
                </a:solidFill>
              </a:defRPr>
            </a:pPr>
            <a:r>
              <a:rPr sz="1500" b="1">
                <a:solidFill>
                  <a:srgbClr val="50C9E8"/>
                </a:solidFill>
              </a:rPr>
              <a:t>Проблема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580A2-D7AB-46C1-841D-6E725014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9146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разрез внутри пункта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EB3088-43FB-4818-BEEA-737B3A1D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2286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445FF7-9003-44DC-9606-F0B272BB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0C9E8"/>
                </a:solidFill>
              </a:defRPr>
            </a:pPr>
            <a:r>
              <a:rPr sz="1500" b="1">
                <a:solidFill>
                  <a:srgbClr val="50C9E8"/>
                </a:solidFill>
              </a:rPr>
              <a:t>Хорошо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FB1EBE-E457-428D-9EB6-6EA7461B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целиком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п. 3.1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90C0AD-9B51-4BA5-AD60-A92CEAF8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43125"/>
            <a:ext cx="2286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3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0ED01-E045-4F17-81D9-ACA106DD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4288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0C9E8"/>
                </a:solidFill>
              </a:defRPr>
            </a:pPr>
            <a:r>
              <a:rPr sz="1500" b="1">
                <a:solidFill>
                  <a:srgbClr val="50C9E8"/>
                </a:solidFill>
              </a:rPr>
              <a:t>Метаданные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CCABF9-0E64-43CD-8B6D-26D2EAA4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9146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закон, статья,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дата, источник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8CF2F0-8285-4F37-9954-5F407D0D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143500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Сначала сохраняем структуру. Перекрытие только страхует соседнюю границу.</a:t>
            </a:r>
          </a:p>
        </p:txBody>
      </p:sp>
    </p:spTree>
    <p:extLst>
      <p:ext uri="{BB962C8B-B14F-4D97-AF65-F5344CB8AC3E}">
        <p14:creationId xmlns:p14="http://schemas.microsoft.com/office/powerpoint/2010/main" val="55432304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9BBCE1-0723-44E3-96DD-A62C6C15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67F0"/>
                </a:solidFill>
              </a:defRPr>
            </a:pPr>
            <a:r>
              <a:rPr sz="900" b="1">
                <a:solidFill>
                  <a:srgbClr val="2867F0"/>
                </a:solidFill>
              </a:rPr>
              <a:t>КОД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B8656-8C19-4281-837B-37AA0CB2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2238"/>
                </a:solidFill>
              </a:defRPr>
            </a:pPr>
            <a:r>
              <a:rPr sz="2700" b="1">
                <a:solidFill>
                  <a:srgbClr val="112238"/>
                </a:solidFill>
              </a:rPr>
              <a:t>Код: один фрагмент содержит всё правило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31D98-D884-48AB-9606-79BB2FBE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781"/>
                </a:solidFill>
              </a:defRPr>
            </a:pPr>
            <a:r>
              <a:rPr sz="900" b="1">
                <a:solidFill>
                  <a:srgbClr val="6F7781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B17AC-97CD-458A-9745-FD535BCE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2238"/>
                </a:solidFill>
              </a:defRPr>
            </a:pPr>
            <a:r>
              <a:rPr sz="1800" b="1">
                <a:solidFill>
                  <a:srgbClr val="112238"/>
                </a:solidFill>
              </a:rPr>
              <a:t>Тот же вопрос. Теперь найденный чанк не обрывается.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25D39-160A-4F12-8140-34CAD20A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3143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9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40747-9971-4866-9E6A-6301CA29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C95B7-39BD-46DF-8386-AD794678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2238"/>
                </a:solidFill>
              </a:defRPr>
            </a:pPr>
            <a:r>
              <a:rPr sz="1500" b="1">
                <a:solidFill>
                  <a:srgbClr val="112238"/>
                </a:solidFill>
              </a:rPr>
              <a:t>Источник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87E8C-831B-41CF-8ACD-C223D4DF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7781"/>
                </a:solidFill>
              </a:defRPr>
            </a:pPr>
            <a:r>
              <a:rPr sz="1275" b="0">
                <a:solidFill>
                  <a:srgbClr val="6F7781"/>
                </a:solidFill>
              </a:rPr>
              <a:t>69-ФЗ, ст. 16, п. 3.1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F7781"/>
                </a:solidFill>
              </a:defRPr>
            </a:pPr>
            <a:r>
              <a:rPr sz="1275" b="0">
                <a:solidFill>
                  <a:srgbClr val="6F7781"/>
                </a:solidFill>
              </a:rPr>
              <a:t>действует с 01.09.2025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EEA98-4BEA-4720-84BC-CB9AB3A8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67000"/>
            <a:ext cx="3143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9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0ED205-7D34-45F2-A4DB-7062DB9C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670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F3975A-3F56-4FDE-A27D-88E4C605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97180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2238"/>
                </a:solidFill>
              </a:defRPr>
            </a:pPr>
            <a:r>
              <a:rPr sz="1500" b="1">
                <a:solidFill>
                  <a:srgbClr val="112238"/>
                </a:solidFill>
              </a:rPr>
              <a:t>В контексте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760F25-8A07-4FC2-A4B5-0FD259B8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371850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7781"/>
                </a:solidFill>
              </a:defRPr>
            </a:pPr>
            <a:r>
              <a:rPr sz="1275" b="0">
                <a:solidFill>
                  <a:srgbClr val="6F7781"/>
                </a:solidFill>
              </a:rPr>
              <a:t>письменное согласие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F7781"/>
                </a:solidFill>
              </a:defRPr>
            </a:pPr>
            <a:r>
              <a:rPr sz="1275" b="0">
                <a:solidFill>
                  <a:srgbClr val="6F7781"/>
                </a:solidFill>
              </a:rPr>
              <a:t>запрет автогалочки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12355E-12C9-4C59-9B26-3F103E08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3143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9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E17227-049F-4F59-B46C-1D16003B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4728B7-C285-4262-AA39-90081379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7180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2238"/>
                </a:solidFill>
              </a:defRPr>
            </a:pPr>
            <a:r>
              <a:rPr sz="1500" b="1">
                <a:solidFill>
                  <a:srgbClr val="112238"/>
                </a:solidFill>
              </a:rPr>
              <a:t>Ответ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0510A2-884B-4C43-B724-F6349716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71850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7781"/>
                </a:solidFill>
              </a:defRPr>
            </a:pPr>
            <a:r>
              <a:rPr sz="1275" b="0">
                <a:solidFill>
                  <a:srgbClr val="6F7781"/>
                </a:solidFill>
              </a:rPr>
              <a:t>возврат в течение 3 дней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F7781"/>
                </a:solidFill>
              </a:defRPr>
            </a:pPr>
            <a:r>
              <a:rPr sz="1275" b="0">
                <a:solidFill>
                  <a:srgbClr val="6F7781"/>
                </a:solidFill>
              </a:rPr>
              <a:t>со ссылкой на пункт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071415-01DB-43B4-966E-63E88996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577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6B5B"/>
                </a:solidFill>
              </a:defRPr>
            </a:pPr>
            <a:r>
              <a:rPr sz="1725" b="1">
                <a:solidFill>
                  <a:srgbClr val="FF6B5B"/>
                </a:solidFill>
              </a:rPr>
              <a:t>Проверяем: каждый тезис ответа есть в найденном источнике.</a:t>
            </a:r>
          </a:p>
        </p:txBody>
      </p:sp>
    </p:spTree>
    <p:extLst>
      <p:ext uri="{BB962C8B-B14F-4D97-AF65-F5344CB8AC3E}">
        <p14:creationId xmlns:p14="http://schemas.microsoft.com/office/powerpoint/2010/main" val="16748546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0AD63C-49B7-4322-9D8C-46208F99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67F0"/>
                </a:solidFill>
              </a:defRPr>
            </a:pPr>
            <a:r>
              <a:rPr sz="900" b="1">
                <a:solidFill>
                  <a:srgbClr val="2867F0"/>
                </a:solidFill>
              </a:rPr>
              <a:t>НОВАЯ ПРОБЛЕМА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6BE7A-7E75-453C-95D1-3B6B87B3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2238"/>
                </a:solidFill>
              </a:defRPr>
            </a:pPr>
            <a:r>
              <a:rPr sz="2400" b="1">
                <a:solidFill>
                  <a:srgbClr val="112238"/>
                </a:solidFill>
              </a:rPr>
              <a:t>Один поиск не покрывает два независимых вопроса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0DBB2-C24B-4A1D-B6E2-6CA1D6E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781"/>
                </a:solidFill>
              </a:defRPr>
            </a:pPr>
            <a:r>
              <a:rPr sz="900" b="1">
                <a:solidFill>
                  <a:srgbClr val="6F7781"/>
                </a:solidFill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5E79D-9888-45F2-9D51-77165965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816EE-56BE-4020-9F8B-CD96B43C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Страховка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+ сокращение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D9991-CF21-46DF-B918-FAE5A15F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05125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7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C11276-824A-4121-AFC7-3F573F17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05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6F7781"/>
                </a:solidFill>
              </a:defRPr>
            </a:pPr>
            <a:r>
              <a:rPr sz="2400" b="1">
                <a:solidFill>
                  <a:srgbClr val="6F7781"/>
                </a:solidFill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E639D-31C7-4A3B-BF34-C8927D8F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38375"/>
            <a:ext cx="2000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52A87C-C118-401A-883B-9EF144D0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717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Один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общий top-1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68B674-A431-43D9-827E-49A1908F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05125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7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51C2C-2BCF-45B9-B032-39928588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05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6F7781"/>
                </a:solidFill>
              </a:defRPr>
            </a:pPr>
            <a:r>
              <a:rPr sz="2400" b="1">
                <a:solidFill>
                  <a:srgbClr val="6F7781"/>
                </a:solidFill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216B9-BE8C-41D6-8056-FE25309E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9AB406-2527-4633-A487-2BB3F40B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страховка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найдена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8BF0E7-6C21-4354-8B29-42531679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43125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1EDCE4-2C67-40E2-A850-6DBB36BB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622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сокращение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не найдено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E2F6A-C629-41E0-BF3C-2658B125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43125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8A712C-E4C2-43F8-A874-029E6776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622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CDA9E6-6346-4FAA-853D-4539CB0E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6250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2238"/>
                </a:solidFill>
              </a:defRPr>
            </a:pPr>
            <a:r>
              <a:rPr sz="1650" b="1">
                <a:solidFill>
                  <a:srgbClr val="112238"/>
                </a:solidFill>
              </a:rPr>
              <a:t>Один документ не даёт основание для второго вывода.</a:t>
            </a:r>
          </a:p>
        </p:txBody>
      </p:sp>
    </p:spTree>
    <p:extLst>
      <p:ext uri="{BB962C8B-B14F-4D97-AF65-F5344CB8AC3E}">
        <p14:creationId xmlns:p14="http://schemas.microsoft.com/office/powerpoint/2010/main" val="138475190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E2A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5C815-746C-4BCB-AFF0-245F8EA5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0C9E8"/>
                </a:solidFill>
              </a:defRPr>
            </a:pPr>
            <a:r>
              <a:rPr sz="900" b="1">
                <a:solidFill>
                  <a:srgbClr val="50C9E8"/>
                </a:solidFill>
              </a:rPr>
              <a:t>РОУТИНГ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8E99A-BB75-4961-B61D-8A6951E9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Роутинг делит вопрос на темы до поиска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ECB87-9F94-4DB8-A553-DD54EA8B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AB6C9"/>
                </a:solidFill>
              </a:defRPr>
            </a:pPr>
            <a:r>
              <a:rPr sz="900" b="1">
                <a:solidFill>
                  <a:srgbClr val="9AB6C9"/>
                </a:solidFill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6A34D-90C8-481C-8B04-E99CC880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C625E-362A-4CE9-B2FC-488B5A59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4533900" cy="28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Вопрос с двумя темами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          ↓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        роутер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       /       \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потребители     труд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84723A-2393-4D83-B305-F1105935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3905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9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CC0E88-F19A-4A9B-8C32-DCCA49EC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C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F1AAE-547D-45AC-B57F-1AA05B14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62175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2238"/>
                </a:solidFill>
              </a:defRPr>
            </a:pPr>
            <a:r>
              <a:rPr sz="1500" b="1">
                <a:solidFill>
                  <a:srgbClr val="112238"/>
                </a:solidFill>
              </a:rPr>
              <a:t>Роутер не отвечает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77C9C5-BD77-402C-99F7-B04C7D09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6222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F7781"/>
                </a:solidFill>
              </a:defRPr>
            </a:pPr>
            <a:r>
              <a:rPr sz="1200" b="0">
                <a:solidFill>
                  <a:srgbClr val="6F7781"/>
                </a:solidFill>
              </a:rPr>
              <a:t>Он выбирает, в каких корпусах искать. Для каждой темы запускается свой поиск.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018506-D510-4A0F-91C3-26CD0723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387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Сначала выбираем корпус. Потом ищем документ.</a:t>
            </a:r>
          </a:p>
        </p:txBody>
      </p:sp>
    </p:spTree>
    <p:extLst>
      <p:ext uri="{BB962C8B-B14F-4D97-AF65-F5344CB8AC3E}">
        <p14:creationId xmlns:p14="http://schemas.microsoft.com/office/powerpoint/2010/main" val="155150741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8378A6-76E5-4471-8F5D-B624C972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67F0"/>
                </a:solidFill>
              </a:defRPr>
            </a:pPr>
            <a:r>
              <a:rPr sz="900" b="1">
                <a:solidFill>
                  <a:srgbClr val="2867F0"/>
                </a:solidFill>
              </a:rPr>
              <a:t>КОД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5ABBD-C682-4002-B122-E7D2C47E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2238"/>
                </a:solidFill>
              </a:defRPr>
            </a:pPr>
            <a:r>
              <a:rPr sz="2700" b="1">
                <a:solidFill>
                  <a:srgbClr val="112238"/>
                </a:solidFill>
              </a:rPr>
              <a:t>Код: роутер нашёл две темы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146AF-2A57-458E-9A95-1BF309A1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781"/>
                </a:solidFill>
              </a:defRPr>
            </a:pPr>
            <a:r>
              <a:rPr sz="900" b="1">
                <a:solidFill>
                  <a:srgbClr val="6F7781"/>
                </a:solidFill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14A81-A967-4237-B676-B95A3BB9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F6DCB-24F1-4ADE-9E93-02439883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62225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4D4DC-8BCE-4E8C-ACDA-B9E9987B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3840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2238"/>
                </a:solidFill>
              </a:defRPr>
            </a:pPr>
            <a:r>
              <a:rPr sz="1575" b="1">
                <a:solidFill>
                  <a:srgbClr val="112238"/>
                </a:solidFill>
              </a:rPr>
              <a:t>Роутер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4537EA-21E8-4704-8CFF-7F9CAC75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6225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7781"/>
                </a:solidFill>
              </a:defRPr>
            </a:pPr>
            <a:r>
              <a:rPr sz="1125" b="0">
                <a:solidFill>
                  <a:srgbClr val="6F7781"/>
                </a:solidFill>
              </a:rPr>
              <a:t>[consumer, labor]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A3E45-26AD-4A73-A4C2-430C5983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2887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C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90E7D-D3C4-4730-A49C-766732D4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62225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C4DA60-4778-42CF-8294-DE77AF8E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43840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2238"/>
                </a:solidFill>
              </a:defRPr>
            </a:pPr>
            <a:r>
              <a:rPr sz="1575" b="1">
                <a:solidFill>
                  <a:srgbClr val="112238"/>
                </a:solidFill>
              </a:rPr>
              <a:t>Consumer RAG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D984B-2B31-4DE3-9F9F-AFA94F36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76225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7781"/>
                </a:solidFill>
              </a:defRPr>
            </a:pPr>
            <a:r>
              <a:rPr sz="1125" b="0">
                <a:solidFill>
                  <a:srgbClr val="6F7781"/>
                </a:solidFill>
              </a:rPr>
              <a:t>69-ФЗ, п. 3.1 ст. 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8BDA4-23B3-4B9F-806F-9926BDCF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F88165-4FD9-4ACB-83E6-59312C66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62225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7F2CB3-8377-4498-96FB-72E6BFAF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3840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2238"/>
                </a:solidFill>
              </a:defRPr>
            </a:pPr>
            <a:r>
              <a:rPr sz="1575" b="1">
                <a:solidFill>
                  <a:srgbClr val="112238"/>
                </a:solidFill>
              </a:rPr>
              <a:t>Labor RAG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4BAD56-677B-4CE0-A0F2-F9B389E4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6225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7781"/>
                </a:solidFill>
              </a:defRPr>
            </a:pPr>
            <a:r>
              <a:rPr sz="1125" b="0">
                <a:solidFill>
                  <a:srgbClr val="6F7781"/>
                </a:solidFill>
              </a:rPr>
              <a:t>306-ФЗ, ч. 4 ст. 178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279E51-8798-4899-9BB3-331C15AE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2887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012976-3C64-4520-AC42-5C618D33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62225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72043A-887F-4CFF-8982-F9DD6539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43840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2238"/>
                </a:solidFill>
              </a:defRPr>
            </a:pPr>
            <a:r>
              <a:rPr sz="1575" b="1">
                <a:solidFill>
                  <a:srgbClr val="112238"/>
                </a:solidFill>
              </a:rPr>
              <a:t>Фильтр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91C9C5-C7C4-4F1F-B8E1-FCAAE64D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76225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7781"/>
                </a:solidFill>
              </a:defRPr>
            </a:pPr>
            <a:r>
              <a:rPr sz="1125" b="0">
                <a:solidFill>
                  <a:srgbClr val="6F7781"/>
                </a:solidFill>
              </a:rPr>
              <a:t>не берём ст. 318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A04E90-9085-44B3-AF7D-12EF53D0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530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2238"/>
                </a:solidFill>
              </a:defRPr>
            </a:pPr>
            <a:r>
              <a:rPr sz="1575" b="1">
                <a:solidFill>
                  <a:srgbClr val="112238"/>
                </a:solidFill>
              </a:rPr>
              <a:t>Две ветки поиска, один ответ. Файл: 05_multi_rag_router.py</a:t>
            </a:r>
          </a:p>
        </p:txBody>
      </p:sp>
    </p:spTree>
    <p:extLst>
      <p:ext uri="{BB962C8B-B14F-4D97-AF65-F5344CB8AC3E}">
        <p14:creationId xmlns:p14="http://schemas.microsoft.com/office/powerpoint/2010/main" val="7751861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B87A99-39B3-48E6-8097-8B8A24EF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67F0"/>
                </a:solidFill>
              </a:defRPr>
            </a:pPr>
            <a:r>
              <a:rPr sz="900" b="1">
                <a:solidFill>
                  <a:srgbClr val="2867F0"/>
                </a:solidFill>
              </a:rPr>
              <a:t>КОД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BFDCC-E908-4A21-9B74-7C533B2E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2238"/>
                </a:solidFill>
              </a:defRPr>
            </a:pPr>
            <a:r>
              <a:rPr sz="2700" b="1">
                <a:solidFill>
                  <a:srgbClr val="112238"/>
                </a:solidFill>
              </a:rPr>
              <a:t>Для закона важна дата события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D56A6-B425-48FF-8184-B44ED876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781"/>
                </a:solidFill>
              </a:defRPr>
            </a:pPr>
            <a:r>
              <a:rPr sz="900" b="1">
                <a:solidFill>
                  <a:srgbClr val="6F7781"/>
                </a:solidFill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28F22-6743-4116-A832-31DB28DF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50482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D9800-1B55-4D5F-89B7-C4671D67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462915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31.08.2025  Старая редакция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8"/>
                </a:solidFill>
              </a:defRPr>
            </a:pPr>
            <a:r>
              <a:rPr sz="1125" b="0">
                <a:solidFill>
                  <a:srgbClr val="EAF3F8"/>
                </a:solidFill>
              </a:rP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01.09.2025  Вступает 69-ФЗ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3F8"/>
                </a:solidFill>
              </a:defRPr>
            </a:pPr>
            <a:r>
              <a:rPr sz="1125" b="0">
                <a:solidFill>
                  <a:srgbClr val="EAF3F8"/>
                </a:solidFill>
              </a:rP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15.09.2025  Новая редакция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B8D6-2217-4DF5-8B8B-E9C54D53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3810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9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BE9A4-3390-4AED-BF82-60824BEF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EA6A1-AFBE-49A9-976C-D15D1A38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05050"/>
            <a:ext cx="3448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2238"/>
                </a:solidFill>
              </a:defRPr>
            </a:pPr>
            <a:r>
              <a:rPr sz="1500" b="1">
                <a:solidFill>
                  <a:srgbClr val="112238"/>
                </a:solidFill>
              </a:rPr>
              <a:t>Что хранит индекс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57205-716E-4DF0-B68A-84E18480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051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F7781"/>
                </a:solidFill>
              </a:defRPr>
            </a:pPr>
            <a:r>
              <a:rPr sz="1200" b="0">
                <a:solidFill>
                  <a:srgbClr val="6F7781"/>
                </a:solidFill>
              </a:rPr>
              <a:t>Старую и новую версии.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F7781"/>
                </a:solidFill>
              </a:defRPr>
            </a:pPr>
            <a:r>
              <a:rPr sz="1200" b="0">
                <a:solidFill>
                  <a:srgbClr val="6F7781"/>
                </a:solidFill>
              </a:rPr>
              <a:t>В запрос передаём дату события.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7ADD8-10B7-4BFA-876B-026C17D6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09587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2238"/>
                </a:solidFill>
              </a:defRPr>
            </a:pPr>
            <a:r>
              <a:rPr sz="1650" b="1">
                <a:solidFill>
                  <a:srgbClr val="112238"/>
                </a:solidFill>
              </a:rPr>
              <a:t>Обновление не удаляет старый текст. Файл: 06_versioned_update.py</a:t>
            </a:r>
          </a:p>
        </p:txBody>
      </p:sp>
    </p:spTree>
    <p:extLst>
      <p:ext uri="{BB962C8B-B14F-4D97-AF65-F5344CB8AC3E}">
        <p14:creationId xmlns:p14="http://schemas.microsoft.com/office/powerpoint/2010/main" val="136208206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E2A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94FCB3-C984-4CB2-A6AA-C822D338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0C9E8"/>
                </a:solidFill>
              </a:defRPr>
            </a:pPr>
            <a:r>
              <a:rPr sz="900" b="1">
                <a:solidFill>
                  <a:srgbClr val="50C9E8"/>
                </a:solidFill>
              </a:rPr>
              <a:t>ХРАНИЛИЩЕ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3F9EA-439E-45D9-A485-22A84A1D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pgvector или Qdrant: выбор зависит от системы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F2983-DB2F-4D3A-8D15-60C5D681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AB6C9"/>
                </a:solidFill>
              </a:defRPr>
            </a:pPr>
            <a:r>
              <a:rPr sz="900" b="1">
                <a:solidFill>
                  <a:srgbClr val="9AB6C9"/>
                </a:solidFill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5A76F-C6C9-42C9-89B4-01F9DF94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4476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9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F3F96-A299-406C-A7A5-AFCB90FE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C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CE797-8BBA-4E8C-9A05-ED428184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2238"/>
                </a:solidFill>
              </a:defRPr>
            </a:pPr>
            <a:r>
              <a:rPr sz="1500" b="1">
                <a:solidFill>
                  <a:srgbClr val="112238"/>
                </a:solidFill>
              </a:rPr>
              <a:t>pgvector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65097-B176-4432-8A94-FF9165B0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4095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F7781"/>
                </a:solidFill>
              </a:defRPr>
            </a:pPr>
            <a:r>
              <a:rPr sz="1200" b="0">
                <a:solidFill>
                  <a:srgbClr val="6F7781"/>
                </a:solidFill>
              </a:rPr>
              <a:t>Данные уже в PostgreSQL. Нужны SQL, JOIN и транзакции.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9F320-1B68-4CAA-B277-2BE6A0A0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05000"/>
            <a:ext cx="4476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9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A0FD7-1B00-488F-A0C2-0BD94EB7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0500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4E62E-EFCD-4150-B420-DDF31506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1455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2238"/>
                </a:solidFill>
              </a:defRPr>
            </a:pPr>
            <a:r>
              <a:rPr sz="1500" b="1">
                <a:solidFill>
                  <a:srgbClr val="112238"/>
                </a:solidFill>
              </a:rPr>
              <a:t>Qdrant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DF75AA-4D33-487B-9CB3-D9347107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14600"/>
            <a:ext cx="4095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F7781"/>
                </a:solidFill>
              </a:defRPr>
            </a:pPr>
            <a:r>
              <a:rPr sz="1200" b="0">
                <a:solidFill>
                  <a:srgbClr val="6F7781"/>
                </a:solidFill>
              </a:rPr>
              <a:t>Поиск выделен в отдельный сервис. Нужны векторные запросы и фильтры.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CB06C4-42E0-4926-B4E3-FDA83D14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4825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Оба хранят векторы и метаданные. Чанки, темы и версии проектируем сами.</a:t>
            </a:r>
          </a:p>
        </p:txBody>
      </p:sp>
    </p:spTree>
    <p:extLst>
      <p:ext uri="{BB962C8B-B14F-4D97-AF65-F5344CB8AC3E}">
        <p14:creationId xmlns:p14="http://schemas.microsoft.com/office/powerpoint/2010/main" val="11188593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25819F-E68C-4C51-8411-598CA405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67F0"/>
                </a:solidFill>
              </a:defRPr>
            </a:pPr>
            <a:r>
              <a:rPr sz="900" b="1">
                <a:solidFill>
                  <a:srgbClr val="2867F0"/>
                </a:solidFill>
              </a:rPr>
              <a:t>ПРОВЕРКА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22D31-E19C-4B88-B4B0-3F9D66EB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2238"/>
                </a:solidFill>
              </a:defRPr>
            </a:pPr>
            <a:r>
              <a:rPr sz="2700" b="1">
                <a:solidFill>
                  <a:srgbClr val="112238"/>
                </a:solidFill>
              </a:rPr>
              <a:t>Сначала проверяем выдачу, затем ответ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F3E1E-CAA1-4866-BDC3-8D82622E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781"/>
                </a:solidFill>
              </a:defRPr>
            </a:pPr>
            <a:r>
              <a:rPr sz="900" b="1">
                <a:solidFill>
                  <a:srgbClr val="6F7781"/>
                </a:solidFill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55A0B-0FC6-4E06-BCCF-48BB9205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953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9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357E8-3DB8-4033-BCC8-0D414D9C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2238"/>
                </a:solidFill>
              </a:defRPr>
            </a:pPr>
            <a:r>
              <a:rPr sz="1575" b="1">
                <a:solidFill>
                  <a:srgbClr val="112238"/>
                </a:solidFill>
              </a:rPr>
              <a:t>1. Retrieval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F3EAC-4D9E-4639-A3F6-F8CC0069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7781"/>
                </a:solidFill>
              </a:defRPr>
            </a:pPr>
            <a:r>
              <a:rPr sz="1275" b="0">
                <a:solidFill>
                  <a:srgbClr val="6F7781"/>
                </a:solidFill>
              </a:rPr>
              <a:t>Нужный закон в top-k?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97D40-64DB-4B25-973D-B37C919F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4953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9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AE14C-B6D7-48F9-A4B1-C486E568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02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2238"/>
                </a:solidFill>
              </a:defRPr>
            </a:pPr>
            <a:r>
              <a:rPr sz="1575" b="1">
                <a:solidFill>
                  <a:srgbClr val="112238"/>
                </a:solidFill>
              </a:rPr>
              <a:t>Версия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5242DE-59E7-4D1F-A34C-1889F474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6220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7781"/>
                </a:solidFill>
              </a:defRPr>
            </a:pPr>
            <a:r>
              <a:rPr sz="1275" b="0">
                <a:solidFill>
                  <a:srgbClr val="6F7781"/>
                </a:solidFill>
              </a:rPr>
              <a:t>Норма действует на дату?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377EB2-9148-49CB-8F5C-542CBFCF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953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9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B45E1-40AF-40AB-B3EC-D40BF119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813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2238"/>
                </a:solidFill>
              </a:defRPr>
            </a:pPr>
            <a:r>
              <a:rPr sz="1575" b="1">
                <a:solidFill>
                  <a:srgbClr val="112238"/>
                </a:solidFill>
              </a:rPr>
              <a:t>Полнота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5BEA8E-0684-406B-B2BF-1E9B2D96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43325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7781"/>
                </a:solidFill>
              </a:defRPr>
            </a:pPr>
            <a:r>
              <a:rPr sz="1275" b="0">
                <a:solidFill>
                  <a:srgbClr val="6F7781"/>
                </a:solidFill>
              </a:rPr>
              <a:t>Все условия во фрагментах?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DAC3D2-2F80-4A8C-93D4-48323326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90875"/>
            <a:ext cx="4953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9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2C7E7D-D202-4A86-8DCE-4BE968C9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813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2238"/>
                </a:solidFill>
              </a:defRPr>
            </a:pPr>
            <a:r>
              <a:rPr sz="1575" b="1">
                <a:solidFill>
                  <a:srgbClr val="112238"/>
                </a:solidFill>
              </a:rPr>
              <a:t>2. 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40E6DB-1E8C-44DF-89DC-CF3A40F1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43325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7781"/>
                </a:solidFill>
              </a:defRPr>
            </a:pPr>
            <a:r>
              <a:rPr sz="1275" b="0">
                <a:solidFill>
                  <a:srgbClr val="6F7781"/>
                </a:solidFill>
              </a:rPr>
              <a:t>Каждый вывод есть в контексте?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2539C5-706A-409E-A78F-5B070FC8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4350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2238"/>
                </a:solidFill>
              </a:defRPr>
            </a:pPr>
            <a:r>
              <a:rPr sz="1650" b="1">
                <a:solidFill>
                  <a:srgbClr val="112238"/>
                </a:solidFill>
              </a:rPr>
              <a:t>Повторяем тесты после смены корпуса, разбиения, модели эмбеддингов или top-k.</a:t>
            </a:r>
          </a:p>
        </p:txBody>
      </p:sp>
    </p:spTree>
    <p:extLst>
      <p:ext uri="{BB962C8B-B14F-4D97-AF65-F5344CB8AC3E}">
        <p14:creationId xmlns:p14="http://schemas.microsoft.com/office/powerpoint/2010/main" val="51988047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AB9EA1-327B-41EE-9E4F-1D916EFA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67F0"/>
                </a:solidFill>
              </a:defRPr>
            </a:pPr>
            <a:r>
              <a:rPr sz="900" b="1">
                <a:solidFill>
                  <a:srgbClr val="2867F0"/>
                </a:solidFill>
              </a:rPr>
              <a:t>ПЕРЕД ОТВЕТОМ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D940F-099E-48F3-BC71-A8518CD7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2238"/>
                </a:solidFill>
              </a:defRPr>
            </a:pPr>
            <a:r>
              <a:rPr sz="2400" b="1">
                <a:solidFill>
                  <a:srgbClr val="112238"/>
                </a:solidFill>
              </a:rPr>
              <a:t>Как агент должен оформить юридический ответ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0B5C30-28D9-4950-9CC1-6498A059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781"/>
                </a:solidFill>
              </a:defRPr>
            </a:pPr>
            <a:r>
              <a:rPr sz="900" b="1">
                <a:solidFill>
                  <a:srgbClr val="6F7781"/>
                </a:solidFill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891FE-557F-4A26-8158-6937F762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31413-A5CE-4BDE-B663-0C265B05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811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1D716-3791-4D47-819D-DAD4E891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781175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2238"/>
                </a:solidFill>
              </a:defRPr>
            </a:pPr>
            <a:r>
              <a:rPr sz="1800" b="1">
                <a:solidFill>
                  <a:srgbClr val="112238"/>
                </a:solidFill>
              </a:rPr>
              <a:t>Факты из вопроса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855D2-F63B-44B5-BB83-29C9EA9C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19325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7C6B4-CFC8-443D-93A8-D009EB42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3A5CC-02D4-4E57-AD14-17F1BD28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574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A8AE3-4202-42E2-8CF1-92F2D2A3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657475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2238"/>
                </a:solidFill>
              </a:defRPr>
            </a:pPr>
            <a:r>
              <a:rPr sz="1800" b="1">
                <a:solidFill>
                  <a:srgbClr val="112238"/>
                </a:solidFill>
              </a:rPr>
              <a:t>Норма и дата её действия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518B83-E52F-4D6B-B88E-9C5CF13D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95625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F99DB5-764E-40B1-AB33-F4D58731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E11EDA-4FA7-427E-A54F-29F09E66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337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43DB4-74A0-4E06-A900-8183BEF9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33775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2238"/>
                </a:solidFill>
              </a:defRPr>
            </a:pPr>
            <a:r>
              <a:rPr sz="1800" b="1">
                <a:solidFill>
                  <a:srgbClr val="112238"/>
                </a:solidFill>
              </a:rPr>
              <a:t>Вывод только при выполненных условиях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800E3D-4BBA-4AFE-B5B6-D483F83D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71925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11DCAF-915C-40DF-A550-720BA5D2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95775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7C4EA2-4502-47CC-8C3A-D9D7E640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00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98A4B1-F222-4BEC-9BCB-34D38FE1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410075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2238"/>
                </a:solidFill>
              </a:defRPr>
            </a:pPr>
            <a:r>
              <a:rPr sz="1800" b="1">
                <a:solidFill>
                  <a:srgbClr val="112238"/>
                </a:solidFill>
              </a:rPr>
              <a:t>Ссылка на найденный фрагмент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524C40-A6A6-4B82-A303-5439BBD4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848225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160E6E-3F6B-4234-AE1E-F29C4330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9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1F63D1-DE44-4D8A-B4D4-6B95230D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80B6BC-7E46-4FF0-AB82-A0690898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050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2238"/>
                </a:solidFill>
              </a:defRPr>
            </a:pPr>
            <a:r>
              <a:rPr sz="1500" b="1">
                <a:solidFill>
                  <a:srgbClr val="112238"/>
                </a:solidFill>
              </a:rPr>
              <a:t>Если данных мало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A79D4E-0F1E-4BD1-BC3A-392C0DBF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05100"/>
            <a:ext cx="2000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F7781"/>
                </a:solidFill>
              </a:defRPr>
            </a:pPr>
            <a:r>
              <a:rPr sz="1200" b="0">
                <a:solidFill>
                  <a:srgbClr val="6F7781"/>
                </a:solidFill>
              </a:rPr>
              <a:t>Задать вопрос или честно остановиться.</a:t>
            </a:r>
          </a:p>
        </p:txBody>
      </p:sp>
    </p:spTree>
    <p:extLst>
      <p:ext uri="{BB962C8B-B14F-4D97-AF65-F5344CB8AC3E}">
        <p14:creationId xmlns:p14="http://schemas.microsoft.com/office/powerpoint/2010/main" val="14887133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E2A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972E0B-7E4D-4E64-9A38-B5D51226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0C9E8"/>
                </a:solidFill>
              </a:defRPr>
            </a:pPr>
            <a:r>
              <a:rPr sz="900" b="1">
                <a:solidFill>
                  <a:srgbClr val="50C9E8"/>
                </a:solidFill>
              </a:rPr>
              <a:t>ДОМАШНЯЯ РАБОТА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C0E87-A13B-4A8F-9983-BE29ACBA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Домашняя работа: добавить Python Cookbook в coding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CAD7A-C918-4FD7-B87E-63BDDD5F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AB6C9"/>
                </a:solidFill>
              </a:defRPr>
            </a:pPr>
            <a:r>
              <a:rPr sz="900" b="1">
                <a:solidFill>
                  <a:srgbClr val="9AB6C9"/>
                </a:solidFill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65330-DFCF-4C2D-B3B5-BFBEEBDA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809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28ED6-A4B7-4301-8B60-00F9DF47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45AD6-E0DA-4C7C-B5E9-8EA28B74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24175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Извлечь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7472C-A5E8-4BEE-835A-AE3CDBCB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86125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рецепты + страницы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59460-987C-48AD-9ECD-901DDD21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81250"/>
            <a:ext cx="1809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C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3AB41F-6B19-4349-9E60-48C0B57F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52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AA052F-0E7C-4D49-9C22-6ACE0ADE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924175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Разрезать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6D410-CE0C-468B-9183-711B7603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286125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по рецептам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BF57D5-EBF5-4293-A048-E7AC7861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81250"/>
            <a:ext cx="1809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551EC5-C79E-492B-A43F-5295FDFC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52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D216F4-DABF-4EB4-BC87-1CF13BA8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24175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Создать индекс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0E900C-1D4E-45D9-81D5-14D23CF1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86125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текст + метаданные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253BE-7753-4DAA-9D0C-EDEBB857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81250"/>
            <a:ext cx="1809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0FB116-6812-446D-A90D-73467706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552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2BCBF8-40DA-45FC-8C1D-F1E56E7C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924175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Искать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DC91F9-C633-4E16-92F1-3828D29A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286125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рецепт перед кодом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91BB89-5BB4-4522-B894-D5C07C07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81250"/>
            <a:ext cx="1809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6C2892-7F83-42BF-809E-CE23610A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52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EF15AE-4F53-41AA-9B23-F0A28C6F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924175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Сослаться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6339B6-3B9D-4015-995A-06240D75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86125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на рецепт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7E3B27-39A9-4068-A29C-21A6763C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435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Стартовый файл: coding_agent_with_cookbook_rag.py</a:t>
            </a:r>
          </a:p>
        </p:txBody>
      </p:sp>
    </p:spTree>
    <p:extLst>
      <p:ext uri="{BB962C8B-B14F-4D97-AF65-F5344CB8AC3E}">
        <p14:creationId xmlns:p14="http://schemas.microsoft.com/office/powerpoint/2010/main" val="172379798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E2A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53265C-696D-4657-9082-EE09F6A3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0C9E8"/>
                </a:solidFill>
              </a:defRPr>
            </a:pPr>
            <a:r>
              <a:rPr sz="900" b="1">
                <a:solidFill>
                  <a:srgbClr val="50C9E8"/>
                </a:solidFill>
              </a:rPr>
              <a:t>АРХИТЕКТУРА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1C9E7-2FD6-469D-9F2E-FDFD06C4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Архитектура современного RAG / Multi-RAG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40558-7DBA-4D3E-A862-46CA2560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AB6C9"/>
                </a:solidFill>
              </a:defRPr>
            </a:pPr>
            <a:r>
              <a:rPr sz="900" b="1">
                <a:solidFill>
                  <a:srgbClr val="9AB6C9"/>
                </a:solidFill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748D4-5864-4F22-8990-D95233E1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857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A68DC-1487-4CB0-B524-8A604307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44386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AF3F8"/>
                </a:solidFill>
              </a:defRPr>
            </a:pPr>
            <a:r>
              <a:rPr sz="1125" b="0">
                <a:solidFill>
                  <a:srgbClr val="EAF3F8"/>
                </a:solidFill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1034E-A581-4F3E-979D-1BD2AA3A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3905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68436-E7A9-4C15-AB5C-0725A9BF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57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47BFB-1729-4480-80A9-6BB6D7DC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57425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2238"/>
                </a:solidFill>
              </a:defRPr>
            </a:pP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6FA9C-3167-48DC-B91F-9AAC861C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57475"/>
            <a:ext cx="352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F7781"/>
                </a:solidFill>
              </a:defRPr>
            </a:pP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45BCB3-15D5-4F96-BF3A-D54BD1A7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19800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BFD0DD"/>
                </a:solidFill>
              </a:defRPr>
            </a:pPr>
            <a:r>
              <a:rPr sz="900" b="1">
                <a:solidFill>
                  <a:srgbClr val="BFD0DD"/>
                </a:solidFill>
              </a:rPr>
              <a:t>Router chooses where to search. Retriever finds candidates. Reranker improves relevance. Synthesizer builds the answer. Verifier checks grounding.</a:t>
            </a:r>
          </a:p>
        </p:txBody>
      </p:sp>
      <p:sp>
        <p:nvSpPr>
          <p:cNvPr id="12" name="user-query-card">
            <a:extLst xmlns:a="http://schemas.openxmlformats.org/drawingml/2006/main">
              <a:ext uri="{FF2B5EF4-FFF2-40B4-BE49-F238E27FC236}">
                <a16:creationId xmlns:a16="http://schemas.microsoft.com/office/drawing/2014/main" id="{DCB33F4E-C7D5-469F-ADFE-1DEFF8EB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86000"/>
            <a:ext cx="1047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7F0"/>
          </a:solidFill>
        </p:spPr>
        <p:txBody>
          <a:bodyPr xmlns:a="http://schemas.openxmlformats.org/drawingml/2006/main" lIns="76200" tIns="133350" rIns="76200" bIns="7620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USER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QUERY</a:t>
            </a:r>
          </a:p>
        </p:txBody>
      </p:sp>
      <p:sp>
        <p:nvSpPr>
          <p:cNvPr id="13" name="user-query-subtitle">
            <a:extLst xmlns:a="http://schemas.openxmlformats.org/drawingml/2006/main">
              <a:ext uri="{FF2B5EF4-FFF2-40B4-BE49-F238E27FC236}">
                <a16:creationId xmlns:a16="http://schemas.microsoft.com/office/drawing/2014/main" id="{4F905048-C57F-48AA-A4B5-29B08058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09875"/>
            <a:ext cx="895350" cy="923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FFFFFF"/>
                </a:solidFill>
              </a:defRPr>
            </a:pPr>
            <a:r>
              <a:rPr sz="825">
                <a:solidFill>
                  <a:srgbClr val="FFFFFF"/>
                </a:solidFill>
              </a:rPr>
              <a:t>Вопрос</a:t>
            </a:r>
          </a:p>
          <a:p xmlns:a="http://schemas.openxmlformats.org/drawingml/2006/main">
            <a:pPr algn="ctr">
              <a:defRPr sz="825">
                <a:solidFill>
                  <a:srgbClr val="FFFFFF"/>
                </a:solidFill>
              </a:defRPr>
            </a:pPr>
            <a:r>
              <a:rPr sz="825">
                <a:solidFill>
                  <a:srgbClr val="FFFFFF"/>
                </a:solidFill>
              </a:rPr>
              <a:t>пользователя</a:t>
            </a:r>
          </a:p>
        </p:txBody>
      </p:sp>
      <p:sp>
        <p:nvSpPr>
          <p:cNvPr id="14" name="arrow-query-router">
            <a:extLst xmlns:a="http://schemas.openxmlformats.org/drawingml/2006/main">
              <a:ext uri="{FF2B5EF4-FFF2-40B4-BE49-F238E27FC236}">
                <a16:creationId xmlns:a16="http://schemas.microsoft.com/office/drawing/2014/main" id="{57FB0430-8ACB-4597-B8BB-2FCDD64C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4797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0C9E8"/>
                </a:solidFill>
              </a:defRPr>
            </a:pPr>
            <a:r>
              <a:rPr sz="1800" b="1">
                <a:solidFill>
                  <a:srgbClr val="50C9E8"/>
                </a:solidFill>
              </a:rPr>
              <a:t>→</a:t>
            </a:r>
          </a:p>
        </p:txBody>
      </p:sp>
      <p:sp>
        <p:nvSpPr>
          <p:cNvPr id="15" name="query-router-card">
            <a:extLst xmlns:a="http://schemas.openxmlformats.org/drawingml/2006/main">
              <a:ext uri="{FF2B5EF4-FFF2-40B4-BE49-F238E27FC236}">
                <a16:creationId xmlns:a16="http://schemas.microsoft.com/office/drawing/2014/main" id="{B02250BE-1A68-4D35-B68E-4E4A1ACC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286000"/>
            <a:ext cx="1333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D87"/>
          </a:solidFill>
        </p:spPr>
        <p:txBody>
          <a:bodyPr xmlns:a="http://schemas.openxmlformats.org/drawingml/2006/main" lIns="76200" tIns="133350" rIns="76200" bIns="7620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QUERY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ROUTER</a:t>
            </a:r>
          </a:p>
        </p:txBody>
      </p:sp>
      <p:sp>
        <p:nvSpPr>
          <p:cNvPr id="16" name="query-router-subtitle">
            <a:extLst xmlns:a="http://schemas.openxmlformats.org/drawingml/2006/main">
              <a:ext uri="{FF2B5EF4-FFF2-40B4-BE49-F238E27FC236}">
                <a16:creationId xmlns:a16="http://schemas.microsoft.com/office/drawing/2014/main" id="{D4AAA673-1EC2-4B6A-9174-088EFE91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809875"/>
            <a:ext cx="1181100" cy="923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FFFFFF"/>
                </a:solidFill>
              </a:defRPr>
            </a:pPr>
            <a:r>
              <a:rPr sz="825">
                <a:solidFill>
                  <a:srgbClr val="FFFFFF"/>
                </a:solidFill>
              </a:rPr>
              <a:t>Определяет, куда</a:t>
            </a:r>
          </a:p>
          <a:p xmlns:a="http://schemas.openxmlformats.org/drawingml/2006/main">
            <a:pPr algn="ctr">
              <a:defRPr sz="825">
                <a:solidFill>
                  <a:srgbClr val="FFFFFF"/>
                </a:solidFill>
              </a:defRPr>
            </a:pPr>
            <a:r>
              <a:rPr sz="825">
                <a:solidFill>
                  <a:srgbClr val="FFFFFF"/>
                </a:solidFill>
              </a:rPr>
              <a:t>отправить запрос</a:t>
            </a:r>
          </a:p>
        </p:txBody>
      </p:sp>
      <p:sp>
        <p:nvSpPr>
          <p:cNvPr id="17" name="arrow-router-rag">
            <a:extLst xmlns:a="http://schemas.openxmlformats.org/drawingml/2006/main">
              <a:ext uri="{FF2B5EF4-FFF2-40B4-BE49-F238E27FC236}">
                <a16:creationId xmlns:a16="http://schemas.microsoft.com/office/drawing/2014/main" id="{8E27D0CB-E613-4F88-8CBB-3F47C207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4797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0C9E8"/>
                </a:solidFill>
              </a:defRPr>
            </a:pPr>
            <a:r>
              <a:rPr sz="1800" b="1">
                <a:solidFill>
                  <a:srgbClr val="50C9E8"/>
                </a:solidFill>
              </a:rPr>
              <a:t>→</a:t>
            </a:r>
          </a:p>
        </p:txBody>
      </p:sp>
      <p:sp>
        <p:nvSpPr>
          <p:cNvPr id="18" name="rag-pipelines-group">
            <a:extLst xmlns:a="http://schemas.openxmlformats.org/drawingml/2006/main">
              <a:ext uri="{FF2B5EF4-FFF2-40B4-BE49-F238E27FC236}">
                <a16:creationId xmlns:a16="http://schemas.microsoft.com/office/drawing/2014/main" id="{989EBA61-48B1-4E9E-80D4-9CD0DAE9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71625"/>
            <a:ext cx="2952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34D"/>
          </a:solidFill>
        </p:spPr>
        <p:txBody>
          <a:bodyPr xmlns:a="http://schemas.openxmlformats.org/drawingml/2006/main" lIns="95250" tIns="114300" rIns="95250" bIns="762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0C9E8"/>
                </a:solidFill>
              </a:defRPr>
            </a:pPr>
            <a:r>
              <a:rPr sz="1125" b="1">
                <a:solidFill>
                  <a:srgbClr val="50C9E8"/>
                </a:solidFill>
              </a:rPr>
              <a:t>RAG PIPELINE × N</a:t>
            </a:r>
          </a:p>
        </p:txBody>
      </p:sp>
      <p:sp>
        <p:nvSpPr>
          <p:cNvPr id="19" name="rag-pipeline-scopes">
            <a:extLst xmlns:a="http://schemas.openxmlformats.org/drawingml/2006/main">
              <a:ext uri="{FF2B5EF4-FFF2-40B4-BE49-F238E27FC236}">
                <a16:creationId xmlns:a16="http://schemas.microsoft.com/office/drawing/2014/main" id="{F8D8FA7D-051F-49AA-B609-2310A752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859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BFD0DD"/>
                </a:solidFill>
              </a:defRPr>
            </a:pPr>
            <a:r>
              <a:rPr sz="750">
                <a:solidFill>
                  <a:srgbClr val="BFD0DD"/>
                </a:solidFill>
              </a:rPr>
              <a:t>consumer  ·  labor  ·  internal</a:t>
            </a:r>
          </a:p>
        </p:txBody>
      </p:sp>
      <p:sp>
        <p:nvSpPr>
          <p:cNvPr id="20" name="chunking-card">
            <a:extLst xmlns:a="http://schemas.openxmlformats.org/drawingml/2006/main">
              <a:ext uri="{FF2B5EF4-FFF2-40B4-BE49-F238E27FC236}">
                <a16:creationId xmlns:a16="http://schemas.microsoft.com/office/drawing/2014/main" id="{154B75F7-9FD9-4902-A519-B788FD45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71700"/>
            <a:ext cx="1200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B68"/>
          </a:solidFill>
        </p:spPr>
        <p:txBody>
          <a:bodyPr xmlns:a="http://schemas.openxmlformats.org/drawingml/2006/main" lIns="76200" tIns="133350" rIns="76200" bIns="7620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CHUNKING</a:t>
            </a:r>
          </a:p>
        </p:txBody>
      </p:sp>
      <p:sp>
        <p:nvSpPr>
          <p:cNvPr id="21" name="chunking-subtitle">
            <a:extLst xmlns:a="http://schemas.openxmlformats.org/drawingml/2006/main">
              <a:ext uri="{FF2B5EF4-FFF2-40B4-BE49-F238E27FC236}">
                <a16:creationId xmlns:a16="http://schemas.microsoft.com/office/drawing/2014/main" id="{F814102D-F8F7-4489-AB7E-96A711FE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955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FFFFFF"/>
                </a:solidFill>
              </a:defRPr>
            </a:pPr>
            <a:r>
              <a:rPr sz="750">
                <a:solidFill>
                  <a:srgbClr val="FFFFFF"/>
                </a:solidFill>
              </a:rPr>
              <a:t>Режем на смысловые</a:t>
            </a:r>
          </a:p>
          <a:p xmlns:a="http://schemas.openxmlformats.org/drawingml/2006/main">
            <a:pPr algn="ctr">
              <a:defRPr sz="750">
                <a:solidFill>
                  <a:srgbClr val="FFFFFF"/>
                </a:solidFill>
              </a:defRPr>
            </a:pPr>
            <a:r>
              <a:rPr sz="750">
                <a:solidFill>
                  <a:srgbClr val="FFFFFF"/>
                </a:solidFill>
              </a:rPr>
              <a:t>фрагменты</a:t>
            </a:r>
          </a:p>
        </p:txBody>
      </p:sp>
      <p:sp>
        <p:nvSpPr>
          <p:cNvPr id="22" name="arrow-chunking-index">
            <a:extLst xmlns:a="http://schemas.openxmlformats.org/drawingml/2006/main">
              <a:ext uri="{FF2B5EF4-FFF2-40B4-BE49-F238E27FC236}">
                <a16:creationId xmlns:a16="http://schemas.microsoft.com/office/drawing/2014/main" id="{0EC6A742-488F-4123-98D4-D6F45AF8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0C9E8"/>
                </a:solidFill>
              </a:defRPr>
            </a:pPr>
            <a:r>
              <a:rPr sz="1800" b="1">
                <a:solidFill>
                  <a:srgbClr val="50C9E8"/>
                </a:solidFill>
              </a:rPr>
              <a:t>→</a:t>
            </a:r>
          </a:p>
        </p:txBody>
      </p:sp>
      <p:sp>
        <p:nvSpPr>
          <p:cNvPr id="23" name="embeddings-index-card">
            <a:extLst xmlns:a="http://schemas.openxmlformats.org/drawingml/2006/main">
              <a:ext uri="{FF2B5EF4-FFF2-40B4-BE49-F238E27FC236}">
                <a16:creationId xmlns:a16="http://schemas.microsoft.com/office/drawing/2014/main" id="{F01FA903-8336-48D9-8FD4-E3588EC8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71700"/>
            <a:ext cx="1200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A53"/>
          </a:solidFill>
        </p:spPr>
        <p:txBody>
          <a:bodyPr xmlns:a="http://schemas.openxmlformats.org/drawingml/2006/main" lIns="76200" tIns="133350" rIns="76200" bIns="7620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EMBEDDINGS</a:t>
            </a:r>
          </a:p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+ INDEX</a:t>
            </a:r>
          </a:p>
        </p:txBody>
      </p:sp>
      <p:sp>
        <p:nvSpPr>
          <p:cNvPr id="24" name="embeddings-index-subtitle">
            <a:extLst xmlns:a="http://schemas.openxmlformats.org/drawingml/2006/main">
              <a:ext uri="{FF2B5EF4-FFF2-40B4-BE49-F238E27FC236}">
                <a16:creationId xmlns:a16="http://schemas.microsoft.com/office/drawing/2014/main" id="{881A4F6D-93DF-47E1-87CE-B157068C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955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FFFFFF"/>
                </a:solidFill>
              </a:defRPr>
            </a:pPr>
            <a:r>
              <a:rPr sz="750">
                <a:solidFill>
                  <a:srgbClr val="FFFFFF"/>
                </a:solidFill>
              </a:rPr>
              <a:t>Векторы +</a:t>
            </a:r>
          </a:p>
          <a:p xmlns:a="http://schemas.openxmlformats.org/drawingml/2006/main">
            <a:pPr algn="ctr">
              <a:defRPr sz="750">
                <a:solidFill>
                  <a:srgbClr val="FFFFFF"/>
                </a:solidFill>
              </a:defRPr>
            </a:pPr>
            <a:r>
              <a:rPr sz="750">
                <a:solidFill>
                  <a:srgbClr val="FFFFFF"/>
                </a:solidFill>
              </a:rPr>
              <a:t>метаданные</a:t>
            </a:r>
          </a:p>
        </p:txBody>
      </p:sp>
      <p:sp>
        <p:nvSpPr>
          <p:cNvPr id="25" name="retriever-card">
            <a:extLst xmlns:a="http://schemas.openxmlformats.org/drawingml/2006/main">
              <a:ext uri="{FF2B5EF4-FFF2-40B4-BE49-F238E27FC236}">
                <a16:creationId xmlns:a16="http://schemas.microsoft.com/office/drawing/2014/main" id="{42A12BD7-364C-42AC-84B2-B23535DD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52800"/>
            <a:ext cx="1200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7F0"/>
          </a:solidFill>
        </p:spPr>
        <p:txBody>
          <a:bodyPr xmlns:a="http://schemas.openxmlformats.org/drawingml/2006/main" lIns="76200" tIns="133350" rIns="76200" bIns="7620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RETRIEVER</a:t>
            </a:r>
          </a:p>
        </p:txBody>
      </p:sp>
      <p:sp>
        <p:nvSpPr>
          <p:cNvPr id="26" name="retriever-subtitle">
            <a:extLst xmlns:a="http://schemas.openxmlformats.org/drawingml/2006/main">
              <a:ext uri="{FF2B5EF4-FFF2-40B4-BE49-F238E27FC236}">
                <a16:creationId xmlns:a16="http://schemas.microsoft.com/office/drawing/2014/main" id="{D1DEFCE3-8CCA-46DE-AF22-72E71AB9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766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FFFFFF"/>
                </a:solidFill>
              </a:defRPr>
            </a:pPr>
            <a:r>
              <a:rPr sz="750">
                <a:solidFill>
                  <a:srgbClr val="FFFFFF"/>
                </a:solidFill>
              </a:rPr>
              <a:t>Top-K похожих</a:t>
            </a:r>
          </a:p>
          <a:p xmlns:a="http://schemas.openxmlformats.org/drawingml/2006/main">
            <a:pPr algn="ctr">
              <a:defRPr sz="750">
                <a:solidFill>
                  <a:srgbClr val="FFFFFF"/>
                </a:solidFill>
              </a:defRPr>
            </a:pPr>
            <a:r>
              <a:rPr sz="750">
                <a:solidFill>
                  <a:srgbClr val="FFFFFF"/>
                </a:solidFill>
              </a:rPr>
              <a:t>чанков</a:t>
            </a:r>
          </a:p>
        </p:txBody>
      </p:sp>
      <p:sp>
        <p:nvSpPr>
          <p:cNvPr id="27" name="arrow-retriever-reranker">
            <a:extLst xmlns:a="http://schemas.openxmlformats.org/drawingml/2006/main">
              <a:ext uri="{FF2B5EF4-FFF2-40B4-BE49-F238E27FC236}">
                <a16:creationId xmlns:a16="http://schemas.microsoft.com/office/drawing/2014/main" id="{D231B68C-DF8F-4142-90FC-C16F6470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71875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0C9E8"/>
                </a:solidFill>
              </a:defRPr>
            </a:pPr>
            <a:r>
              <a:rPr sz="1800" b="1">
                <a:solidFill>
                  <a:srgbClr val="50C9E8"/>
                </a:solidFill>
              </a:rPr>
              <a:t>→</a:t>
            </a:r>
          </a:p>
        </p:txBody>
      </p:sp>
      <p:sp>
        <p:nvSpPr>
          <p:cNvPr id="28" name="reranker-card">
            <a:extLst xmlns:a="http://schemas.openxmlformats.org/drawingml/2006/main">
              <a:ext uri="{FF2B5EF4-FFF2-40B4-BE49-F238E27FC236}">
                <a16:creationId xmlns:a16="http://schemas.microsoft.com/office/drawing/2014/main" id="{7C5071A4-84FE-48D0-8960-2B3F8006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52800"/>
            <a:ext cx="1200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4A"/>
          </a:solidFill>
        </p:spPr>
        <p:txBody>
          <a:bodyPr xmlns:a="http://schemas.openxmlformats.org/drawingml/2006/main" lIns="76200" tIns="133350" rIns="76200" bIns="7620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RERANKER</a:t>
            </a:r>
          </a:p>
        </p:txBody>
      </p:sp>
      <p:sp>
        <p:nvSpPr>
          <p:cNvPr id="29" name="reranker-subtitle">
            <a:extLst xmlns:a="http://schemas.openxmlformats.org/drawingml/2006/main">
              <a:ext uri="{FF2B5EF4-FFF2-40B4-BE49-F238E27FC236}">
                <a16:creationId xmlns:a16="http://schemas.microsoft.com/office/drawing/2014/main" id="{F2FF7773-407A-47CA-B2F1-7C92EE9B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766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</a:defRPr>
            </a:pPr>
            <a:r>
              <a:rPr sz="675">
                <a:solidFill>
                  <a:srgbClr val="FFFFFF"/>
                </a:solidFill>
              </a:rPr>
              <a:t>Переоценивает пару</a:t>
            </a:r>
          </a:p>
          <a:p xmlns:a="http://schemas.openxmlformats.org/drawingml/2006/main">
            <a:pPr algn="ctr">
              <a:defRPr sz="675">
                <a:solidFill>
                  <a:srgbClr val="FFFFFF"/>
                </a:solidFill>
              </a:defRPr>
            </a:pPr>
            <a:r>
              <a:rPr sz="675">
                <a:solidFill>
                  <a:srgbClr val="FFFFFF"/>
                </a:solidFill>
              </a:rPr>
              <a:t>«вопрос + чанк»</a:t>
            </a:r>
          </a:p>
        </p:txBody>
      </p:sp>
      <p:sp>
        <p:nvSpPr>
          <p:cNvPr id="30" name="arrow-rag-fusion">
            <a:extLst xmlns:a="http://schemas.openxmlformats.org/drawingml/2006/main">
              <a:ext uri="{FF2B5EF4-FFF2-40B4-BE49-F238E27FC236}">
                <a16:creationId xmlns:a16="http://schemas.microsoft.com/office/drawing/2014/main" id="{4FE3A829-E27B-490F-91F7-7EA50B59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4797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0C9E8"/>
                </a:solidFill>
              </a:defRPr>
            </a:pPr>
            <a:r>
              <a:rPr sz="1800" b="1">
                <a:solidFill>
                  <a:srgbClr val="50C9E8"/>
                </a:solidFill>
              </a:rPr>
              <a:t>→</a:t>
            </a:r>
          </a:p>
        </p:txBody>
      </p:sp>
      <p:sp>
        <p:nvSpPr>
          <p:cNvPr id="31" name="fusion-card">
            <a:extLst xmlns:a="http://schemas.openxmlformats.org/drawingml/2006/main">
              <a:ext uri="{FF2B5EF4-FFF2-40B4-BE49-F238E27FC236}">
                <a16:creationId xmlns:a16="http://schemas.microsoft.com/office/drawing/2014/main" id="{632109F7-60E1-4146-ACB2-19E88B90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86000"/>
            <a:ext cx="12858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65D"/>
          </a:solidFill>
        </p:spPr>
        <p:txBody>
          <a:bodyPr xmlns:a="http://schemas.openxmlformats.org/drawingml/2006/main" lIns="76200" tIns="133350" rIns="76200" bIns="7620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FUSION /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CONTEXT</a:t>
            </a:r>
          </a:p>
        </p:txBody>
      </p:sp>
      <p:sp>
        <p:nvSpPr>
          <p:cNvPr id="32" name="fusion-subtitle">
            <a:extLst xmlns:a="http://schemas.openxmlformats.org/drawingml/2006/main">
              <a:ext uri="{FF2B5EF4-FFF2-40B4-BE49-F238E27FC236}">
                <a16:creationId xmlns:a16="http://schemas.microsoft.com/office/drawing/2014/main" id="{730BB1E4-D0D1-4F35-930F-962CDDD6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09875"/>
            <a:ext cx="1133475" cy="923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FFFFFF"/>
                </a:solidFill>
              </a:defRPr>
            </a:pPr>
            <a:r>
              <a:rPr sz="750">
                <a:solidFill>
                  <a:srgbClr val="FFFFFF"/>
                </a:solidFill>
              </a:rPr>
              <a:t>Объединяет результаты</a:t>
            </a:r>
          </a:p>
          <a:p xmlns:a="http://schemas.openxmlformats.org/drawingml/2006/main">
            <a:pPr algn="ctr">
              <a:defRPr sz="750">
                <a:solidFill>
                  <a:srgbClr val="FFFFFF"/>
                </a:solidFill>
              </a:defRPr>
            </a:pPr>
            <a:r>
              <a:rPr sz="750">
                <a:solidFill>
                  <a:srgbClr val="FFFFFF"/>
                </a:solidFill>
              </a:rPr>
              <a:t>и выбирает контекст</a:t>
            </a:r>
          </a:p>
        </p:txBody>
      </p:sp>
      <p:sp>
        <p:nvSpPr>
          <p:cNvPr id="33" name="arrow-fusion-synth">
            <a:extLst xmlns:a="http://schemas.openxmlformats.org/drawingml/2006/main">
              <a:ext uri="{FF2B5EF4-FFF2-40B4-BE49-F238E27FC236}">
                <a16:creationId xmlns:a16="http://schemas.microsoft.com/office/drawing/2014/main" id="{FC5DF2E4-E6A1-4804-9DF0-68FEA39A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4797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0C9E8"/>
                </a:solidFill>
              </a:defRPr>
            </a:pPr>
            <a:r>
              <a:rPr sz="1800" b="1">
                <a:solidFill>
                  <a:srgbClr val="50C9E8"/>
                </a:solidFill>
              </a:rPr>
              <a:t>→</a:t>
            </a:r>
          </a:p>
        </p:txBody>
      </p:sp>
      <p:sp>
        <p:nvSpPr>
          <p:cNvPr id="34" name="synthesizer-card">
            <a:extLst xmlns:a="http://schemas.openxmlformats.org/drawingml/2006/main">
              <a:ext uri="{FF2B5EF4-FFF2-40B4-BE49-F238E27FC236}">
                <a16:creationId xmlns:a16="http://schemas.microsoft.com/office/drawing/2014/main" id="{E90DEEC5-37A2-4616-BED5-F14E0384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86000"/>
            <a:ext cx="1428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B68"/>
          </a:solidFill>
        </p:spPr>
        <p:txBody>
          <a:bodyPr xmlns:a="http://schemas.openxmlformats.org/drawingml/2006/main" lIns="76200" tIns="133350" rIns="76200" bIns="7620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RESPONSE</a:t>
            </a:r>
          </a:p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SYNTHESIZER</a:t>
            </a:r>
          </a:p>
        </p:txBody>
      </p:sp>
      <p:sp>
        <p:nvSpPr>
          <p:cNvPr id="35" name="synthesizer-subtitle">
            <a:extLst xmlns:a="http://schemas.openxmlformats.org/drawingml/2006/main">
              <a:ext uri="{FF2B5EF4-FFF2-40B4-BE49-F238E27FC236}">
                <a16:creationId xmlns:a16="http://schemas.microsoft.com/office/drawing/2014/main" id="{08559D1B-59B6-434E-BC85-CC8FD7D2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809875"/>
            <a:ext cx="1276350" cy="923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FFFFFF"/>
                </a:solidFill>
              </a:defRPr>
            </a:pPr>
            <a:r>
              <a:rPr sz="750">
                <a:solidFill>
                  <a:srgbClr val="FFFFFF"/>
                </a:solidFill>
              </a:rPr>
              <a:t>LLM собирает ответ</a:t>
            </a:r>
          </a:p>
          <a:p xmlns:a="http://schemas.openxmlformats.org/drawingml/2006/main">
            <a:pPr algn="ctr">
              <a:defRPr sz="750">
                <a:solidFill>
                  <a:srgbClr val="FFFFFF"/>
                </a:solidFill>
              </a:defRPr>
            </a:pPr>
            <a:r>
              <a:rPr sz="750">
                <a:solidFill>
                  <a:srgbClr val="FFFFFF"/>
                </a:solidFill>
              </a:rPr>
              <a:t>на основе контекста</a:t>
            </a:r>
          </a:p>
        </p:txBody>
      </p:sp>
      <p:sp>
        <p:nvSpPr>
          <p:cNvPr id="36" name="arrow-synth-verifier">
            <a:extLst xmlns:a="http://schemas.openxmlformats.org/drawingml/2006/main">
              <a:ext uri="{FF2B5EF4-FFF2-40B4-BE49-F238E27FC236}">
                <a16:creationId xmlns:a16="http://schemas.microsoft.com/office/drawing/2014/main" id="{FD86B892-E307-4E71-BC6D-77697108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4797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0C9E8"/>
                </a:solidFill>
              </a:defRPr>
            </a:pPr>
            <a:r>
              <a:rPr sz="1800" b="1">
                <a:solidFill>
                  <a:srgbClr val="50C9E8"/>
                </a:solidFill>
              </a:rPr>
              <a:t>→</a:t>
            </a:r>
          </a:p>
        </p:txBody>
      </p:sp>
      <p:sp>
        <p:nvSpPr>
          <p:cNvPr id="37" name="verifier-card">
            <a:extLst xmlns:a="http://schemas.openxmlformats.org/drawingml/2006/main">
              <a:ext uri="{FF2B5EF4-FFF2-40B4-BE49-F238E27FC236}">
                <a16:creationId xmlns:a16="http://schemas.microsoft.com/office/drawing/2014/main" id="{1376F9E9-6506-40D3-8507-27763979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0"/>
            <a:ext cx="12858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4A"/>
          </a:solidFill>
        </p:spPr>
        <p:txBody>
          <a:bodyPr xmlns:a="http://schemas.openxmlformats.org/drawingml/2006/main" lIns="76200" tIns="133350" rIns="76200" bIns="7620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VERIFIER /</a:t>
            </a:r>
          </a:p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GROUNDING</a:t>
            </a:r>
          </a:p>
        </p:txBody>
      </p:sp>
      <p:sp>
        <p:nvSpPr>
          <p:cNvPr id="38" name="verifier-subtitle">
            <a:extLst xmlns:a="http://schemas.openxmlformats.org/drawingml/2006/main">
              <a:ext uri="{FF2B5EF4-FFF2-40B4-BE49-F238E27FC236}">
                <a16:creationId xmlns:a16="http://schemas.microsoft.com/office/drawing/2014/main" id="{6F932FAE-FCED-4EF7-B329-64E3A12F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09875"/>
            <a:ext cx="1133475" cy="923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FFFFFF"/>
                </a:solidFill>
              </a:defRPr>
            </a:pPr>
            <a:r>
              <a:rPr sz="750">
                <a:solidFill>
                  <a:srgbClr val="FFFFFF"/>
                </a:solidFill>
              </a:rPr>
              <a:t>Проверяет опору</a:t>
            </a:r>
          </a:p>
          <a:p xmlns:a="http://schemas.openxmlformats.org/drawingml/2006/main">
            <a:pPr algn="ctr">
              <a:defRPr sz="750">
                <a:solidFill>
                  <a:srgbClr val="FFFFFF"/>
                </a:solidFill>
              </a:defRPr>
            </a:pPr>
            <a:r>
              <a:rPr sz="750">
                <a:solidFill>
                  <a:srgbClr val="FFFFFF"/>
                </a:solidFill>
              </a:rPr>
              <a:t>на источники</a:t>
            </a:r>
          </a:p>
        </p:txBody>
      </p:sp>
      <p:sp>
        <p:nvSpPr>
          <p:cNvPr id="39" name="arrow-verifier-answer">
            <a:extLst xmlns:a="http://schemas.openxmlformats.org/drawingml/2006/main">
              <a:ext uri="{FF2B5EF4-FFF2-40B4-BE49-F238E27FC236}">
                <a16:creationId xmlns:a16="http://schemas.microsoft.com/office/drawing/2014/main" id="{F5F9B5BA-6543-4DAB-9105-C4E28665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847975"/>
            <a:ext cx="23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0C9E8"/>
                </a:solidFill>
              </a:defRPr>
            </a:pPr>
            <a:r>
              <a:rPr sz="1800" b="1">
                <a:solidFill>
                  <a:srgbClr val="50C9E8"/>
                </a:solidFill>
              </a:rPr>
              <a:t>→</a:t>
            </a:r>
          </a:p>
        </p:txBody>
      </p:sp>
      <p:sp>
        <p:nvSpPr>
          <p:cNvPr id="40" name="final-answer-card">
            <a:extLst xmlns:a="http://schemas.openxmlformats.org/drawingml/2006/main">
              <a:ext uri="{FF2B5EF4-FFF2-40B4-BE49-F238E27FC236}">
                <a16:creationId xmlns:a16="http://schemas.microsoft.com/office/drawing/2014/main" id="{7562FFFC-5B43-4D59-82D8-6018196F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0"/>
            <a:ext cx="95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77"/>
          </a:solidFill>
        </p:spPr>
        <p:txBody>
          <a:bodyPr xmlns:a="http://schemas.openxmlformats.org/drawingml/2006/main" lIns="76200" tIns="133350" rIns="76200" bIns="7620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FINAL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ANSWER</a:t>
            </a:r>
          </a:p>
        </p:txBody>
      </p:sp>
      <p:sp>
        <p:nvSpPr>
          <p:cNvPr id="41" name="final-answer-subtitle">
            <a:extLst xmlns:a="http://schemas.openxmlformats.org/drawingml/2006/main">
              <a:ext uri="{FF2B5EF4-FFF2-40B4-BE49-F238E27FC236}">
                <a16:creationId xmlns:a16="http://schemas.microsoft.com/office/drawing/2014/main" id="{F8501449-22EB-46E5-807D-895C2AFD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09875"/>
            <a:ext cx="800100" cy="923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FFFFFF"/>
                </a:solidFill>
              </a:defRPr>
            </a:pPr>
            <a:r>
              <a:rPr sz="750">
                <a:solidFill>
                  <a:srgbClr val="FFFFFF"/>
                </a:solidFill>
              </a:rPr>
              <a:t>Ответ +</a:t>
            </a:r>
          </a:p>
          <a:p xmlns:a="http://schemas.openxmlformats.org/drawingml/2006/main">
            <a:pPr algn="ctr">
              <a:defRPr sz="750">
                <a:solidFill>
                  <a:srgbClr val="FFFFFF"/>
                </a:solidFill>
              </a:defRPr>
            </a:pPr>
            <a:r>
              <a:rPr sz="750">
                <a:solidFill>
                  <a:srgbClr val="FFFFFF"/>
                </a:solidFill>
              </a:rPr>
              <a:t>ссылки</a:t>
            </a:r>
          </a:p>
        </p:txBody>
      </p:sp>
    </p:spTree>
    <p:extLst>
      <p:ext uri="{BB962C8B-B14F-4D97-AF65-F5344CB8AC3E}">
        <p14:creationId xmlns:p14="http://schemas.microsoft.com/office/powerpoint/2010/main" val="11345128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2026-08-20T16:06:33.3280000Z</dcterms:created>
  <dcterms:modified xsi:type="dcterms:W3CDTF">2026-08-20T16:06:33.3280000Z</dcterms:modified>
</coreProperties>
</file>