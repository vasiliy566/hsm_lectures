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098b9a02464215" /><Relationship Type="http://schemas.openxmlformats.org/officeDocument/2006/relationships/extended-properties" Target="/docProps/app.xml" Id="R6d5c45f5172d42fe" /><Relationship Type="http://schemas.openxmlformats.org/officeDocument/2006/relationships/officeDocument" Target="/ppt/presentation.xml" Id="Rbed41367d2f64d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a04d6b73d44e30"/>
  </p:sldMasterIdLst>
  <p:notesMasterIdLst>
    <p:notesMasterId xmlns:r="http://schemas.openxmlformats.org/officeDocument/2006/relationships" r:id="Rc3b6422593bb4465"/>
  </p:notesMasterIdLst>
  <p:sldIdLst>
    <p:sldId xmlns:r="http://schemas.openxmlformats.org/officeDocument/2006/relationships" id="256" r:id="Rc7c7a54879b94cf1"/>
    <p:sldId xmlns:r="http://schemas.openxmlformats.org/officeDocument/2006/relationships" id="257" r:id="Re32defe70de541bc"/>
    <p:sldId xmlns:r="http://schemas.openxmlformats.org/officeDocument/2006/relationships" id="258" r:id="Ra5df23bd94ed4c73"/>
    <p:sldId xmlns:r="http://schemas.openxmlformats.org/officeDocument/2006/relationships" id="259" r:id="R7db5d76256d1433c"/>
    <p:sldId xmlns:r="http://schemas.openxmlformats.org/officeDocument/2006/relationships" id="260" r:id="R36335d1f8696449c"/>
    <p:sldId xmlns:r="http://schemas.openxmlformats.org/officeDocument/2006/relationships" id="261" r:id="R26205c2ab147422a"/>
    <p:sldId xmlns:r="http://schemas.openxmlformats.org/officeDocument/2006/relationships" id="262" r:id="R3521f498a9994da6"/>
    <p:sldId xmlns:r="http://schemas.openxmlformats.org/officeDocument/2006/relationships" id="263" r:id="R7d5232420c684b60"/>
    <p:sldId xmlns:r="http://schemas.openxmlformats.org/officeDocument/2006/relationships" id="264" r:id="Reccf7d66c14b4d72"/>
    <p:sldId xmlns:r="http://schemas.openxmlformats.org/officeDocument/2006/relationships" id="265" r:id="R8057143e31594d49"/>
    <p:sldId xmlns:r="http://schemas.openxmlformats.org/officeDocument/2006/relationships" id="266" r:id="R0eeb24279fff48e1"/>
    <p:sldId xmlns:r="http://schemas.openxmlformats.org/officeDocument/2006/relationships" id="267" r:id="R70493d4bb759460d"/>
    <p:sldId xmlns:r="http://schemas.openxmlformats.org/officeDocument/2006/relationships" id="268" r:id="Rf6598da7ef3e41fc"/>
    <p:sldId xmlns:r="http://schemas.openxmlformats.org/officeDocument/2006/relationships" id="269" r:id="Rec15afe2cb41495d"/>
    <p:sldId xmlns:r="http://schemas.openxmlformats.org/officeDocument/2006/relationships" id="270" r:id="Reb704a87fe1f497a"/>
    <p:sldId xmlns:r="http://schemas.openxmlformats.org/officeDocument/2006/relationships" id="271" r:id="R5fb08e5a419147d1"/>
    <p:sldId xmlns:r="http://schemas.openxmlformats.org/officeDocument/2006/relationships" id="272" r:id="Ra033668a174b4133"/>
    <p:sldId xmlns:r="http://schemas.openxmlformats.org/officeDocument/2006/relationships" id="273" r:id="Rd43d4e056610491a"/>
    <p:sldId xmlns:r="http://schemas.openxmlformats.org/officeDocument/2006/relationships" id="274" r:id="R82145ee899144cd4"/>
    <p:sldId xmlns:r="http://schemas.openxmlformats.org/officeDocument/2006/relationships" id="275" r:id="R85069c582ac9495b"/>
    <p:sldId xmlns:r="http://schemas.openxmlformats.org/officeDocument/2006/relationships" id="276" r:id="R477a7b3cd69e4950"/>
    <p:sldId xmlns:r="http://schemas.openxmlformats.org/officeDocument/2006/relationships" id="277" r:id="R2c66730973be4222"/>
    <p:sldId xmlns:r="http://schemas.openxmlformats.org/officeDocument/2006/relationships" id="278" r:id="R0035fb69980d4322"/>
    <p:sldId xmlns:r="http://schemas.openxmlformats.org/officeDocument/2006/relationships" id="279" r:id="R97956338040c4b83"/>
    <p:sldId xmlns:r="http://schemas.openxmlformats.org/officeDocument/2006/relationships" id="280" r:id="R378232a01ee841b3"/>
    <p:sldId xmlns:r="http://schemas.openxmlformats.org/officeDocument/2006/relationships" id="281" r:id="Rccedbed2850445e0"/>
    <p:sldId xmlns:r="http://schemas.openxmlformats.org/officeDocument/2006/relationships" id="282" r:id="Ra4946578952342ea"/>
    <p:sldId xmlns:r="http://schemas.openxmlformats.org/officeDocument/2006/relationships" id="283" r:id="R726c7dacd4d449ba"/>
    <p:sldId xmlns:r="http://schemas.openxmlformats.org/officeDocument/2006/relationships" id="284" r:id="R8545ed63d4c241bf"/>
    <p:sldId xmlns:r="http://schemas.openxmlformats.org/officeDocument/2006/relationships" id="285" r:id="Rb26b1fcbfb434aa4"/>
    <p:sldId xmlns:r="http://schemas.openxmlformats.org/officeDocument/2006/relationships" id="286" r:id="Rb7751169b2bc45e8"/>
    <p:sldId xmlns:r="http://schemas.openxmlformats.org/officeDocument/2006/relationships" id="287" r:id="R6b2429a32fe84517"/>
    <p:sldId xmlns:r="http://schemas.openxmlformats.org/officeDocument/2006/relationships" id="288" r:id="R497cef8ece0740a2"/>
    <p:sldId xmlns:r="http://schemas.openxmlformats.org/officeDocument/2006/relationships" id="289" r:id="R655452dee385435a"/>
    <p:sldId xmlns:r="http://schemas.openxmlformats.org/officeDocument/2006/relationships" id="290" r:id="Rfe9725d6ebca4440"/>
    <p:sldId xmlns:r="http://schemas.openxmlformats.org/officeDocument/2006/relationships" id="291" r:id="R4cfa03b3cb88451b"/>
    <p:sldId xmlns:r="http://schemas.openxmlformats.org/officeDocument/2006/relationships" id="292" r:id="R39ce5578aac64873"/>
    <p:sldId xmlns:r="http://schemas.openxmlformats.org/officeDocument/2006/relationships" id="293" r:id="Rc008c57ec03b4cb5"/>
    <p:sldId xmlns:r="http://schemas.openxmlformats.org/officeDocument/2006/relationships" id="294" r:id="Rc45b16cd646e4e7d"/>
    <p:sldId xmlns:r="http://schemas.openxmlformats.org/officeDocument/2006/relationships" id="295" r:id="Rded5e650760c4744"/>
    <p:sldId xmlns:r="http://schemas.openxmlformats.org/officeDocument/2006/relationships" id="296" r:id="R2b575a849d2042eb"/>
    <p:sldId xmlns:r="http://schemas.openxmlformats.org/officeDocument/2006/relationships" id="297" r:id="Rd5161affdaa64faa"/>
    <p:sldId xmlns:r="http://schemas.openxmlformats.org/officeDocument/2006/relationships" id="298" r:id="Ra09ba3a29a1d4b7d"/>
    <p:sldId xmlns:r="http://schemas.openxmlformats.org/officeDocument/2006/relationships" id="299" r:id="Rfdd7a6fd5e0d4763"/>
    <p:sldId xmlns:r="http://schemas.openxmlformats.org/officeDocument/2006/relationships" id="300" r:id="R0a3c3096c85c47a1"/>
    <p:sldId xmlns:r="http://schemas.openxmlformats.org/officeDocument/2006/relationships" id="301" r:id="R0cb6e263af8e4eb2"/>
    <p:sldId xmlns:r="http://schemas.openxmlformats.org/officeDocument/2006/relationships" id="302" r:id="R47ba9fb787404844"/>
    <p:sldId xmlns:r="http://schemas.openxmlformats.org/officeDocument/2006/relationships" id="303" r:id="Re0eb43a470df458e"/>
    <p:sldId xmlns:r="http://schemas.openxmlformats.org/officeDocument/2006/relationships" id="304" r:id="R3d8cc07ba16949db"/>
    <p:sldId xmlns:r="http://schemas.openxmlformats.org/officeDocument/2006/relationships" id="305" r:id="Re355ed2bae9d4434"/>
    <p:sldId xmlns:r="http://schemas.openxmlformats.org/officeDocument/2006/relationships" id="306" r:id="R34a0e601c63e4335"/>
    <p:sldId xmlns:r="http://schemas.openxmlformats.org/officeDocument/2006/relationships" id="307" r:id="R9c39a6592a5a45c7"/>
    <p:sldId xmlns:r="http://schemas.openxmlformats.org/officeDocument/2006/relationships" id="308" r:id="Rc80399f98c274c0e"/>
    <p:sldId xmlns:r="http://schemas.openxmlformats.org/officeDocument/2006/relationships" id="309" r:id="R47d6b31dd36d4f0c"/>
    <p:sldId xmlns:r="http://schemas.openxmlformats.org/officeDocument/2006/relationships" id="310" r:id="R8b12cbafd1024cd2"/>
    <p:sldId xmlns:r="http://schemas.openxmlformats.org/officeDocument/2006/relationships" id="311" r:id="Rcb73c147ced742e9"/>
    <p:sldId xmlns:r="http://schemas.openxmlformats.org/officeDocument/2006/relationships" id="312" r:id="Rffe9350e9f2748cc"/>
    <p:sldId xmlns:r="http://schemas.openxmlformats.org/officeDocument/2006/relationships" id="313" r:id="Rd78075415e1549cb"/>
    <p:sldId xmlns:r="http://schemas.openxmlformats.org/officeDocument/2006/relationships" id="314" r:id="R2bccaf815bcb40e4"/>
    <p:sldId xmlns:r="http://schemas.openxmlformats.org/officeDocument/2006/relationships" id="315" r:id="R5bc251b2172f476d"/>
    <p:sldId xmlns:r="http://schemas.openxmlformats.org/officeDocument/2006/relationships" id="316" r:id="R8b4352c8e55d42b3"/>
    <p:sldId xmlns:r="http://schemas.openxmlformats.org/officeDocument/2006/relationships" id="317" r:id="Rd71fa8f84fbd42e3"/>
    <p:sldId xmlns:r="http://schemas.openxmlformats.org/officeDocument/2006/relationships" id="318" r:id="R4b1a1e743d824c26"/>
    <p:sldId xmlns:r="http://schemas.openxmlformats.org/officeDocument/2006/relationships" id="319" r:id="R8a1d058696064a95"/>
    <p:sldId xmlns:r="http://schemas.openxmlformats.org/officeDocument/2006/relationships" id="320" r:id="R1f6fbfcba9374f40"/>
    <p:sldId xmlns:r="http://schemas.openxmlformats.org/officeDocument/2006/relationships" id="321" r:id="R865032a722f541fc"/>
    <p:sldId xmlns:r="http://schemas.openxmlformats.org/officeDocument/2006/relationships" id="322" r:id="R66cc7794e65547bf"/>
    <p:sldId xmlns:r="http://schemas.openxmlformats.org/officeDocument/2006/relationships" id="323" r:id="R88e6520483f44b6a"/>
    <p:sldId xmlns:r="http://schemas.openxmlformats.org/officeDocument/2006/relationships" id="324" r:id="Raffa92f367ac414c"/>
    <p:sldId xmlns:r="http://schemas.openxmlformats.org/officeDocument/2006/relationships" id="325" r:id="R2ecfcb51df2349c5"/>
    <p:sldId xmlns:r="http://schemas.openxmlformats.org/officeDocument/2006/relationships" id="326" r:id="Ra4348e9672d244cf"/>
    <p:sldId xmlns:r="http://schemas.openxmlformats.org/officeDocument/2006/relationships" id="327" r:id="R7aa9fefeaecc46f2"/>
    <p:sldId xmlns:r="http://schemas.openxmlformats.org/officeDocument/2006/relationships" id="328" r:id="R18138e7e44ec43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eb36d9ba444c0a" /><Relationship Type="http://schemas.openxmlformats.org/officeDocument/2006/relationships/slideMaster" Target="/ppt/slideMasters/slideMaster1.xml" Id="R40a04d6b73d44e30" /><Relationship Type="http://schemas.openxmlformats.org/officeDocument/2006/relationships/notesMaster" Target="/ppt/notesMasters/notesMaster1.xml" Id="Rc3b6422593bb4465" /><Relationship Type="http://schemas.openxmlformats.org/officeDocument/2006/relationships/presProps" Target="/ppt/presProps.xml" Id="R0aa2e99cf8944b1a" /><Relationship Type="http://schemas.openxmlformats.org/officeDocument/2006/relationships/tableStyles" Target="/ppt/tableStyles.xml" Id="Rb704ab9a2e4d4dc5" /><Relationship Type="http://schemas.openxmlformats.org/officeDocument/2006/relationships/slide" Target="/ppt/slides/slide1.xml" Id="Rc7c7a54879b94cf1" /><Relationship Type="http://schemas.openxmlformats.org/officeDocument/2006/relationships/slide" Target="/ppt/slides/slide2.xml" Id="Re32defe70de541bc" /><Relationship Type="http://schemas.openxmlformats.org/officeDocument/2006/relationships/slide" Target="/ppt/slides/slide3.xml" Id="Ra5df23bd94ed4c73" /><Relationship Type="http://schemas.openxmlformats.org/officeDocument/2006/relationships/slide" Target="/ppt/slides/slide4.xml" Id="R7db5d76256d1433c" /><Relationship Type="http://schemas.openxmlformats.org/officeDocument/2006/relationships/slide" Target="/ppt/slides/slide5.xml" Id="R36335d1f8696449c" /><Relationship Type="http://schemas.openxmlformats.org/officeDocument/2006/relationships/slide" Target="/ppt/slides/slide6.xml" Id="R26205c2ab147422a" /><Relationship Type="http://schemas.openxmlformats.org/officeDocument/2006/relationships/slide" Target="/ppt/slides/slide7.xml" Id="R3521f498a9994da6" /><Relationship Type="http://schemas.openxmlformats.org/officeDocument/2006/relationships/slide" Target="/ppt/slides/slide8.xml" Id="R7d5232420c684b60" /><Relationship Type="http://schemas.openxmlformats.org/officeDocument/2006/relationships/slide" Target="/ppt/slides/slide9.xml" Id="Reccf7d66c14b4d72" /><Relationship Type="http://schemas.openxmlformats.org/officeDocument/2006/relationships/slide" Target="/ppt/slides/slide10.xml" Id="R8057143e31594d49" /><Relationship Type="http://schemas.openxmlformats.org/officeDocument/2006/relationships/slide" Target="/ppt/slides/slide11.xml" Id="R0eeb24279fff48e1" /><Relationship Type="http://schemas.openxmlformats.org/officeDocument/2006/relationships/slide" Target="/ppt/slides/slide12.xml" Id="R70493d4bb759460d" /><Relationship Type="http://schemas.openxmlformats.org/officeDocument/2006/relationships/slide" Target="/ppt/slides/slide13.xml" Id="Rf6598da7ef3e41fc" /><Relationship Type="http://schemas.openxmlformats.org/officeDocument/2006/relationships/slide" Target="/ppt/slides/slide14.xml" Id="Rec15afe2cb41495d" /><Relationship Type="http://schemas.openxmlformats.org/officeDocument/2006/relationships/slide" Target="/ppt/slides/slide15.xml" Id="Reb704a87fe1f497a" /><Relationship Type="http://schemas.openxmlformats.org/officeDocument/2006/relationships/slide" Target="/ppt/slides/slide16.xml" Id="R5fb08e5a419147d1" /><Relationship Type="http://schemas.openxmlformats.org/officeDocument/2006/relationships/slide" Target="/ppt/slides/slide17.xml" Id="Ra033668a174b4133" /><Relationship Type="http://schemas.openxmlformats.org/officeDocument/2006/relationships/slide" Target="/ppt/slides/slide18.xml" Id="Rd43d4e056610491a" /><Relationship Type="http://schemas.openxmlformats.org/officeDocument/2006/relationships/slide" Target="/ppt/slides/slide19.xml" Id="R82145ee899144cd4" /><Relationship Type="http://schemas.openxmlformats.org/officeDocument/2006/relationships/slide" Target="/ppt/slides/slide20.xml" Id="R85069c582ac9495b" /><Relationship Type="http://schemas.openxmlformats.org/officeDocument/2006/relationships/slide" Target="/ppt/slides/slide21.xml" Id="R477a7b3cd69e4950" /><Relationship Type="http://schemas.openxmlformats.org/officeDocument/2006/relationships/slide" Target="/ppt/slides/slide22.xml" Id="R2c66730973be4222" /><Relationship Type="http://schemas.openxmlformats.org/officeDocument/2006/relationships/slide" Target="/ppt/slides/slide23.xml" Id="R0035fb69980d4322" /><Relationship Type="http://schemas.openxmlformats.org/officeDocument/2006/relationships/slide" Target="/ppt/slides/slide24.xml" Id="R97956338040c4b83" /><Relationship Type="http://schemas.openxmlformats.org/officeDocument/2006/relationships/slide" Target="/ppt/slides/slide25.xml" Id="R378232a01ee841b3" /><Relationship Type="http://schemas.openxmlformats.org/officeDocument/2006/relationships/slide" Target="/ppt/slides/slide26.xml" Id="Rccedbed2850445e0" /><Relationship Type="http://schemas.openxmlformats.org/officeDocument/2006/relationships/slide" Target="/ppt/slides/slide27.xml" Id="Ra4946578952342ea" /><Relationship Type="http://schemas.openxmlformats.org/officeDocument/2006/relationships/slide" Target="/ppt/slides/slide28.xml" Id="R726c7dacd4d449ba" /><Relationship Type="http://schemas.openxmlformats.org/officeDocument/2006/relationships/slide" Target="/ppt/slides/slide29.xml" Id="R8545ed63d4c241bf" /><Relationship Type="http://schemas.openxmlformats.org/officeDocument/2006/relationships/slide" Target="/ppt/slides/slide30.xml" Id="Rb26b1fcbfb434aa4" /><Relationship Type="http://schemas.openxmlformats.org/officeDocument/2006/relationships/slide" Target="/ppt/slides/slide31.xml" Id="Rb7751169b2bc45e8" /><Relationship Type="http://schemas.openxmlformats.org/officeDocument/2006/relationships/slide" Target="/ppt/slides/slide32.xml" Id="R6b2429a32fe84517" /><Relationship Type="http://schemas.openxmlformats.org/officeDocument/2006/relationships/slide" Target="/ppt/slides/slide33.xml" Id="R497cef8ece0740a2" /><Relationship Type="http://schemas.openxmlformats.org/officeDocument/2006/relationships/slide" Target="/ppt/slides/slide34.xml" Id="R655452dee385435a" /><Relationship Type="http://schemas.openxmlformats.org/officeDocument/2006/relationships/slide" Target="/ppt/slides/slide35.xml" Id="Rfe9725d6ebca4440" /><Relationship Type="http://schemas.openxmlformats.org/officeDocument/2006/relationships/slide" Target="/ppt/slides/slide36.xml" Id="R4cfa03b3cb88451b" /><Relationship Type="http://schemas.openxmlformats.org/officeDocument/2006/relationships/slide" Target="/ppt/slides/slide37.xml" Id="R39ce5578aac64873" /><Relationship Type="http://schemas.openxmlformats.org/officeDocument/2006/relationships/slide" Target="/ppt/slides/slide38.xml" Id="Rc008c57ec03b4cb5" /><Relationship Type="http://schemas.openxmlformats.org/officeDocument/2006/relationships/slide" Target="/ppt/slides/slide39.xml" Id="Rc45b16cd646e4e7d" /><Relationship Type="http://schemas.openxmlformats.org/officeDocument/2006/relationships/slide" Target="/ppt/slides/slide40.xml" Id="Rded5e650760c4744" /><Relationship Type="http://schemas.openxmlformats.org/officeDocument/2006/relationships/slide" Target="/ppt/slides/slide41.xml" Id="R2b575a849d2042eb" /><Relationship Type="http://schemas.openxmlformats.org/officeDocument/2006/relationships/slide" Target="/ppt/slides/slide42.xml" Id="Rd5161affdaa64faa" /><Relationship Type="http://schemas.openxmlformats.org/officeDocument/2006/relationships/slide" Target="/ppt/slides/slide43.xml" Id="Ra09ba3a29a1d4b7d" /><Relationship Type="http://schemas.openxmlformats.org/officeDocument/2006/relationships/slide" Target="/ppt/slides/slide44.xml" Id="Rfdd7a6fd5e0d4763" /><Relationship Type="http://schemas.openxmlformats.org/officeDocument/2006/relationships/slide" Target="/ppt/slides/slide45.xml" Id="R0a3c3096c85c47a1" /><Relationship Type="http://schemas.openxmlformats.org/officeDocument/2006/relationships/slide" Target="/ppt/slides/slide46.xml" Id="R0cb6e263af8e4eb2" /><Relationship Type="http://schemas.openxmlformats.org/officeDocument/2006/relationships/slide" Target="/ppt/slides/slide47.xml" Id="R47ba9fb787404844" /><Relationship Type="http://schemas.openxmlformats.org/officeDocument/2006/relationships/slide" Target="/ppt/slides/slide48.xml" Id="Re0eb43a470df458e" /><Relationship Type="http://schemas.openxmlformats.org/officeDocument/2006/relationships/slide" Target="/ppt/slides/slide49.xml" Id="R3d8cc07ba16949db" /><Relationship Type="http://schemas.openxmlformats.org/officeDocument/2006/relationships/slide" Target="/ppt/slides/slide50.xml" Id="Re355ed2bae9d4434" /><Relationship Type="http://schemas.openxmlformats.org/officeDocument/2006/relationships/slide" Target="/ppt/slides/slide51.xml" Id="R34a0e601c63e4335" /><Relationship Type="http://schemas.openxmlformats.org/officeDocument/2006/relationships/slide" Target="/ppt/slides/slide52.xml" Id="R9c39a6592a5a45c7" /><Relationship Type="http://schemas.openxmlformats.org/officeDocument/2006/relationships/slide" Target="/ppt/slides/slide53.xml" Id="Rc80399f98c274c0e" /><Relationship Type="http://schemas.openxmlformats.org/officeDocument/2006/relationships/slide" Target="/ppt/slides/slide54.xml" Id="R47d6b31dd36d4f0c" /><Relationship Type="http://schemas.openxmlformats.org/officeDocument/2006/relationships/slide" Target="/ppt/slides/slide55.xml" Id="R8b12cbafd1024cd2" /><Relationship Type="http://schemas.openxmlformats.org/officeDocument/2006/relationships/slide" Target="/ppt/slides/slide56.xml" Id="Rcb73c147ced742e9" /><Relationship Type="http://schemas.openxmlformats.org/officeDocument/2006/relationships/slide" Target="/ppt/slides/slide57.xml" Id="Rffe9350e9f2748cc" /><Relationship Type="http://schemas.openxmlformats.org/officeDocument/2006/relationships/slide" Target="/ppt/slides/slide58.xml" Id="Rd78075415e1549cb" /><Relationship Type="http://schemas.openxmlformats.org/officeDocument/2006/relationships/slide" Target="/ppt/slides/slide59.xml" Id="R2bccaf815bcb40e4" /><Relationship Type="http://schemas.openxmlformats.org/officeDocument/2006/relationships/slide" Target="/ppt/slides/slide60.xml" Id="R5bc251b2172f476d" /><Relationship Type="http://schemas.openxmlformats.org/officeDocument/2006/relationships/slide" Target="/ppt/slides/slide61.xml" Id="R8b4352c8e55d42b3" /><Relationship Type="http://schemas.openxmlformats.org/officeDocument/2006/relationships/slide" Target="/ppt/slides/slide62.xml" Id="Rd71fa8f84fbd42e3" /><Relationship Type="http://schemas.openxmlformats.org/officeDocument/2006/relationships/slide" Target="/ppt/slides/slide63.xml" Id="R4b1a1e743d824c26" /><Relationship Type="http://schemas.openxmlformats.org/officeDocument/2006/relationships/slide" Target="/ppt/slides/slide64.xml" Id="R8a1d058696064a95" /><Relationship Type="http://schemas.openxmlformats.org/officeDocument/2006/relationships/slide" Target="/ppt/slides/slide65.xml" Id="R1f6fbfcba9374f40" /><Relationship Type="http://schemas.openxmlformats.org/officeDocument/2006/relationships/slide" Target="/ppt/slides/slide66.xml" Id="R865032a722f541fc" /><Relationship Type="http://schemas.openxmlformats.org/officeDocument/2006/relationships/slide" Target="/ppt/slides/slide67.xml" Id="R66cc7794e65547bf" /><Relationship Type="http://schemas.openxmlformats.org/officeDocument/2006/relationships/slide" Target="/ppt/slides/slide68.xml" Id="R88e6520483f44b6a" /><Relationship Type="http://schemas.openxmlformats.org/officeDocument/2006/relationships/slide" Target="/ppt/slides/slide69.xml" Id="Raffa92f367ac414c" /><Relationship Type="http://schemas.openxmlformats.org/officeDocument/2006/relationships/slide" Target="/ppt/slides/slide70.xml" Id="R2ecfcb51df2349c5" /><Relationship Type="http://schemas.openxmlformats.org/officeDocument/2006/relationships/slide" Target="/ppt/slides/slide71.xml" Id="Ra4348e9672d244cf" /><Relationship Type="http://schemas.openxmlformats.org/officeDocument/2006/relationships/slide" Target="/ppt/slides/slide72.xml" Id="R7aa9fefeaecc46f2" /><Relationship Type="http://schemas.openxmlformats.org/officeDocument/2006/relationships/slide" Target="/ppt/slides/slide73.xml" Id="R18138e7e44ec43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8f6df6feed4b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749408f3424885" /><Relationship Type="http://schemas.openxmlformats.org/officeDocument/2006/relationships/notesMaster" Target="/ppt/notesMasters/notesMaster1.xml" Id="R3e55aa4fd59b48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0d51715439413f" /><Relationship Type="http://schemas.openxmlformats.org/officeDocument/2006/relationships/notesMaster" Target="/ppt/notesMasters/notesMaster1.xml" Id="R785509ac5c984e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859239ec6542a9" /><Relationship Type="http://schemas.openxmlformats.org/officeDocument/2006/relationships/notesMaster" Target="/ppt/notesMasters/notesMaster1.xml" Id="R11158c2c13364f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5f2a9e4c2944c4" /><Relationship Type="http://schemas.openxmlformats.org/officeDocument/2006/relationships/notesMaster" Target="/ppt/notesMasters/notesMaster1.xml" Id="R1dc11b97ecce44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a355220c334c79" /><Relationship Type="http://schemas.openxmlformats.org/officeDocument/2006/relationships/notesMaster" Target="/ppt/notesMasters/notesMaster1.xml" Id="Rf1b78d6d723b46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7d381cfb3a43e9" /><Relationship Type="http://schemas.openxmlformats.org/officeDocument/2006/relationships/notesMaster" Target="/ppt/notesMasters/notesMaster1.xml" Id="Rf73e8b89ac3440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505797a8b84d9f" /><Relationship Type="http://schemas.openxmlformats.org/officeDocument/2006/relationships/notesMaster" Target="/ppt/notesMasters/notesMaster1.xml" Id="R934829c0748a47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492de9b28b42c4" /><Relationship Type="http://schemas.openxmlformats.org/officeDocument/2006/relationships/notesMaster" Target="/ppt/notesMasters/notesMaster1.xml" Id="R2ce0636339f347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2802fb32424208" /><Relationship Type="http://schemas.openxmlformats.org/officeDocument/2006/relationships/notesMaster" Target="/ppt/notesMasters/notesMaster1.xml" Id="R6ab9c7e5e16145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f1008e952a4610" /><Relationship Type="http://schemas.openxmlformats.org/officeDocument/2006/relationships/notesMaster" Target="/ppt/notesMasters/notesMaster1.xml" Id="R3ad8446c99cb42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57550094b143f7" /><Relationship Type="http://schemas.openxmlformats.org/officeDocument/2006/relationships/notesMaster" Target="/ppt/notesMasters/notesMaster1.xml" Id="Rd2f9b51cfa9e41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61cef04ade4174" /><Relationship Type="http://schemas.openxmlformats.org/officeDocument/2006/relationships/notesMaster" Target="/ppt/notesMasters/notesMaster1.xml" Id="Rdda0e8f251964b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821bd5654a40cb" /><Relationship Type="http://schemas.openxmlformats.org/officeDocument/2006/relationships/notesMaster" Target="/ppt/notesMasters/notesMaster1.xml" Id="R0830a14b43e544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b17a252d294b51" /><Relationship Type="http://schemas.openxmlformats.org/officeDocument/2006/relationships/notesMaster" Target="/ppt/notesMasters/notesMaster1.xml" Id="Rbf7161e39c8947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d6e12f691140c0" /><Relationship Type="http://schemas.openxmlformats.org/officeDocument/2006/relationships/notesMaster" Target="/ppt/notesMasters/notesMaster1.xml" Id="R9519972f5d5349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33884aabea4dac" /><Relationship Type="http://schemas.openxmlformats.org/officeDocument/2006/relationships/notesMaster" Target="/ppt/notesMasters/notesMaster1.xml" Id="R94b084fc35c64f3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b9556d6cfa4844" /><Relationship Type="http://schemas.openxmlformats.org/officeDocument/2006/relationships/notesMaster" Target="/ppt/notesMasters/notesMaster1.xml" Id="R57f3888b7b964f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a300fc05dd4713" /><Relationship Type="http://schemas.openxmlformats.org/officeDocument/2006/relationships/notesMaster" Target="/ppt/notesMasters/notesMaster1.xml" Id="Ree1d3d0f30b544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2e87591662493b" /><Relationship Type="http://schemas.openxmlformats.org/officeDocument/2006/relationships/notesMaster" Target="/ppt/notesMasters/notesMaster1.xml" Id="R462bf7d02aac4f1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aa7daadd4c45a5" /><Relationship Type="http://schemas.openxmlformats.org/officeDocument/2006/relationships/notesMaster" Target="/ppt/notesMasters/notesMaster1.xml" Id="Rf559149a93bf4d1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c24f40b2f124a3e" /><Relationship Type="http://schemas.openxmlformats.org/officeDocument/2006/relationships/notesMaster" Target="/ppt/notesMasters/notesMaster1.xml" Id="R1e5f91cc2b0d48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a54d130f5704544" /><Relationship Type="http://schemas.openxmlformats.org/officeDocument/2006/relationships/notesMaster" Target="/ppt/notesMasters/notesMaster1.xml" Id="R9feab4e72d80467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0525e5a097546b0" /><Relationship Type="http://schemas.openxmlformats.org/officeDocument/2006/relationships/notesMaster" Target="/ppt/notesMasters/notesMaster1.xml" Id="R4c4b77aec22943e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a426cb704cb4f8f" /><Relationship Type="http://schemas.openxmlformats.org/officeDocument/2006/relationships/notesMaster" Target="/ppt/notesMasters/notesMaster1.xml" Id="R2116a037117a483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d5739f60fd44fe3" /><Relationship Type="http://schemas.openxmlformats.org/officeDocument/2006/relationships/notesMaster" Target="/ppt/notesMasters/notesMaster1.xml" Id="R4dcff145107c4e1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1a40b6ff90b431b" /><Relationship Type="http://schemas.openxmlformats.org/officeDocument/2006/relationships/notesMaster" Target="/ppt/notesMasters/notesMaster1.xml" Id="Ra703c6e3f2e44e7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ccbc641d4b94ef3" /><Relationship Type="http://schemas.openxmlformats.org/officeDocument/2006/relationships/notesMaster" Target="/ppt/notesMasters/notesMaster1.xml" Id="R38f5b05a910b448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bb322e8d9814cb0" /><Relationship Type="http://schemas.openxmlformats.org/officeDocument/2006/relationships/notesMaster" Target="/ppt/notesMasters/notesMaster1.xml" Id="Rf3c47974cff64d5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1c347992340419f" /><Relationship Type="http://schemas.openxmlformats.org/officeDocument/2006/relationships/notesMaster" Target="/ppt/notesMasters/notesMaster1.xml" Id="R4a9034f989f649b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3460051e2b24c23" /><Relationship Type="http://schemas.openxmlformats.org/officeDocument/2006/relationships/notesMaster" Target="/ppt/notesMasters/notesMaster1.xml" Id="Rf271310eb93d40e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ad85dd70c5e4dda" /><Relationship Type="http://schemas.openxmlformats.org/officeDocument/2006/relationships/notesMaster" Target="/ppt/notesMasters/notesMaster1.xml" Id="R62fdab0cb5854f8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92b32e01d38418c" /><Relationship Type="http://schemas.openxmlformats.org/officeDocument/2006/relationships/notesMaster" Target="/ppt/notesMasters/notesMaster1.xml" Id="R922ae2584ca74d6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98f0b58c1f347c0" /><Relationship Type="http://schemas.openxmlformats.org/officeDocument/2006/relationships/notesMaster" Target="/ppt/notesMasters/notesMaster1.xml" Id="Ra7b6f50a8f0e454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d057b04bcdd4a2d" /><Relationship Type="http://schemas.openxmlformats.org/officeDocument/2006/relationships/notesMaster" Target="/ppt/notesMasters/notesMaster1.xml" Id="R5d125d0d30d2438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e7a038468484311" /><Relationship Type="http://schemas.openxmlformats.org/officeDocument/2006/relationships/notesMaster" Target="/ppt/notesMasters/notesMaster1.xml" Id="R2cc7cd863b82413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21ff9886c4843d4" /><Relationship Type="http://schemas.openxmlformats.org/officeDocument/2006/relationships/notesMaster" Target="/ppt/notesMasters/notesMaster1.xml" Id="R53859cee81ae494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857a6e5209a4609" /><Relationship Type="http://schemas.openxmlformats.org/officeDocument/2006/relationships/notesMaster" Target="/ppt/notesMasters/notesMaster1.xml" Id="Rcdeda1ccb20645e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3c6434cdc7442b8" /><Relationship Type="http://schemas.openxmlformats.org/officeDocument/2006/relationships/notesMaster" Target="/ppt/notesMasters/notesMaster1.xml" Id="R447cbb3c57554fa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8fa3fbc0e3245f2" /><Relationship Type="http://schemas.openxmlformats.org/officeDocument/2006/relationships/notesMaster" Target="/ppt/notesMasters/notesMaster1.xml" Id="R708497d6b5f4480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ee73c91dc7948c4" /><Relationship Type="http://schemas.openxmlformats.org/officeDocument/2006/relationships/notesMaster" Target="/ppt/notesMasters/notesMaster1.xml" Id="Raff914899c8c452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e40c71a6388466c" /><Relationship Type="http://schemas.openxmlformats.org/officeDocument/2006/relationships/notesMaster" Target="/ppt/notesMasters/notesMaster1.xml" Id="R9aaf0b15b2fa4c7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27c1d2808e94bd1" /><Relationship Type="http://schemas.openxmlformats.org/officeDocument/2006/relationships/notesMaster" Target="/ppt/notesMasters/notesMaster1.xml" Id="Rdbffc4553b664ff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7c9a70657fd47ce" /><Relationship Type="http://schemas.openxmlformats.org/officeDocument/2006/relationships/notesMaster" Target="/ppt/notesMasters/notesMaster1.xml" Id="R0ffb0f520a86428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41b97092de24e56" /><Relationship Type="http://schemas.openxmlformats.org/officeDocument/2006/relationships/notesMaster" Target="/ppt/notesMasters/notesMaster1.xml" Id="Rd80669d31b674ce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0242ac3cb344aa1" /><Relationship Type="http://schemas.openxmlformats.org/officeDocument/2006/relationships/notesMaster" Target="/ppt/notesMasters/notesMaster1.xml" Id="R5d592064d0d2472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d011f1964cb4f6a" /><Relationship Type="http://schemas.openxmlformats.org/officeDocument/2006/relationships/notesMaster" Target="/ppt/notesMasters/notesMaster1.xml" Id="Rfb1abb27efd0488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2c327aaeed6419b" /><Relationship Type="http://schemas.openxmlformats.org/officeDocument/2006/relationships/notesMaster" Target="/ppt/notesMasters/notesMaster1.xml" Id="Re2a86a11d630471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108fa5238f34a3a" /><Relationship Type="http://schemas.openxmlformats.org/officeDocument/2006/relationships/notesMaster" Target="/ppt/notesMasters/notesMaster1.xml" Id="R99f5f8978aea411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2e525a6e96c4503" /><Relationship Type="http://schemas.openxmlformats.org/officeDocument/2006/relationships/notesMaster" Target="/ppt/notesMasters/notesMaster1.xml" Id="Rf7a1d00f3dac4e5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34bb829a4c94155" /><Relationship Type="http://schemas.openxmlformats.org/officeDocument/2006/relationships/notesMaster" Target="/ppt/notesMasters/notesMaster1.xml" Id="R07b35e1af8ae4bb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c4f0373101d4fb0" /><Relationship Type="http://schemas.openxmlformats.org/officeDocument/2006/relationships/notesMaster" Target="/ppt/notesMasters/notesMaster1.xml" Id="R59bd0f366ffb4f2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7b5bf81655242ed" /><Relationship Type="http://schemas.openxmlformats.org/officeDocument/2006/relationships/notesMaster" Target="/ppt/notesMasters/notesMaster1.xml" Id="R9e0da173d53f415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65a6282ed054015" /><Relationship Type="http://schemas.openxmlformats.org/officeDocument/2006/relationships/notesMaster" Target="/ppt/notesMasters/notesMaster1.xml" Id="Rfd76f90e7b684ae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d81740b99c64f18" /><Relationship Type="http://schemas.openxmlformats.org/officeDocument/2006/relationships/notesMaster" Target="/ppt/notesMasters/notesMaster1.xml" Id="R518d8d6db10c4bb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094cf4d3d564fed" /><Relationship Type="http://schemas.openxmlformats.org/officeDocument/2006/relationships/notesMaster" Target="/ppt/notesMasters/notesMaster1.xml" Id="R63842b47f5754a9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ee0f38e9efe4139" /><Relationship Type="http://schemas.openxmlformats.org/officeDocument/2006/relationships/notesMaster" Target="/ppt/notesMasters/notesMaster1.xml" Id="R424627f8d9604fb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ae0681b1808043c2" /><Relationship Type="http://schemas.openxmlformats.org/officeDocument/2006/relationships/notesMaster" Target="/ppt/notesMasters/notesMaster1.xml" Id="Rcbb279acc01d4b6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d3865fdfeb34d2c" /><Relationship Type="http://schemas.openxmlformats.org/officeDocument/2006/relationships/notesMaster" Target="/ppt/notesMasters/notesMaster1.xml" Id="Readccae17860495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f5aafa1293c49b2" /><Relationship Type="http://schemas.openxmlformats.org/officeDocument/2006/relationships/notesMaster" Target="/ppt/notesMasters/notesMaster1.xml" Id="Reb087a69541146f2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45c4ba586c844c3" /><Relationship Type="http://schemas.openxmlformats.org/officeDocument/2006/relationships/notesMaster" Target="/ppt/notesMasters/notesMaster1.xml" Id="R4907d677a51442dc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c167744a8b194d62" /><Relationship Type="http://schemas.openxmlformats.org/officeDocument/2006/relationships/notesMaster" Target="/ppt/notesMasters/notesMaster1.xml" Id="R27582411c5344a7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0cb5815214e476d" /><Relationship Type="http://schemas.openxmlformats.org/officeDocument/2006/relationships/notesMaster" Target="/ppt/notesMasters/notesMaster1.xml" Id="R34a21e58ac8c469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5f3bd3edd864667" /><Relationship Type="http://schemas.openxmlformats.org/officeDocument/2006/relationships/notesMaster" Target="/ppt/notesMasters/notesMaster1.xml" Id="Rfab9d0bf87a44dc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26f3db4aa19e4fd6" /><Relationship Type="http://schemas.openxmlformats.org/officeDocument/2006/relationships/notesMaster" Target="/ppt/notesMasters/notesMaster1.xml" Id="Rcf32d1a84a614ac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4e64fea39514e71" /><Relationship Type="http://schemas.openxmlformats.org/officeDocument/2006/relationships/notesMaster" Target="/ppt/notesMasters/notesMaster1.xml" Id="Rd8b692c32a294d30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e24e6283d334ca8" /><Relationship Type="http://schemas.openxmlformats.org/officeDocument/2006/relationships/notesMaster" Target="/ppt/notesMasters/notesMaster1.xml" Id="Re82f50bde0b54a9a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a3d868daf2b84a78" /><Relationship Type="http://schemas.openxmlformats.org/officeDocument/2006/relationships/notesMaster" Target="/ppt/notesMasters/notesMaster1.xml" Id="Rbf9925b81a3a4f3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7fd8cc7f671b49be" /><Relationship Type="http://schemas.openxmlformats.org/officeDocument/2006/relationships/notesMaster" Target="/ppt/notesMasters/notesMaster1.xml" Id="R3ade785292bf420e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ecc9197bcdc64247" /><Relationship Type="http://schemas.openxmlformats.org/officeDocument/2006/relationships/notesMaster" Target="/ppt/notesMasters/notesMaster1.xml" Id="R32c12ed94613483f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aa676002234343f9" /><Relationship Type="http://schemas.openxmlformats.org/officeDocument/2006/relationships/notesMaster" Target="/ppt/notesMasters/notesMaster1.xml" Id="R24a4dcbf02744f4f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6b64f024c0f2403d" /><Relationship Type="http://schemas.openxmlformats.org/officeDocument/2006/relationships/notesMaster" Target="/ppt/notesMasters/notesMaster1.xml" Id="R63ae1da10dcc40c9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3f089a84a6384601" /><Relationship Type="http://schemas.openxmlformats.org/officeDocument/2006/relationships/notesMaster" Target="/ppt/notesMasters/notesMaster1.xml" Id="R7d66f100faf045fe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818838461c704225" /><Relationship Type="http://schemas.openxmlformats.org/officeDocument/2006/relationships/notesMaster" Target="/ppt/notesMasters/notesMaster1.xml" Id="Recc3f8ba45114a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Коротко представиться. Не перечислять резюме — связать опыт с темой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Открыть занятие вопросом: что на самом деле происходит между Send и ответом?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Это не agenda, а четыре наблюдаемых результата урока.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На слайде показаны реальные руководители и создатели компаний, стоящих за четырьмя продуктами: Сэм Альтман (OpenAI / ChatGPT), Демис Хассабис (Google DeepMind / Gemini), Дарио Амодеи (Anthropic / Claude), Лян Вэньфэн (DeepSeek).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https://commons.wikimedia.org/wiki/File:Sam_Altman_speaking_at_TED_(cropped).jpg</a:t>
            </a:r>
          </a:p>
          <a:p xmlns:a="http://schemas.openxmlformats.org/drawingml/2006/main">
            <a:pPr>
              <a:buNone/>
            </a:pPr>
            <a:r>
              <a:t>- https://commons.wikimedia.org/wiki/File:Demis_Hassabis,_2024_Nobel_Prize_Laureate_in_Chemistry_(cropped).jpg</a:t>
            </a:r>
          </a:p>
          <a:p xmlns:a="http://schemas.openxmlformats.org/drawingml/2006/main">
            <a:pPr>
              <a:buNone/>
            </a:pPr>
            <a:r>
              <a:t>- https://commons.wikimedia.org/wiki/File:Dario_Amodei_in_2023.jpg</a:t>
            </a:r>
          </a:p>
          <a:p xmlns:a="http://schemas.openxmlformats.org/drawingml/2006/main">
            <a:pPr>
              <a:buNone/>
            </a:pPr>
            <a:r>
              <a:t>- https://www.ehangzhou.gov.cn/2025-01/22/c_292410.htm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Показать .env в редакторе. У каждого — свой ключ; преподаватель ключи не собирает.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OpenAI API key safety: https://help.openai.com/en/articles/5112595-best-practices-for-api-key-safety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Люди автоматически приписывают намерения и характер предметам, животным и интерфейсам. С LLM это происходит особенно легко, потому что модель отвечает связным человеческим языком.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OpenAI image generation, anthropomorphism editorial scene created for this deck; prompt recorded in tmp/rebuild_v4/image-prompts.txt.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Цитата сокращена до одного предложения. Важно сразу отделить человеческое впечатление от механики генерации: один проход модели выбирает следующий токен, затем процесс повторяется.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 and Albert Ziegler, Prompt Engineering for LLMs, PDF p. 20 (book page 4) and pp. 47–48 (book pp. 29–30).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Берём только три предложения. На следующих слайдах не показываем математику модели, а смотрим, какие продолжения встречаются в этом маленьком наборе текста.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/Users/vasily/Documents/Курсы ВШМ/books/Prompt_Engineering_for_LLMs_Berryman_Ziegler.pdf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В двух предложениях, где встречается слово «Повар», следующим словом было «нарезал». Это не вероятность настоящей LLM, а прямое наблюдение по трём фразам с предыдущего слайда.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/Users/vasily/Documents/Курсы ВШМ/books/Prompt_Engineering_for_LLMs_Berryman_Ziegler.pdf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Собираем фразу слева направо. После каждого выбранного токена контекст становится длиннее.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/Users/vasily/Documents/Курсы ВШМ/books/Prompt_Engineering_for_LLMs_Berryman_Ziegler.pdf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Первые два слова в нашем маленьком наборе однозначны. После «Повар нарезал» встречаются уже два продолжения: «помидоры» и «огурцы». Более длинный контекст снова сужает выбор.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/Users/vasily/Documents/Курсы ВШМ/books/Prompt_Engineering_for_LLMs_Berryman_Ziegler.pdf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Токены есть на входе и на выходе. На этом слайде не углубляться в токенизацию слов и стоимость, только зафиксировать два направления.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 and Albert Ziegler, Prompt Engineering for LLMs, PDF pp. 42–48 (book pp. 24–30).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Контекст — всё, что модель видит в конкретном запросе. Иллюстрация показывает ограниченное окно: часть материалов доступна, остальное остаётся за его пределами.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OpenAI image generation, context-window archive illustration created for this deck; prompt recorded in tmp/rebuild_v4/image-prompts.txt.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System задаёт постоянные правила, user — текущую задачу и данные. При ручном управлении диалогом API-запросы независимы: прошлые user/assistant сообщения нужно снова передать в следующем запросе. В Responses API можно вместо ручной пересылки связать ходы через previous_response_id или Conversations API.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https://developers.openai.com/api/docs/guides/conversation-state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Не обещать deterministic output при temperature=0. Некоторые современные модели не дают менять sampling parameters.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Claude Messages API: https://platform.claude.com/docs/en/api/python/messages/create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Объяснить reasoning как дополнительную вычислительную работу между вопросом и финальным ответом. Не обещать, что видимая пользователю цепочка полностью совпадает с внутренними вычислениями модели.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OpenAI image generation, step-by-step reasoning illustration created for this deck; prompt recorded in tmp/rebuild_v4/image-prompts.txt.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Сохранён смысл пользовательской версии: больше reasoning обычно означает больше latency и стоимости. Конкретный выигрыш измеряем на своих задачах.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Мультимодальность описывает поддерживаемые типы входов/выходов, а не всеведение.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[Future visual]</a:t>
            </a:r>
          </a:p>
          <a:p xmlns:a="http://schemas.openxmlformats.org/drawingml/2006/main">
            <a:pPr>
              <a:buNone/>
            </a:pPr>
            <a:r>
              <a:t>Позже можно добавить иллюстрацию: текст, изображение, PDF и звук входят в одну модель.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OpenAI Text generation guide: https://developers.openai.com/api/docs/guides/text</a:t>
            </a:r>
          </a:p>
          <a:p xmlns:a="http://schemas.openxmlformats.org/drawingml/2006/main">
            <a:pPr>
              <a:buNone/>
            </a:pPr>
            <a:r>
              <a:t>- Gemini API reference: https://ai.google.dev/api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Визуальный хук: модель может звучать уверенно и соглашаться с пользователем даже тогда, когда исходное утверждение неверно. Следующий слайд переводит шутку в рабочее правило проверки.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Изображение предоставлено пользователем в текущей задаче: codex-clipboard-1dace6a0-fe9c-4e65-a560-90e4200ceac7.png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Для модели неверное, но правдоподобное продолжение не имеет специального визуального маркера.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Пауза перед ответом: хороший результат в одном чате ещё не доказывает, что решение работает стабильно. Следующий слайд показывает минимальный набор production-метрик.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Подготовить аудиторию к блоку выбора модели и API.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OpenAI Responses API reference: https://developers.openai.com/api/reference/resources/responses/methods/create</a:t>
            </a:r>
          </a:p>
          <a:p xmlns:a="http://schemas.openxmlformats.org/drawingml/2006/main">
            <a:pPr>
              <a:buNone/>
            </a:pPr>
            <a:r>
              <a:t>- Claude Python SDK: https://platform.claude.com/docs/en/cli-sdks-libraries/sdks/python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Голосование.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  <a:p xmlns:a="http://schemas.openxmlformats.org/drawingml/2006/main">
            <a:pPr>
              <a:buNone/>
            </a:pPr>
            <a:r>
              <a:t>- OpenAI Text generation guide: https://developers.openai.com/api/docs/guides/text</a:t>
            </a:r>
          </a:p>
          <a:p xmlns:a="http://schemas.openxmlformats.org/drawingml/2006/main">
            <a:pPr>
              <a:buNone/>
            </a:pPr>
            <a:r>
              <a:t>- OpenAI Structured Outputs: https://developers.openai.com/api/docs/guides/structured-outputs</a:t>
            </a:r>
          </a:p>
          <a:p xmlns:a="http://schemas.openxmlformats.org/drawingml/2006/main">
            <a:pPr>
              <a:buNone/>
            </a:pPr>
            <a:r>
              <a:t>- OpenAI Using GPT-5.6: https://developers.openai.com/api/docs/guides/latest-model.md</a:t>
            </a:r>
          </a:p>
          <a:p xmlns:a="http://schemas.openxmlformats.org/drawingml/2006/main">
            <a:pPr>
              <a:buNone/>
            </a:pPr>
            <a:r>
              <a:t>- Beyond English: The Impact of Prompt Translation Strategies across Languages and Tasks in Multilingual LLMs, 2025: https://aclanthology.org/2025.loresmt-1.9/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Сравнить с реальным контекстом: документацией, файлами, требованиями.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  <a:p xmlns:a="http://schemas.openxmlformats.org/drawingml/2006/main">
            <a:pPr>
              <a:buNone/>
            </a:pPr>
            <a:r>
              <a:t>- OpenAI Text generation guide: https://developers.openai.com/api/docs/guides/text</a:t>
            </a:r>
          </a:p>
          <a:p xmlns:a="http://schemas.openxmlformats.org/drawingml/2006/main">
            <a:pPr>
              <a:buNone/>
            </a:pPr>
            <a:r>
              <a:t>- OpenAI Structured Outputs: https://developers.openai.com/api/docs/guides/structured-outputs</a:t>
            </a:r>
          </a:p>
          <a:p xmlns:a="http://schemas.openxmlformats.org/drawingml/2006/main">
            <a:pPr>
              <a:buNone/>
            </a:pPr>
            <a:r>
              <a:t>- OpenAI Using GPT-5.6: https://developers.openai.com/api/docs/guides/latest-model.md</a:t>
            </a:r>
          </a:p>
          <a:p xmlns:a="http://schemas.openxmlformats.org/drawingml/2006/main">
            <a:pPr>
              <a:buNone/>
            </a:pPr>
            <a:r>
              <a:t>- Beyond English: The Impact of Prompt Translation Strategies across Languages and Tasks in Multilingual LLMs, 2025: https://aclanthology.org/2025.loresmt-1.9/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Голосование.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  <a:p xmlns:a="http://schemas.openxmlformats.org/drawingml/2006/main">
            <a:pPr>
              <a:buNone/>
            </a:pPr>
            <a:r>
              <a:t>- OpenAI Text generation guide: https://developers.openai.com/api/docs/guides/text</a:t>
            </a:r>
          </a:p>
          <a:p xmlns:a="http://schemas.openxmlformats.org/drawingml/2006/main">
            <a:pPr>
              <a:buNone/>
            </a:pPr>
            <a:r>
              <a:t>- OpenAI Structured Outputs: https://developers.openai.com/api/docs/guides/structured-outputs</a:t>
            </a:r>
          </a:p>
          <a:p xmlns:a="http://schemas.openxmlformats.org/drawingml/2006/main">
            <a:pPr>
              <a:buNone/>
            </a:pPr>
            <a:r>
              <a:t>- OpenAI Using GPT-5.6: https://developers.openai.com/api/docs/guides/latest-model.md</a:t>
            </a:r>
          </a:p>
          <a:p xmlns:a="http://schemas.openxmlformats.org/drawingml/2006/main">
            <a:pPr>
              <a:buNone/>
            </a:pPr>
            <a:r>
              <a:t>- Beyond English: The Impact of Prompt Translation Strategies across Languages and Tasks in Multilingual LLMs, 2025: https://aclanthology.org/2025.loresmt-1.9/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В практике будет A/B-запуск одной задачи на двух языках.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  <a:p xmlns:a="http://schemas.openxmlformats.org/drawingml/2006/main">
            <a:pPr>
              <a:buNone/>
            </a:pPr>
            <a:r>
              <a:t>- OpenAI Text generation guide: https://developers.openai.com/api/docs/guides/text</a:t>
            </a:r>
          </a:p>
          <a:p xmlns:a="http://schemas.openxmlformats.org/drawingml/2006/main">
            <a:pPr>
              <a:buNone/>
            </a:pPr>
            <a:r>
              <a:t>- OpenAI Structured Outputs: https://developers.openai.com/api/docs/guides/structured-outputs</a:t>
            </a:r>
          </a:p>
          <a:p xmlns:a="http://schemas.openxmlformats.org/drawingml/2006/main">
            <a:pPr>
              <a:buNone/>
            </a:pPr>
            <a:r>
              <a:t>- OpenAI Using GPT-5.6: https://developers.openai.com/api/docs/guides/latest-model.md</a:t>
            </a:r>
          </a:p>
          <a:p xmlns:a="http://schemas.openxmlformats.org/drawingml/2006/main">
            <a:pPr>
              <a:buNone/>
            </a:pPr>
            <a:r>
              <a:t>- Beyond English: The Impact of Prompt Translation Strategies across Languages and Tasks in Multilingual LLMs, 2025: https://aclanthology.org/2025.loresmt-1.9/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Просим аудиторию выбрать сторону. Ответ: неправда.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Универсальны общие принципы: ясная задача, контекст, ограничения и формат. Конкретный промпт проверяем вместе с выбранной моделью на своих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Голосование.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  <a:p xmlns:a="http://schemas.openxmlformats.org/drawingml/2006/main">
            <a:pPr>
              <a:buNone/>
            </a:pPr>
            <a:r>
              <a:t>- OpenAI Text generation guide: https://developers.openai.com/api/docs/guides/text</a:t>
            </a:r>
          </a:p>
          <a:p xmlns:a="http://schemas.openxmlformats.org/drawingml/2006/main">
            <a:pPr>
              <a:buNone/>
            </a:pPr>
            <a:r>
              <a:t>- OpenAI Structured Outputs: https://developers.openai.com/api/docs/guides/structured-outputs</a:t>
            </a:r>
          </a:p>
          <a:p xmlns:a="http://schemas.openxmlformats.org/drawingml/2006/main">
            <a:pPr>
              <a:buNone/>
            </a:pPr>
            <a:r>
              <a:t>- OpenAI Using GPT-5.6: https://developers.openai.com/api/docs/guides/latest-model.md</a:t>
            </a:r>
          </a:p>
          <a:p xmlns:a="http://schemas.openxmlformats.org/drawingml/2006/main">
            <a:pPr>
              <a:buNone/>
            </a:pPr>
            <a:r>
              <a:t>- Beyond English: The Impact of Prompt Translation Strategies across Languages and Tasks in Multilingual LLMs, 2025: https://aclanthology.org/2025.loresmt-1.9/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Не все модели поддерживают temperature.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  <a:p xmlns:a="http://schemas.openxmlformats.org/drawingml/2006/main">
            <a:pPr>
              <a:buNone/>
            </a:pPr>
            <a:r>
              <a:t>- OpenAI Text generation guide: https://developers.openai.com/api/docs/guides/text</a:t>
            </a:r>
          </a:p>
          <a:p xmlns:a="http://schemas.openxmlformats.org/drawingml/2006/main">
            <a:pPr>
              <a:buNone/>
            </a:pPr>
            <a:r>
              <a:t>- OpenAI Structured Outputs: https://developers.openai.com/api/docs/guides/structured-outputs</a:t>
            </a:r>
          </a:p>
          <a:p xmlns:a="http://schemas.openxmlformats.org/drawingml/2006/main">
            <a:pPr>
              <a:buNone/>
            </a:pPr>
            <a:r>
              <a:t>- OpenAI Using GPT-5.6: https://developers.openai.com/api/docs/guides/latest-model.md</a:t>
            </a:r>
          </a:p>
          <a:p xmlns:a="http://schemas.openxmlformats.org/drawingml/2006/main">
            <a:pPr>
              <a:buNone/>
            </a:pPr>
            <a:r>
              <a:t>- Beyond English: The Impact of Prompt Translation Strategies across Languages and Tasks in Multilingual LLMs, 2025: https://aclanthology.org/2025.loresmt-1.9/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Голосование.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  <a:p xmlns:a="http://schemas.openxmlformats.org/drawingml/2006/main">
            <a:pPr>
              <a:buNone/>
            </a:pPr>
            <a:r>
              <a:t>- OpenAI Text generation guide: https://developers.openai.com/api/docs/guides/text</a:t>
            </a:r>
          </a:p>
          <a:p xmlns:a="http://schemas.openxmlformats.org/drawingml/2006/main">
            <a:pPr>
              <a:buNone/>
            </a:pPr>
            <a:r>
              <a:t>- OpenAI Structured Outputs: https://developers.openai.com/api/docs/guides/structured-outputs</a:t>
            </a:r>
          </a:p>
          <a:p xmlns:a="http://schemas.openxmlformats.org/drawingml/2006/main">
            <a:pPr>
              <a:buNone/>
            </a:pPr>
            <a:r>
              <a:t>- OpenAI Using GPT-5.6: https://developers.openai.com/api/docs/guides/latest-model.md</a:t>
            </a:r>
          </a:p>
          <a:p xmlns:a="http://schemas.openxmlformats.org/drawingml/2006/main">
            <a:pPr>
              <a:buNone/>
            </a:pPr>
            <a:r>
              <a:t>- Beyond English: The Impact of Prompt Translation Strategies across Languages and Tasks in Multilingual LLMs, 2025: https://aclanthology.org/2025.loresmt-1.9/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Не использовать UI-термин ultra как универсальный API-параметр.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  <a:p xmlns:a="http://schemas.openxmlformats.org/drawingml/2006/main">
            <a:pPr>
              <a:buNone/>
            </a:pPr>
            <a:r>
              <a:t>- OpenAI Text generation guide: https://developers.openai.com/api/docs/guides/text</a:t>
            </a:r>
          </a:p>
          <a:p xmlns:a="http://schemas.openxmlformats.org/drawingml/2006/main">
            <a:pPr>
              <a:buNone/>
            </a:pPr>
            <a:r>
              <a:t>- OpenAI Structured Outputs: https://developers.openai.com/api/docs/guides/structured-outputs</a:t>
            </a:r>
          </a:p>
          <a:p xmlns:a="http://schemas.openxmlformats.org/drawingml/2006/main">
            <a:pPr>
              <a:buNone/>
            </a:pPr>
            <a:r>
              <a:t>- OpenAI Using GPT-5.6: https://developers.openai.com/api/docs/guides/latest-model.md</a:t>
            </a:r>
          </a:p>
          <a:p xmlns:a="http://schemas.openxmlformats.org/drawingml/2006/main">
            <a:pPr>
              <a:buNone/>
            </a:pPr>
            <a:r>
              <a:t>- Beyond English: The Impact of Prompt Translation Strategies across Languages and Tasks in Multilingual LLMs, 2025: https://aclanthology.org/2025.loresmt-1.9/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Показываем увеличенный фрагмент исходного скриншота: прямой запрос и отказ слева, эмоциональная история и ответ справа.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Два скриншота из одного вирального кейса: Bing Chat отказался читать CAPTCHA напрямую, но прочитал тот же текст после эмоционального перефрейма. Важно: модель не «пожалела» пользователя; изменилась классификация запроса.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https://x.com/literallydenis/status/1708283962399846459</a:t>
            </a:r>
          </a:p>
          <a:p xmlns:a="http://schemas.openxmlformats.org/drawingml/2006/main">
            <a:pPr>
              <a:buNone/>
            </a:pPr>
            <a:r>
              <a:t>- https://arstechnica.com/information-technology/2023/10/sob-story-about-dead-grandma-tricks-microsoft-ai-into-solving-captcha/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Показываем увеличенный точный фрагмент исходного диалога без перерисовки текста.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Стандартного emoji морского конька в Unicode нет. Почему конкретная модель входит в цикл самоисправления, без трассировки точно неизвестно; не выдавать токенизацию за доказанную причину.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https://knowyourmeme.com/memes/asking-ai-if-theres-a-seahorse-emoji</a:t>
            </a:r>
          </a:p>
          <a:p xmlns:a="http://schemas.openxmlformats.org/drawingml/2006/main">
            <a:pPr>
              <a:buNone/>
            </a:pPr>
            <a:r>
              <a:t>- https://emojipedia.org/seahorse-emoji-mandela-effect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В списке ингредиентов модель буквально указала: «Свиные крылышки — 1 кг». Дальше она предложила делить несуществующее свиное крыло на три части по суставу. Это однозначная галлюцинация: модель выдумала анатомический объект, ингредиент и способ его разделки.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https://vc.ru/id3287052/2078731-retsept-svinykh-krylyshek-ot-chatgpt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В списке ингредиентов модель буквально указала: «Свиные крылышки — 1 кг». Дальше она предложила делить несуществующее свиное крыло на три части по суставу. Это однозначная галлюцинация: модель выдумала анатомический объект, ингредиент и способ его разделки.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https://vc.ru/id3287052/2078731-retsept-svinykh-krylyshek-ot-chatgpt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Статья разбирает случай, когда модель посреди обычного ответа неожиданно вставляет иероглиф. На следующем слайде — короткое объяснение механизма из статьи.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https://habr.com/ru/companies/selectel/articles/1044854/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LLM работает с токенами. Редкие иероглифы и обрывки Unicode могут встречаться в обучающих данных слишком мало, поэтому их представление остаётся плохо обученным. В редком или смешанном контексте модель менее уверена, вероятности распределяются между большим числом вариантов, и такой токен иногда случайно выбирается. После этого он уже становится частью контекста и может повлиять на продолжение.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https://habr.com/ru/companies/selectel/articles/1044854/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Связать с toy-моделью: вход создаёт контекст, из которого модель продолжает текст.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Это упрощённый интерфейс урока. В сложных задачах добавятся examples, tools и evals.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Роль 'ты senior developer' не заменяет ожидаемый outcome.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Релевантность важнее объёма.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Постоянную часть можно мыслить как функцию, динамические данные — как аргументы.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Текстовые ограничения мягкие. Side effects контролирует приложение.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Текстовый формат подходит человеку; Structured Outputs — интеграции.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OpenAI Structured Outputs: https://developers.openai.com/api/docs/guides/structured-outputs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Completion bar должен быть наблюдаемым.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Уточняющий вопрос нужен не всегда — только когда неизвестность материально меняет результат.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Richard Davies, AI Engineering in Practice, MEAP v2, PDF pp. 21–31, 33–70, 71–90.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Few-shot не добавлять автоматически: он расходует контекст и способен передать случайные детали.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Few-shot — это несколько пар «вход → желаемый выход» прямо в промпте. Приём полезен, когда словами трудно точно описать формат или границу между классами. Примеры должны быть короткими, репрезентативными и не противоречить правилам.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/Users/vasily/Documents/Курсы ВШМ/books/Prompt_Engineering_for_LLMs_Berryman_Ziegler.pdf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Книга советует явно отделять секции решёткой, а код — тройными обратными кавычками. Разделители помогают модели не смешивать инструкцию, данные и формат ответа.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/Users/vasily/Documents/Курсы ВШМ/books/Prompt_Engineering_for_LLMs_Berryman_Ziegler.pdf — printed page 69 (PDF page 87)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Fine-tuning нужен не для замены ясного промпта, а для стабильной повторяющейся задачи с достаточным числом качественных примеров. До обучения фиксируем baseline и eval-набор; после — сравниваем с базовой моделью на отложенных данных.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https://platform.openai.com/docs/api-reference/fine-tuning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Это адаптация реального production-промпта code-review agent из OpenAI Cookbook. На одном примере видны советы из раздела: роль, фокус, ограничения, формат и отделённые данные. В исходнике также требуется ссылаться на конкретные файлы и строки и завершать ответ verdict с confidence.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https://github.com/openai/openai-cookbook/blob/main/examples/codex/build_code_review_with_codex_sdk.md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Переход от бытового prompting к инженерной работе.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OpenAI Text generation guide: https://developers.openai.com/api/docs/guides/text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Benchmarks — фильтр. Решение принимается на representative task set.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  <a:p xmlns:a="http://schemas.openxmlformats.org/drawingml/2006/main">
            <a:pPr>
              <a:buNone/>
            </a:pPr>
            <a:r>
              <a:t>- OpenAI Text generation guide: https://developers.openai.com/api/docs/guides/text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Версионировать prompt и model snapshot вместе с кодом.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OpenAI Text generation guide: https://developers.openai.com/api/docs/guides/text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Добавить error rate при production-сравнении. На уроке достаточно трёх основных метрик.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OpenAI Using GPT-5.6: https://developers.openai.com/api/docs/guides/latest-model.md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Качество-first режим оправдан только измеримым выигрышем на важной задаче.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[Future visual]</a:t>
            </a:r>
          </a:p>
          <a:p xmlns:a="http://schemas.openxmlformats.org/drawingml/2006/main">
            <a:pPr>
              <a:buNone/>
            </a:pPr>
            <a:r>
              <a:t>Позже можно добавить полосу испытаний: три модели проходят одинаковые задачи, на финише сравниваются качество, цена и скорость.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OpenAI Using GPT-5.6: https://developers.openai.com/api/docs/guides/latest-model.md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Открыть редактор после десяти коротких API-слайдов. Сначала сравниваем OpenAI API, затем нативные контракты Claude и Gemini, совместимость и собственный универсальный слой.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https://developers.openai.com/api/docs/guides/migrate-to-responses</a:t>
            </a:r>
          </a:p>
          <a:p xmlns:a="http://schemas.openxmlformats.org/drawingml/2006/main">
            <a:pPr>
              <a:buNone/>
            </a:pPr>
            <a:r>
              <a:t>- https://platform.claude.com/docs/en/api/messages/create</a:t>
            </a:r>
          </a:p>
          <a:p xmlns:a="http://schemas.openxmlformats.org/drawingml/2006/main">
            <a:pPr>
              <a:buNone/>
            </a:pPr>
            <a:r>
              <a:t>- https://ai.google.dev/api/generate-content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Chat Completions — поддерживаемый и привычный интерфейс. Приложение отправляет массив messages и самостоятельно пересылает историю диалога. Обычный текст читается из completion.choices[0].message.content. Этот API можно оставлять в существующем коде, но для новых проектов OpenAI рекомендует Responses API.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https://developers.openai.com/api/docs/guides/migrate-to-responses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Оба API вызывают те же модели, но по-разному упаковывают контекст и результат. Chat Completions строится вокруг messages и choices. Responses использует типизированные Items: message, reasoning, function_call и другие. Для нового кода OpenAI рекомендует Responses; существующий Chat Completions остаётся поддерживаемым.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https://developers.openai.com/api/docs/guides/migrate-to-responses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Responses API — рекомендуемый интерфейс для нового кода. Вход можно передать строкой или Items, а инструкции вынести в instructions. В output лежит не только текст: там могут быть reasoning и вызовы инструментов. Для простого ответа используем response.output_text; для агентного сценария разбираем response.output по type. previous_response_id позволяет связать ходы, а встроенные инструменты включают web search, file search, code interpreter и MCP.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https://developers.openai.com/api/docs/guides/migrate-to-responses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Claude Messages API принимает stateless-историю в messages. System-инструкция передаётся отдельным верхнеуровневым полем system, а не сообщением с ролью system. Ответ состоит из content blocks: например text или tool_use. stop_reason определяет, закончился ли ход нормально, упёрся в max_tokens или запросил инструмент.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https://platform.claude.com/docs/en/api/messages/create</a:t>
            </a:r>
          </a:p>
          <a:p xmlns:a="http://schemas.openxmlformats.org/drawingml/2006/main">
            <a:pPr>
              <a:buNone/>
            </a:pPr>
            <a:r>
              <a:t>- https://platform.claude.com/docs/en/build-with-claude/handling-stop-reasons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В нативном Gemini API история и мультимодальные данные представлены через contents и parts. System instruction и tools передаются в config. Полный ответ содержит candidates, parts, finish_reason и usage_metadata; response.text — удобный SDK helper для обычного текста.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https://ai.google.dev/api/generate-content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OpenAI-compatible означает, что провайдер принимает знакомую форму запроса — обычно через OpenAI SDK после замены base_url, ключа и model. Это не обещание одинаковой семантики. Поддержка tools, strict schemas, reasoning, streaming и отдельных параметров может отличаться или быть неполной. Для production проверяем capability matrix и нативную документацию.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https://platform.claude.com/docs/en/cli-sdks-libraries/libraries/openai-sdk</a:t>
            </a:r>
          </a:p>
          <a:p xmlns:a="http://schemas.openxmlformats.org/drawingml/2006/main">
            <a:pPr>
              <a:buNone/>
            </a:pPr>
            <a:r>
              <a:t>- https://ai.google.dev/gemini-api/docs/openai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Это наш внутренний инженерный контракт, а не готовый отраслевой стандарт. Приложение работает с минимальным общим набором: messages, tools, normalized output, common errors и usage. Адаптер переводит его в нативный API конкретного провайдера. Provider-specific поля и raw response сохраняем, иначе универсальный слой быстро станет ограничением.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https://platform.claude.com/docs/en/api/messages/create</a:t>
            </a:r>
          </a:p>
          <a:p xmlns:a="http://schemas.openxmlformats.org/drawingml/2006/main">
            <a:pPr>
              <a:buNone/>
            </a:pPr>
            <a:r>
              <a:t>- https://ai.google.dev/api/generate-content</a:t>
            </a:r>
          </a:p>
          <a:p xmlns:a="http://schemas.openxmlformats.org/drawingml/2006/main">
            <a:pPr>
              <a:buNone/>
            </a:pPr>
            <a:r>
              <a:t>- https://platform.claude.com/docs/en/cli-sdks-libraries/libraries/openai-sdk</a:t>
            </a:r>
          </a:p>
          <a:p xmlns:a="http://schemas.openxmlformats.org/drawingml/2006/main">
            <a:pPr>
              <a:buNone/>
            </a:pPr>
            <a:r>
              <a:t>- https://ai.google.dev/gemini-api/docs/openai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SSE улучшает perceived latency, но не уменьшает полное время генерации. Async решает concurrency, а не скорость одного ответа.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OpenAI Responses API reference: https://developers.openai.com/api/reference/resources/responses/methods/create</a:t>
            </a:r>
          </a:p>
          <a:p xmlns:a="http://schemas.openxmlformats.org/drawingml/2006/main">
            <a:pPr>
              <a:buNone/>
            </a:pPr>
            <a:r>
              <a:t>- Claude Python SDK: https://platform.claude.com/docs/en/cli-sdks-libraries/sdks/python</a:t>
            </a:r>
          </a:p>
          <a:p xmlns:a="http://schemas.openxmlformats.org/drawingml/2006/main">
            <a:pPr>
              <a:buNone/>
            </a:pPr>
            <a:r>
              <a:t>- Gemini API reference: https://ai.google.dev/api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Pydantic в Python помогает описать схему и получить typed result. Схема не проверяет истинность.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OpenAI Structured Outputs: https://developers.openai.com/api/docs/guides/structured-outputs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Не обещать, что SDK автоматически решит production reliability.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OpenAI Responses API reference: https://developers.openai.com/api/reference/resources/responses/methods/create</a:t>
            </a:r>
          </a:p>
          <a:p xmlns:a="http://schemas.openxmlformats.org/drawingml/2006/main">
            <a:pPr>
              <a:buNone/>
            </a:pPr>
            <a:r>
              <a:t>- Claude Python SDK: https://platform.claude.com/docs/en/cli-sdks-libraries/sdks/python</a:t>
            </a:r>
          </a:p>
          <a:p xmlns:a="http://schemas.openxmlformats.org/drawingml/2006/main">
            <a:pPr>
              <a:buNone/>
            </a:pPr>
            <a:r>
              <a:t>- Gemini API reference: https://ai.google.dev/api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Переключиться в api_workshop.py.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Не запускать все ячейки сразу — каждый раздел делает отдельные платные вызовы.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Домашка напрямую продолжает общую цель курса — собственного coder’а.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John Berryman, Albert Ziegler, Prompt Engineering for LLMs, PDF pp. 4–21, 29–35, 89–120, 141–170, 199–205, 241–253.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c8638f95649ac" /></Relationships>
</file>

<file path=ppt/slideLayouts/slideLayout1.xml><?xml version="1.0" encoding="utf-8"?>
<p:sldLayout xmlns:p="http://schemas.openxmlformats.org/presentationml/2006/main" showMasterSp="1" showMasterPhAnim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6F9785AC-1D44-4E90-8D8D-3DAF0B61ABA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0961a5524e4943" /><Relationship Type="http://schemas.openxmlformats.org/officeDocument/2006/relationships/slideLayout" Target="/ppt/slideLayouts/slideLayout1.xml" Id="R617bdc25e196452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заголовка">
            <a:extLst xmlns:a="http://schemas.openxmlformats.org/drawingml/2006/main">
              <a:ext uri="{FF2B5EF4-FFF2-40B4-BE49-F238E27FC236}">
                <a16:creationId xmlns:a16="http://schemas.microsoft.com/office/drawing/2014/main" id="{0667007E-5C21-4F32-8FD2-5D149BB233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844675"/>
            <a:ext cx="10363200" cy="20415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Текст заголовка</a:t>
            </a:r>
          </a:p>
        </p:txBody>
      </p:sp>
      <p:sp>
        <p:nvSpPr>
          <p:cNvPr id="3" name="Уровень текста 1…">
            <a:extLst xmlns:a="http://schemas.openxmlformats.org/drawingml/2006/main">
              <a:ext uri="{FF2B5EF4-FFF2-40B4-BE49-F238E27FC236}">
                <a16:creationId xmlns:a16="http://schemas.microsoft.com/office/drawing/2014/main" id="{78AC848D-9AD9-420A-BE41-DDDFDA80F2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8800" y="3886200"/>
            <a:ext cx="8534400" cy="2971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  <a:r>
              <a:t>Уровень текста 1</a:t>
            </a:r>
          </a:p>
          <a:p xmlns:a="http://schemas.openxmlformats.org/drawingml/2006/main">
            <a:pPr lvl="1">
              <a:buNone/>
            </a:pPr>
            <a:r>
              <a:t>Уровень текста 2</a:t>
            </a:r>
          </a:p>
          <a:p xmlns:a="http://schemas.openxmlformats.org/drawingml/2006/main">
            <a:pPr lvl="2">
              <a:buNone/>
            </a:pPr>
            <a:r>
              <a:t>Уровень текста 3</a:t>
            </a:r>
          </a:p>
          <a:p xmlns:a="http://schemas.openxmlformats.org/drawingml/2006/main">
            <a:pPr lvl="3">
              <a:buNone/>
            </a:pPr>
            <a:r>
              <a:t>Уровень текста 4</a:t>
            </a:r>
          </a:p>
          <a:p xmlns:a="http://schemas.openxmlformats.org/drawingml/2006/main">
            <a:pPr lvl="4">
              <a:buNone/>
            </a:pPr>
            <a:r>
              <a:t>Уровень текста 5</a:t>
            </a:r>
          </a:p>
        </p:txBody>
      </p:sp>
      <p:sp>
        <p:nvSpPr>
          <p:cNvPr id="4" name="Номер слайда">
            <a:extLst xmlns:a="http://schemas.openxmlformats.org/drawingml/2006/main">
              <a:ext uri="{FF2B5EF4-FFF2-40B4-BE49-F238E27FC236}">
                <a16:creationId xmlns:a16="http://schemas.microsoft.com/office/drawing/2014/main" id="{E3BA5AF0-1CBA-4E39-BE88-055387F3379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7bdc25e1964522"/>
  </p:sldLayoutIdLst>
  <p:txStyles>
    <p:titleStyle>
      <a:lvl1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L="723900" marR="0" indent="-2667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2pPr>
      <a:lvl3pPr xmlns:a="http://schemas.openxmlformats.org/drawingml/2006/main" marL="1234439" marR="0" indent="-320039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3pPr>
      <a:lvl4pPr xmlns:a="http://schemas.openxmlformats.org/drawingml/2006/main" marL="1727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4pPr>
      <a:lvl5pPr xmlns:a="http://schemas.openxmlformats.org/drawingml/2006/main" marL="21844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5pPr>
      <a:lvl6pPr xmlns:a="http://schemas.openxmlformats.org/drawingml/2006/main" marL="26416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6pPr>
      <a:lvl7pPr xmlns:a="http://schemas.openxmlformats.org/drawingml/2006/main" marL="30988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7pPr>
      <a:lvl8pPr xmlns:a="http://schemas.openxmlformats.org/drawingml/2006/main" marL="35560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8pPr>
      <a:lvl9pPr xmlns:a="http://schemas.openxmlformats.org/drawingml/2006/main" marL="4013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f0ad619694abb" /><Relationship Type="http://schemas.openxmlformats.org/officeDocument/2006/relationships/notesSlide" Target="/ppt/notesSlides/notesSlide1.xml" Id="R9d4cd279cbec41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d0434745e4820" /><Relationship Type="http://schemas.openxmlformats.org/officeDocument/2006/relationships/image" Target="/ppt/media/image.png" Id="Rbf69798fc9fd4f85" /><Relationship Type="http://schemas.openxmlformats.org/officeDocument/2006/relationships/notesSlide" Target="/ppt/notesSlides/notesSlide2.xml" Id="R1ee9513fe2b24c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5b42100584820" /><Relationship Type="http://schemas.openxmlformats.org/officeDocument/2006/relationships/notesSlide" Target="/ppt/notesSlides/notesSlide3.xml" Id="Re53eae33040649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510590ef94f5c" /><Relationship Type="http://schemas.openxmlformats.org/officeDocument/2006/relationships/image" Target="/ppt/media/image2.png" Id="Rbf6435f7eb064682" /><Relationship Type="http://schemas.openxmlformats.org/officeDocument/2006/relationships/notesSlide" Target="/ppt/notesSlides/notesSlide4.xml" Id="Rfd6f3d5b634744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94c292ce540f1" /><Relationship Type="http://schemas.openxmlformats.org/officeDocument/2006/relationships/notesSlide" Target="/ppt/notesSlides/notesSlide5.xml" Id="R978c48b829a741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f2961c01e4744" /><Relationship Type="http://schemas.openxmlformats.org/officeDocument/2006/relationships/image" Target="/ppt/media/image3.png" Id="Rb6bebae8c1ff4a41" /><Relationship Type="http://schemas.openxmlformats.org/officeDocument/2006/relationships/notesSlide" Target="/ppt/notesSlides/notesSlide6.xml" Id="Rd57af1d8ae8a4c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405812df54f9c" /><Relationship Type="http://schemas.openxmlformats.org/officeDocument/2006/relationships/notesSlide" Target="/ppt/notesSlides/notesSlide7.xml" Id="R4267c4709f694f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52998c42043cc" /><Relationship Type="http://schemas.openxmlformats.org/officeDocument/2006/relationships/notesSlide" Target="/ppt/notesSlides/notesSlide8.xml" Id="R89a5eefc3fd340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8822de5fc49d8" /><Relationship Type="http://schemas.openxmlformats.org/officeDocument/2006/relationships/notesSlide" Target="/ppt/notesSlides/notesSlide9.xml" Id="Rf83fcdf053654c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390a9e60e4b25" /><Relationship Type="http://schemas.openxmlformats.org/officeDocument/2006/relationships/notesSlide" Target="/ppt/notesSlides/notesSlide10.xml" Id="R27f2be524a6543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c8be2703b4cb2" /><Relationship Type="http://schemas.openxmlformats.org/officeDocument/2006/relationships/notesSlide" Target="/ppt/notesSlides/notesSlide11.xml" Id="Rfedae5969cb645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a664aaead4c48" /><Relationship Type="http://schemas.openxmlformats.org/officeDocument/2006/relationships/notesSlide" Target="/ppt/notesSlides/notesSlide12.xml" Id="R6162c397497643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4f22a6dce4d03" /><Relationship Type="http://schemas.openxmlformats.org/officeDocument/2006/relationships/image" Target="/ppt/media/image4.png" Id="Refbf8b450cc143fb" /><Relationship Type="http://schemas.openxmlformats.org/officeDocument/2006/relationships/notesSlide" Target="/ppt/notesSlides/notesSlide13.xml" Id="Re8a0e022bd1a4e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468723f764082" /><Relationship Type="http://schemas.openxmlformats.org/officeDocument/2006/relationships/notesSlide" Target="/ppt/notesSlides/notesSlide14.xml" Id="R4325165b47814b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12160aa054dc2" /><Relationship Type="http://schemas.openxmlformats.org/officeDocument/2006/relationships/notesSlide" Target="/ppt/notesSlides/notesSlide15.xml" Id="R6711ea76d6f94a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4aeff8eea4f8d" /><Relationship Type="http://schemas.openxmlformats.org/officeDocument/2006/relationships/image" Target="/ppt/media/image5.png" Id="R235a6b217509455f" /><Relationship Type="http://schemas.openxmlformats.org/officeDocument/2006/relationships/notesSlide" Target="/ppt/notesSlides/notesSlide16.xml" Id="R0b1347db4dfd4f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156148e4440e0" /><Relationship Type="http://schemas.openxmlformats.org/officeDocument/2006/relationships/notesSlide" Target="/ppt/notesSlides/notesSlide17.xml" Id="R282e55fb424445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51996a13843fc" /><Relationship Type="http://schemas.openxmlformats.org/officeDocument/2006/relationships/notesSlide" Target="/ppt/notesSlides/notesSlide18.xml" Id="Rad212149cab648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58d34aca044d9" /><Relationship Type="http://schemas.openxmlformats.org/officeDocument/2006/relationships/image" Target="/ppt/media/image6.png" Id="R15eda7b2b2ba46bd" /><Relationship Type="http://schemas.openxmlformats.org/officeDocument/2006/relationships/notesSlide" Target="/ppt/notesSlides/notesSlide19.xml" Id="Rfe9afc543bbb48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8540f7d2145b3" /><Relationship Type="http://schemas.openxmlformats.org/officeDocument/2006/relationships/notesSlide" Target="/ppt/notesSlides/notesSlide20.xml" Id="R433af654ceb6413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f04c10e914923" /><Relationship Type="http://schemas.openxmlformats.org/officeDocument/2006/relationships/notesSlide" Target="/ppt/notesSlides/notesSlide21.xml" Id="R639dc4c89fe84ee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4ec1daef94ec9" /><Relationship Type="http://schemas.openxmlformats.org/officeDocument/2006/relationships/notesSlide" Target="/ppt/notesSlides/notesSlide22.xml" Id="R82190f4c709748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ebe380eea4d3e" /><Relationship Type="http://schemas.openxmlformats.org/officeDocument/2006/relationships/notesSlide" Target="/ppt/notesSlides/notesSlide23.xml" Id="Rceb1f81de29442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b105dcc234371" /><Relationship Type="http://schemas.openxmlformats.org/officeDocument/2006/relationships/notesSlide" Target="/ppt/notesSlides/notesSlide24.xml" Id="R2001703cab0e4c1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deae33db24d76" /><Relationship Type="http://schemas.openxmlformats.org/officeDocument/2006/relationships/notesSlide" Target="/ppt/notesSlides/notesSlide25.xml" Id="R2af9ecd50db64dd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e12633a514d9b" /><Relationship Type="http://schemas.openxmlformats.org/officeDocument/2006/relationships/notesSlide" Target="/ppt/notesSlides/notesSlide26.xml" Id="R1d0e44fa3c4b418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84965a86045bb" /><Relationship Type="http://schemas.openxmlformats.org/officeDocument/2006/relationships/notesSlide" Target="/ppt/notesSlides/notesSlide27.xml" Id="R4d5acd3bbdd840f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3cdc3a5fc4e3d" /><Relationship Type="http://schemas.openxmlformats.org/officeDocument/2006/relationships/notesSlide" Target="/ppt/notesSlides/notesSlide28.xml" Id="R77092332d9af4b1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819473fe74e32" /><Relationship Type="http://schemas.openxmlformats.org/officeDocument/2006/relationships/notesSlide" Target="/ppt/notesSlides/notesSlide29.xml" Id="R340fb63893ec4a4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d0942db6d4ba2" /><Relationship Type="http://schemas.openxmlformats.org/officeDocument/2006/relationships/notesSlide" Target="/ppt/notesSlides/notesSlide30.xml" Id="R7fee6c27eaf2415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811f4a3e04a81" /><Relationship Type="http://schemas.openxmlformats.org/officeDocument/2006/relationships/notesSlide" Target="/ppt/notesSlides/notesSlide31.xml" Id="R6a833bc0c62a4ca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d6326a56f4f92" /><Relationship Type="http://schemas.openxmlformats.org/officeDocument/2006/relationships/notesSlide" Target="/ppt/notesSlides/notesSlide32.xml" Id="R44626fd88f54464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48a6ee4124b26" /><Relationship Type="http://schemas.openxmlformats.org/officeDocument/2006/relationships/image" Target="/ppt/media/image7.png" Id="Rbb553aceba5d40d7" /><Relationship Type="http://schemas.openxmlformats.org/officeDocument/2006/relationships/notesSlide" Target="/ppt/notesSlides/notesSlide33.xml" Id="R83c431e9a4354e6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5b092c84f4b65" /><Relationship Type="http://schemas.openxmlformats.org/officeDocument/2006/relationships/notesSlide" Target="/ppt/notesSlides/notesSlide34.xml" Id="R64e51cc15d6b47d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4fefa7c9044d6" /><Relationship Type="http://schemas.openxmlformats.org/officeDocument/2006/relationships/image" Target="/ppt/media/image8.png" Id="R2d99353e6a2d4464" /><Relationship Type="http://schemas.openxmlformats.org/officeDocument/2006/relationships/notesSlide" Target="/ppt/notesSlides/notesSlide35.xml" Id="R2133587d8f4d4b0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07291991f4316" /><Relationship Type="http://schemas.openxmlformats.org/officeDocument/2006/relationships/notesSlide" Target="/ppt/notesSlides/notesSlide36.xml" Id="Rb6f36dbf3a4b4b2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058d4cc97469b" /><Relationship Type="http://schemas.openxmlformats.org/officeDocument/2006/relationships/hyperlink" Target="https://vc.ru/id3287052/2078731-retsept-svinykh-krylyshek-ot-chatgpt" TargetMode="External" Id="R0002e54181b04b53" /><Relationship Type="http://schemas.openxmlformats.org/officeDocument/2006/relationships/image" Target="/ppt/media/image.jpeg" Id="Rc027d9a43e9d43af" /><Relationship Type="http://schemas.openxmlformats.org/officeDocument/2006/relationships/notesSlide" Target="/ppt/notesSlides/notesSlide37.xml" Id="Rae10a8e00d8745e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030838e2f4514" /><Relationship Type="http://schemas.openxmlformats.org/officeDocument/2006/relationships/notesSlide" Target="/ppt/notesSlides/notesSlide38.xml" Id="Rf817dbe7bcc34df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0f2e9fdb04fad" /><Relationship Type="http://schemas.openxmlformats.org/officeDocument/2006/relationships/hyperlink" Target="https://habr.com/ru/companies/selectel/articles/1044854/" TargetMode="External" Id="Rb75284047696413f" /><Relationship Type="http://schemas.openxmlformats.org/officeDocument/2006/relationships/image" Target="/ppt/media/image9.png" Id="Rd3bfae11a75c4113" /><Relationship Type="http://schemas.openxmlformats.org/officeDocument/2006/relationships/notesSlide" Target="/ppt/notesSlides/notesSlide39.xml" Id="R51cee6b2779b4d4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f9f39a45b40e0" /><Relationship Type="http://schemas.openxmlformats.org/officeDocument/2006/relationships/notesSlide" Target="/ppt/notesSlides/notesSlide40.xml" Id="Rf324c7935b494b9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7362039824258" /><Relationship Type="http://schemas.openxmlformats.org/officeDocument/2006/relationships/notesSlide" Target="/ppt/notesSlides/notesSlide41.xml" Id="R174dbdcec50f42c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02e66cc834850" /><Relationship Type="http://schemas.openxmlformats.org/officeDocument/2006/relationships/notesSlide" Target="/ppt/notesSlides/notesSlide42.xml" Id="Rcb690fd708eb4c9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603216d7c473c" /><Relationship Type="http://schemas.openxmlformats.org/officeDocument/2006/relationships/notesSlide" Target="/ppt/notesSlides/notesSlide43.xml" Id="Ra6a54f6f0438422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ace5f571746cd" /><Relationship Type="http://schemas.openxmlformats.org/officeDocument/2006/relationships/notesSlide" Target="/ppt/notesSlides/notesSlide44.xml" Id="R5715cd8ba57a488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3c21319a74747" /><Relationship Type="http://schemas.openxmlformats.org/officeDocument/2006/relationships/notesSlide" Target="/ppt/notesSlides/notesSlide45.xml" Id="R485e91baec21461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234bff7564a54" /><Relationship Type="http://schemas.openxmlformats.org/officeDocument/2006/relationships/notesSlide" Target="/ppt/notesSlides/notesSlide46.xml" Id="Rcc79b39262da45a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bf55d12b849ad" /><Relationship Type="http://schemas.openxmlformats.org/officeDocument/2006/relationships/notesSlide" Target="/ppt/notesSlides/notesSlide47.xml" Id="R7b4f0c8fa0e04aa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ee554772445ca" /><Relationship Type="http://schemas.openxmlformats.org/officeDocument/2006/relationships/notesSlide" Target="/ppt/notesSlides/notesSlide48.xml" Id="R6a82f3e5c7cd4cf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9cdb7d0e3464e" /><Relationship Type="http://schemas.openxmlformats.org/officeDocument/2006/relationships/notesSlide" Target="/ppt/notesSlides/notesSlide49.xml" Id="Rf515015a7c1a424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e9e384a1f48a5" /><Relationship Type="http://schemas.openxmlformats.org/officeDocument/2006/relationships/notesSlide" Target="/ppt/notesSlides/notesSlide50.xml" Id="R22e42f8549584cc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379780e364bef" /><Relationship Type="http://schemas.openxmlformats.org/officeDocument/2006/relationships/notesSlide" Target="/ppt/notesSlides/notesSlide51.xml" Id="Rc708e372bd3a4d9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4a074c8d54e50" /><Relationship Type="http://schemas.openxmlformats.org/officeDocument/2006/relationships/notesSlide" Target="/ppt/notesSlides/notesSlide52.xml" Id="Rfb04291d805342c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51d0a01ab434c" /><Relationship Type="http://schemas.openxmlformats.org/officeDocument/2006/relationships/notesSlide" Target="/ppt/notesSlides/notesSlide53.xml" Id="R6aaa3c8ab415404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67ea59f044545" /><Relationship Type="http://schemas.openxmlformats.org/officeDocument/2006/relationships/notesSlide" Target="/ppt/notesSlides/notesSlide54.xml" Id="Rf6edf21032bb469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94f68929a4d32" /><Relationship Type="http://schemas.openxmlformats.org/officeDocument/2006/relationships/notesSlide" Target="/ppt/notesSlides/notesSlide55.xml" Id="Re6d92c43902b4e2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eceadcdd94b1f" /><Relationship Type="http://schemas.openxmlformats.org/officeDocument/2006/relationships/notesSlide" Target="/ppt/notesSlides/notesSlide56.xml" Id="Rd40ba807b83c439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486992dfe482d" /><Relationship Type="http://schemas.openxmlformats.org/officeDocument/2006/relationships/notesSlide" Target="/ppt/notesSlides/notesSlide57.xml" Id="R3b997b6654b04ad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16319aa334b02" /><Relationship Type="http://schemas.openxmlformats.org/officeDocument/2006/relationships/notesSlide" Target="/ppt/notesSlides/notesSlide58.xml" Id="R94cb227145a54e2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a99463c3347e5" /><Relationship Type="http://schemas.openxmlformats.org/officeDocument/2006/relationships/notesSlide" Target="/ppt/notesSlides/notesSlide59.xml" Id="R648541a71c1d404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be74e95854d57" /><Relationship Type="http://schemas.openxmlformats.org/officeDocument/2006/relationships/notesSlide" Target="/ppt/notesSlides/notesSlide60.xml" Id="Re1592371a57444e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3b0241bca434b" /><Relationship Type="http://schemas.openxmlformats.org/officeDocument/2006/relationships/notesSlide" Target="/ppt/notesSlides/notesSlide61.xml" Id="Rf1b471efdb89475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b598d9e24475c" /><Relationship Type="http://schemas.openxmlformats.org/officeDocument/2006/relationships/notesSlide" Target="/ppt/notesSlides/notesSlide62.xml" Id="R01e7215a694e40c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5e1c244d748dd" /><Relationship Type="http://schemas.openxmlformats.org/officeDocument/2006/relationships/notesSlide" Target="/ppt/notesSlides/notesSlide63.xml" Id="R5fa7cd763378457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e34cccebe4549" /><Relationship Type="http://schemas.openxmlformats.org/officeDocument/2006/relationships/notesSlide" Target="/ppt/notesSlides/notesSlide64.xml" Id="R9de03aa6834c48d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56648bdf445ee" /><Relationship Type="http://schemas.openxmlformats.org/officeDocument/2006/relationships/notesSlide" Target="/ppt/notesSlides/notesSlide65.xml" Id="R14a8f11e0e45484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a317d7b9f404b" /><Relationship Type="http://schemas.openxmlformats.org/officeDocument/2006/relationships/notesSlide" Target="/ppt/notesSlides/notesSlide66.xml" Id="R20b016dccbd54455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e3e281d8540ae" /><Relationship Type="http://schemas.openxmlformats.org/officeDocument/2006/relationships/notesSlide" Target="/ppt/notesSlides/notesSlide67.xml" Id="R05a8d756d03649db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29b8261d44113" /><Relationship Type="http://schemas.openxmlformats.org/officeDocument/2006/relationships/notesSlide" Target="/ppt/notesSlides/notesSlide68.xml" Id="Rd28da5a35adb415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ec95817044f3f" /><Relationship Type="http://schemas.openxmlformats.org/officeDocument/2006/relationships/notesSlide" Target="/ppt/notesSlides/notesSlide69.xml" Id="R799d887451214a7e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682fcfc3142fe" /><Relationship Type="http://schemas.openxmlformats.org/officeDocument/2006/relationships/notesSlide" Target="/ppt/notesSlides/notesSlide70.xml" Id="R61f4c6f64dbd40d2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f2d1ed6814cbb" /><Relationship Type="http://schemas.openxmlformats.org/officeDocument/2006/relationships/notesSlide" Target="/ppt/notesSlides/notesSlide71.xml" Id="Rb1954d0d9bde4e8b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d358010dc4ed3" /><Relationship Type="http://schemas.openxmlformats.org/officeDocument/2006/relationships/notesSlide" Target="/ppt/notesSlides/notesSlide72.xml" Id="R952ad9b87ec04d82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43b2d7a7a4d70" /><Relationship Type="http://schemas.openxmlformats.org/officeDocument/2006/relationships/notesSlide" Target="/ppt/notesSlides/notesSlide73.xml" Id="R58cfe375d3654e28" 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B287E7-E806-4B2B-86FB-E7624827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4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Василий Исаев</a:t>
            </a:r>
          </a:p>
        </p:txBody>
      </p:sp>
      <p:sp>
        <p:nvSpPr>
          <p:cNvPr id="21" name="ML-инженер в Wildberries">
            <a:extLst xmlns:a="http://schemas.openxmlformats.org/drawingml/2006/main">
              <a:ext uri="{FF2B5EF4-FFF2-40B4-BE49-F238E27FC236}">
                <a16:creationId xmlns:a16="http://schemas.microsoft.com/office/drawing/2014/main" id="{4B8D445A-9F8D-4C1A-BA99-7FD9884F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8572500" cy="476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24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ML-инженер в Wildberries</a:t>
            </a:r>
          </a:p>
        </p:txBody>
      </p:sp>
      <p:sp>
        <p:nvSpPr>
          <p:cNvPr id="22" name="Линия">
            <a:extLst xmlns:a="http://schemas.openxmlformats.org/drawingml/2006/main">
              <a:ext uri="{FF2B5EF4-FFF2-40B4-BE49-F238E27FC236}">
                <a16:creationId xmlns:a16="http://schemas.microsoft.com/office/drawing/2014/main" id="{4E819A1D-BBFC-4174-99AC-1809928D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9334501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Внедряю LLM в процессы разработки">
            <a:extLst xmlns:a="http://schemas.openxmlformats.org/drawingml/2006/main">
              <a:ext uri="{FF2B5EF4-FFF2-40B4-BE49-F238E27FC236}">
                <a16:creationId xmlns:a16="http://schemas.microsoft.com/office/drawing/2014/main" id="{FE38B5C3-B58E-41F3-8635-A589AE63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8572500" cy="4572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21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Внедряю LLM в процессы разработки</a:t>
            </a:r>
          </a:p>
        </p:txBody>
      </p:sp>
      <p:sp>
        <p:nvSpPr>
          <p:cNvPr id="24" name="Активно использую LLM и агентов в реальной работе">
            <a:extLst xmlns:a="http://schemas.openxmlformats.org/drawingml/2006/main">
              <a:ext uri="{FF2B5EF4-FFF2-40B4-BE49-F238E27FC236}">
                <a16:creationId xmlns:a16="http://schemas.microsoft.com/office/drawing/2014/main" id="{634F5E20-C42F-47B2-A094-41D7B99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9525000" cy="4572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21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Активно использую LLM и агентов в реальной работе</a:t>
            </a:r>
          </a:p>
        </p:txBody>
      </p:sp>
      <p:sp>
        <p:nvSpPr>
          <p:cNvPr id="25" name="Покажу подходы, которыми сам пользуюсь в работе.">
            <a:extLst xmlns:a="http://schemas.openxmlformats.org/drawingml/2006/main">
              <a:ext uri="{FF2B5EF4-FFF2-40B4-BE49-F238E27FC236}">
                <a16:creationId xmlns:a16="http://schemas.microsoft.com/office/drawing/2014/main" id="{2B3BF973-36D7-459E-9019-3146FD0C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9525000" cy="438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Покажу подходы, которыми сам пользуюсь в работе.</a:t>
            </a:r>
          </a:p>
        </p:txBody>
      </p:sp>
      <p:sp>
        <p:nvSpPr>
          <p:cNvPr id="26" name="ВВЕДЕНИЕ">
            <a:extLst xmlns:a="http://schemas.openxmlformats.org/drawingml/2006/main">
              <a:ext uri="{FF2B5EF4-FFF2-40B4-BE49-F238E27FC236}">
                <a16:creationId xmlns:a16="http://schemas.microsoft.com/office/drawing/2014/main" id="{FCA9D6EA-92A3-4AC4-B33B-462BD6A1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ВВЕДЕНИЕ</a:t>
            </a:r>
          </a:p>
        </p:txBody>
      </p:sp>
      <p:sp>
        <p:nvSpPr>
          <p:cNvPr id="27" name="1">
            <a:extLst xmlns:a="http://schemas.openxmlformats.org/drawingml/2006/main">
              <a:ext uri="{FF2B5EF4-FFF2-40B4-BE49-F238E27FC236}">
                <a16:creationId xmlns:a16="http://schemas.microsoft.com/office/drawing/2014/main" id="{C969B2C7-7A60-4AD4-8B24-93C74726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49001666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вставленный-фильм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9798fc9fd4f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0475" y="2387938"/>
            <a:ext cx="4463996" cy="447675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2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727543B0-D475-4DF2-8EF3-D3CBE794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D6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042CFD-CD7A-4094-AD3D-1F40081C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52550"/>
            <a:ext cx="9715500" cy="1619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4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Введение в LLM</a:t>
            </a:r>
          </a:p>
        </p:txBody>
      </p:sp>
      <p:sp>
        <p:nvSpPr>
          <p:cNvPr id="34" name="- Как работают llm-ки - базовые термины - мифы и легенды про ЛЛМ - работа с апи">
            <a:extLst xmlns:a="http://schemas.openxmlformats.org/drawingml/2006/main">
              <a:ext uri="{FF2B5EF4-FFF2-40B4-BE49-F238E27FC236}">
                <a16:creationId xmlns:a16="http://schemas.microsoft.com/office/drawing/2014/main" id="{618C5B5E-D4F3-4863-BC1E-8F31F64F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5872661" cy="1238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defTabSz="841247">
              <a:lnSpc>
                <a:spcPct val="115000"/>
              </a:lnSpc>
              <a:buNone/>
              <a:defRPr sz="1932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t>- Как работают llm-ки</a:t>
            </a:r>
            <a:br/>
            <a:r>
              <a:t>- базовые термины</a:t>
            </a:r>
            <a:br/>
            <a:r>
              <a:t>- мифы и легенды про ЛЛМ</a:t>
            </a:r>
            <a:br/>
            <a:r>
              <a:t>- работа с апи</a:t>
            </a:r>
          </a:p>
        </p:txBody>
      </p:sp>
      <p:sp>
        <p:nvSpPr>
          <p:cNvPr id="35" name="ВВЕДЕНИЕ">
            <a:extLst xmlns:a="http://schemas.openxmlformats.org/drawingml/2006/main">
              <a:ext uri="{FF2B5EF4-FFF2-40B4-BE49-F238E27FC236}">
                <a16:creationId xmlns:a16="http://schemas.microsoft.com/office/drawing/2014/main" id="{226DCB2C-8BC5-490D-A260-26299658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ВВЕДЕНИЕ</a:t>
            </a:r>
          </a:p>
        </p:txBody>
      </p:sp>
      <p:sp>
        <p:nvSpPr>
          <p:cNvPr id="36" name="2">
            <a:extLst xmlns:a="http://schemas.openxmlformats.org/drawingml/2006/main">
              <a:ext uri="{FF2B5EF4-FFF2-40B4-BE49-F238E27FC236}">
                <a16:creationId xmlns:a16="http://schemas.microsoft.com/office/drawing/2014/main" id="{257280FF-BBC5-4860-B4AC-E6EC1423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21556004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F7C84F-56AB-49D4-BFED-D423B3A8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К концу занятия</a:t>
            </a:r>
          </a:p>
        </p:txBody>
      </p:sp>
      <p:sp>
        <p:nvSpPr>
          <p:cNvPr id="41" name="Линия">
            <a:extLst xmlns:a="http://schemas.openxmlformats.org/drawingml/2006/main">
              <a:ext uri="{FF2B5EF4-FFF2-40B4-BE49-F238E27FC236}">
                <a16:creationId xmlns:a16="http://schemas.microsoft.com/office/drawing/2014/main" id="{0610B8B1-A132-451F-BCA5-16CA67F0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ВВЕДЕНИЕ">
            <a:extLst xmlns:a="http://schemas.openxmlformats.org/drawingml/2006/main">
              <a:ext uri="{FF2B5EF4-FFF2-40B4-BE49-F238E27FC236}">
                <a16:creationId xmlns:a16="http://schemas.microsoft.com/office/drawing/2014/main" id="{D1119022-2C2C-40F9-AC9D-934D01E4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ВВЕДЕНИЕ</a:t>
            </a:r>
          </a:p>
        </p:txBody>
      </p:sp>
      <p:sp>
        <p:nvSpPr>
          <p:cNvPr id="43" name="3">
            <a:extLst xmlns:a="http://schemas.openxmlformats.org/drawingml/2006/main">
              <a:ext uri="{FF2B5EF4-FFF2-40B4-BE49-F238E27FC236}">
                <a16:creationId xmlns:a16="http://schemas.microsoft.com/office/drawing/2014/main" id="{5334F9D6-000C-4A0C-8663-CCFF1AF1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</a:t>
            </a:r>
          </a:p>
        </p:txBody>
      </p:sp>
      <p:sp>
        <p:nvSpPr>
          <p:cNvPr id="44" name="01">
            <a:extLst xmlns:a="http://schemas.openxmlformats.org/drawingml/2006/main">
              <a:ext uri="{FF2B5EF4-FFF2-40B4-BE49-F238E27FC236}">
                <a16:creationId xmlns:a16="http://schemas.microsoft.com/office/drawing/2014/main" id="{2CAA253E-619F-405A-B904-7BB3B733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857250" cy="4572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21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45" name="Как работает llm на пальцах">
            <a:extLst xmlns:a="http://schemas.openxmlformats.org/drawingml/2006/main">
              <a:ext uri="{FF2B5EF4-FFF2-40B4-BE49-F238E27FC236}">
                <a16:creationId xmlns:a16="http://schemas.microsoft.com/office/drawing/2014/main" id="{C9FAE587-5D0F-42C9-8B83-B2DDAAA3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33550"/>
            <a:ext cx="8572500" cy="4572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2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Как работает llm на пальцах</a:t>
            </a:r>
          </a:p>
        </p:txBody>
      </p:sp>
      <p:sp>
        <p:nvSpPr>
          <p:cNvPr id="46" name="02">
            <a:extLst xmlns:a="http://schemas.openxmlformats.org/drawingml/2006/main">
              <a:ext uri="{FF2B5EF4-FFF2-40B4-BE49-F238E27FC236}">
                <a16:creationId xmlns:a16="http://schemas.microsoft.com/office/drawing/2014/main" id="{3F375D4D-5695-441F-A0DD-16ECF31E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857250" cy="4572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21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47" name="Что такое промптинг">
            <a:extLst xmlns:a="http://schemas.openxmlformats.org/drawingml/2006/main">
              <a:ext uri="{FF2B5EF4-FFF2-40B4-BE49-F238E27FC236}">
                <a16:creationId xmlns:a16="http://schemas.microsoft.com/office/drawing/2014/main" id="{36720739-304E-4B8D-B409-EE949AC6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47950"/>
            <a:ext cx="8572500" cy="4572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2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Что такое промптинг</a:t>
            </a:r>
          </a:p>
        </p:txBody>
      </p:sp>
      <p:sp>
        <p:nvSpPr>
          <p:cNvPr id="48" name="03">
            <a:extLst xmlns:a="http://schemas.openxmlformats.org/drawingml/2006/main">
              <a:ext uri="{FF2B5EF4-FFF2-40B4-BE49-F238E27FC236}">
                <a16:creationId xmlns:a16="http://schemas.microsoft.com/office/drawing/2014/main" id="{4D14C856-F7AB-43B6-A4A1-FC4A9309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857250" cy="4572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21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49" name="Работа с llm по api">
            <a:extLst xmlns:a="http://schemas.openxmlformats.org/drawingml/2006/main">
              <a:ext uri="{FF2B5EF4-FFF2-40B4-BE49-F238E27FC236}">
                <a16:creationId xmlns:a16="http://schemas.microsoft.com/office/drawing/2014/main" id="{58D3234C-6D22-4651-957B-EB51AA08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62350"/>
            <a:ext cx="8572500" cy="4572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2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Работа с llm по api</a:t>
            </a:r>
          </a:p>
        </p:txBody>
      </p:sp>
      <p:sp>
        <p:nvSpPr>
          <p:cNvPr id="50" name="04">
            <a:extLst xmlns:a="http://schemas.openxmlformats.org/drawingml/2006/main">
              <a:ext uri="{FF2B5EF4-FFF2-40B4-BE49-F238E27FC236}">
                <a16:creationId xmlns:a16="http://schemas.microsoft.com/office/drawing/2014/main" id="{B69E5FD5-146B-487A-8982-CD006AB1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857250" cy="4572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21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51" name="Проект курса - что будем делать на практике">
            <a:extLst xmlns:a="http://schemas.openxmlformats.org/drawingml/2006/main">
              <a:ext uri="{FF2B5EF4-FFF2-40B4-BE49-F238E27FC236}">
                <a16:creationId xmlns:a16="http://schemas.microsoft.com/office/drawing/2014/main" id="{4B60B5BA-6F36-4503-87D7-3A3AD5BA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76750"/>
            <a:ext cx="8572500" cy="4572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2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Проект курса - что будем делать на практике</a:t>
            </a:r>
          </a:p>
        </p:txBody>
      </p:sp>
    </p:spTree>
    <p:extLst>
      <p:ext uri="{BB962C8B-B14F-4D97-AF65-F5344CB8AC3E}">
        <p14:creationId xmlns:p14="http://schemas.microsoft.com/office/powerpoint/2010/main" val="519903910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390BA5-D0D0-466F-A529-EBAD6D4C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Обзор основных игроков и ситуации в РФ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9EA9F-DB53-48BF-B48E-6B616464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7A9DB-97AF-482F-9111-E3F3D5B8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ДОСТУП ИЗ РОССИИ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2C422-47F9-4C71-A43B-FA0A5B94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435f7eb064682"/>
          <a:stretch xmlns:a="http://schemas.openxmlformats.org/drawingml/2006/main"/>
        </p:blipFill>
        <p:spPr>
          <a:xfrm xmlns:a="http://schemas.openxmlformats.org/drawingml/2006/main" flipH="0" flipV="0">
            <a:off x="1932613" y="1504950"/>
            <a:ext cx="8326773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791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7DDA3A-BC7D-4BBB-A8F1-FE8017B4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API-ключ</a:t>
            </a:r>
          </a:p>
        </p:txBody>
      </p:sp>
      <p:sp>
        <p:nvSpPr>
          <p:cNvPr id="65" name="Линия">
            <a:extLst xmlns:a="http://schemas.openxmlformats.org/drawingml/2006/main">
              <a:ext uri="{FF2B5EF4-FFF2-40B4-BE49-F238E27FC236}">
                <a16:creationId xmlns:a16="http://schemas.microsoft.com/office/drawing/2014/main" id="{84F601CB-3631-42DF-823B-868E9527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" name="ДОСТУП">
            <a:extLst xmlns:a="http://schemas.openxmlformats.org/drawingml/2006/main">
              <a:ext uri="{FF2B5EF4-FFF2-40B4-BE49-F238E27FC236}">
                <a16:creationId xmlns:a16="http://schemas.microsoft.com/office/drawing/2014/main" id="{18624969-6CE3-4213-B922-0B016018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ДОСТУП</a:t>
            </a:r>
          </a:p>
        </p:txBody>
      </p:sp>
      <p:sp>
        <p:nvSpPr>
          <p:cNvPr id="67" name="6">
            <a:extLst xmlns:a="http://schemas.openxmlformats.org/drawingml/2006/main">
              <a:ext uri="{FF2B5EF4-FFF2-40B4-BE49-F238E27FC236}">
                <a16:creationId xmlns:a16="http://schemas.microsoft.com/office/drawing/2014/main" id="{D1AD3D1C-CCB0-426C-9864-61A6DB4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</a:t>
            </a:r>
          </a:p>
        </p:txBody>
      </p:sp>
      <p:sp>
        <p:nvSpPr>
          <p:cNvPr id="68" name="Линия">
            <a:extLst xmlns:a="http://schemas.openxmlformats.org/drawingml/2006/main">
              <a:ext uri="{FF2B5EF4-FFF2-40B4-BE49-F238E27FC236}">
                <a16:creationId xmlns:a16="http://schemas.microsoft.com/office/drawing/2014/main" id="{1BCBBCFC-B440-4B0A-9E87-46E27E96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5999" y="1809750"/>
            <a:ext cx="1" cy="352425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" name="НЕ НАДО">
            <a:extLst xmlns:a="http://schemas.openxmlformats.org/drawingml/2006/main">
              <a:ext uri="{FF2B5EF4-FFF2-40B4-BE49-F238E27FC236}">
                <a16:creationId xmlns:a16="http://schemas.microsoft.com/office/drawing/2014/main" id="{840B03FB-69ED-4D0F-8453-8C28479B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НЕ НАДО</a:t>
            </a:r>
          </a:p>
        </p:txBody>
      </p:sp>
      <p:sp>
        <p:nvSpPr>
          <p:cNvPr id="70" name="api_key = &quot;sk-...&quot;…">
            <a:extLst xmlns:a="http://schemas.openxmlformats.org/drawingml/2006/main">
              <a:ext uri="{FF2B5EF4-FFF2-40B4-BE49-F238E27FC236}">
                <a16:creationId xmlns:a16="http://schemas.microsoft.com/office/drawing/2014/main" id="{C4653991-D89C-4720-82F3-5EB3D09F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api_key = "sk-..."</a:t>
            </a:r>
          </a:p>
          <a:p xmlns:a="http://schemas.openxmlformats.org/drawingml/2006/main">
            <a:pPr>
              <a:buNone/>
            </a:pPr>
            <a:endParaRPr sz="2100">
              <a:solidFill>
                <a:srgbClr val="161616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Git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чат с chatgpt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скриншот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frontend</a:t>
            </a:r>
            <a:br/>
            <a:r>
              <a:t>демонстрация экрана</a:t>
            </a:r>
            <a:br/>
            <a:r>
              <a:t>один долгоживущий api-key</a:t>
            </a:r>
          </a:p>
        </p:txBody>
      </p:sp>
      <p:sp>
        <p:nvSpPr>
          <p:cNvPr id="71" name="НОРМАЛЬНО">
            <a:extLst xmlns:a="http://schemas.openxmlformats.org/drawingml/2006/main">
              <a:ext uri="{FF2B5EF4-FFF2-40B4-BE49-F238E27FC236}">
                <a16:creationId xmlns:a16="http://schemas.microsoft.com/office/drawing/2014/main" id="{49731C93-BC70-45DA-A899-190B11AE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НОРМАЛЬНО</a:t>
            </a:r>
          </a:p>
        </p:txBody>
      </p:sp>
      <p:sp>
        <p:nvSpPr>
          <p:cNvPr id="72" name=".env…">
            <a:extLst xmlns:a="http://schemas.openxmlformats.org/drawingml/2006/main">
              <a:ext uri="{FF2B5EF4-FFF2-40B4-BE49-F238E27FC236}">
                <a16:creationId xmlns:a16="http://schemas.microsoft.com/office/drawing/2014/main" id="{752F1C88-10F6-46BA-856A-7E6DBB41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.env</a:t>
            </a:r>
          </a:p>
          <a:p xmlns:a="http://schemas.openxmlformats.org/drawingml/2006/main">
            <a:pPr>
              <a:buNone/>
            </a:pPr>
            <a:endParaRPr sz="2100">
              <a:solidFill>
                <a:srgbClr val="161616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отдельный project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лимит расходов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быстрая замена</a:t>
            </a:r>
          </a:p>
        </p:txBody>
      </p:sp>
    </p:spTree>
    <p:extLst>
      <p:ext uri="{BB962C8B-B14F-4D97-AF65-F5344CB8AC3E}">
        <p14:creationId xmlns:p14="http://schemas.microsoft.com/office/powerpoint/2010/main" val="1233382223"/>
      </p:ext>
    </p:extLst>
  </p:cSld>
</p:sld>
</file>

<file path=ppt/slides/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107DBF-E8A9-41FB-8DED-6E6DCC43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Хьюманизация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A60C4-9AB7-432E-9BFE-4FF3C8A6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C50D7-F117-4E23-90D8-3E78892B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ЧТО ТАКОЕ 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D011F-758E-406E-8E57-8152754D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ebae8c1ff4a41"/>
          <a:stretch xmlns:a="http://schemas.openxmlformats.org/drawingml/2006/main"/>
        </p:blipFill>
        <p:spPr>
          <a:xfrm xmlns:a="http://schemas.openxmlformats.org/drawingml/2006/main">
            <a:off x="1898765" y="1504950"/>
            <a:ext cx="8394471" cy="472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64870"/>
      </p:ext>
    </p:extLst>
  </p:cSld>
</p:sld>
</file>

<file path=ppt/slides/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06BFC6-8C77-4552-ACA1-DA01BC14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3044F-6281-4D17-9B4D-BF18251C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925DC-4712-4607-A6E5-4077AD9D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ЧТО ТАКОЕ 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9D3BD-4425-454E-B833-838A8788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FE164-124C-4AB9-BCDB-BC1125B7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2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“At the core, LLMs are simply models that predict the next word in a block of text.”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D64C4-307B-4188-8342-02C979A8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Berryman &amp; Ziegler, Prompt Engineering for LLMs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48C50-5EAF-4DB0-9F7C-ED87EAC7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577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Не «супермозг», а последовательный выбор продолжения.</a:t>
            </a:r>
          </a:p>
        </p:txBody>
      </p:sp>
    </p:spTree>
    <p:extLst>
      <p:ext uri="{BB962C8B-B14F-4D97-AF65-F5344CB8AC3E}">
        <p14:creationId xmlns:p14="http://schemas.microsoft.com/office/powerpoint/2010/main" val="536413700"/>
      </p:ext>
    </p:extLst>
  </p:cSld>
</p:sld>
</file>

<file path=ppt/slides/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7C6452-07A9-4AE8-BB4E-3C22069A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Слова начинают быть связаны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01F17-79C6-4FEC-8D75-49A3CF3C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62847-2669-41A1-9E7E-D1757EBA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ЧТО ТАКОЕ 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5DB4A-C645-4B6D-9CF4-4E6ACA22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56402B-4201-4F3C-AA7B-78867126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24075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D9"/>
          </a:solidFill>
          <a:ln xmlns:a="http://schemas.openxmlformats.org/drawingml/2006/main" w="0">
            <a:solidFill>
              <a:srgbClr val="2B59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BF4E3F-F7D7-4891-9721-B4832088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78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Повар нарезал помидоры ножом.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B1A536-712B-4172-A308-4A828CF0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527D97-A715-47FF-91E8-A38A0A52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67075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D9"/>
          </a:solidFill>
          <a:ln xmlns:a="http://schemas.openxmlformats.org/drawingml/2006/main" w="0">
            <a:solidFill>
              <a:srgbClr val="2B59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BAB428-3362-4601-A022-FEA9281D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Повар нарезал огурцы ножом.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AADCE2-9DCF-4B7E-BF3A-B6D239CA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624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7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80A430-0452-47B9-894D-A207AEE5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10075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9D9"/>
          </a:solidFill>
          <a:ln xmlns:a="http://schemas.openxmlformats.org/drawingml/2006/main" w="0">
            <a:solidFill>
              <a:srgbClr val="2B59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E31B24-472E-48EB-AE40-604F9AB5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Шеф нарезал помидоры кубиками.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A73E79-2682-42D2-A213-A64B7064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054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7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7874930"/>
      </p:ext>
    </p:extLst>
  </p:cSld>
</p:sld>
</file>

<file path=ppt/slides/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8B97A7-36DE-4749-B3A3-F7DA8740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После «Повар» идёт «нарезал»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E0DCE-F9D9-4350-915F-D6AF0C09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DEDC3-1897-4453-9402-84AA79B6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ЧТО ТАКОЕ 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A891D-1D1B-4B3B-A39E-4D95761C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4B480-3933-4BF4-949C-43D38B24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Повар 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B06BA-13FC-4BB0-946C-924EF910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в обоих предложениях продолжение одинаковое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DEB48-9A66-4556-AEB3-1F10B396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нарезал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3F3F7-BABF-433A-B033-FA80B786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00250"/>
            <a:ext cx="285750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711DF-3733-4C7A-A9AD-57EAFC99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00250"/>
            <a:ext cx="285750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16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D98D1-7975-424E-83BA-5A8056B2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526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2 из 2</a:t>
            </a:r>
          </a:p>
        </p:txBody>
      </p:sp>
    </p:spTree>
    <p:extLst>
      <p:ext uri="{BB962C8B-B14F-4D97-AF65-F5344CB8AC3E}">
        <p14:creationId xmlns:p14="http://schemas.microsoft.com/office/powerpoint/2010/main" val="578464016"/>
      </p:ext>
    </p:extLst>
  </p:cSld>
</p:sld>
</file>

<file path=ppt/slides/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E8A682-D0B1-4468-BE50-4720C662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Ответ собирается по одному токену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005C5-C5C6-460B-99F8-F5428EE8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75E28-DC1D-45F6-869C-2BF5DEE7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ЧТО ТАКОЕ 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9E5A2-8A19-4375-8F8D-4E00909B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B3559-F495-49F5-A840-41629550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3" y="2428875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457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D560E-6D3F-4F71-BDED-61067369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3" y="2524125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Повар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61736-D45A-446A-AFA9-013747E1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25717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2F555-3C45-4171-BAE4-1F1FE408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428875"/>
            <a:ext cx="1714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457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D9B32-DC97-4510-A8FB-89A19C1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52412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нарезал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DCE90-FA52-41F7-9384-4831DBF6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25717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5C627-0D5B-4E60-A059-54B42A73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663" y="2428875"/>
            <a:ext cx="195262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457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BFCFB-981F-4322-8DBD-9FFC9141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2524125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помидоры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5DD27-F3B9-4910-9BF6-E79DDA0B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338" y="25717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F015B-1469-413E-86DF-AC2A4FD2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2428875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4288">
            <a:solidFill>
              <a:srgbClr val="1684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0E5D4-F9C2-4569-A6BF-0F024B18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2524125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ножом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A3207-82F2-4459-9A3F-9A5BDC71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288" y="25717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73E3F-22D5-4D81-899C-75F58C0E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2428875"/>
            <a:ext cx="590550" cy="7048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457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65A82-0C2F-4A6C-8695-A2808CFB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88" y="2524125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19706-8C49-4023-9361-B4BF4493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Выбираем продолжение, добавляем его в контекст и повторяем.</a:t>
            </a:r>
          </a:p>
        </p:txBody>
      </p:sp>
    </p:spTree>
    <p:extLst>
      <p:ext uri="{BB962C8B-B14F-4D97-AF65-F5344CB8AC3E}">
        <p14:creationId xmlns:p14="http://schemas.microsoft.com/office/powerpoint/2010/main" val="395006111"/>
      </p:ext>
    </p:extLst>
  </p:cSld>
</p:sld>
</file>

<file path=ppt/slides/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29476F-932C-4C6F-B248-28499631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Каждый токен зависит от предыдущих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76847-71B9-430B-85C4-5A5EAA9E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A42F3-6CA6-4B58-82A7-B4284505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ЧТО ТАКОЕ 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ECDAE-68AD-432C-9F1B-CA5F716B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C47CD-E45D-4404-912B-18807BAD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5905500" cy="685800"/>
          </a:xfrm>
          <a:prstGeom xmlns:a="http://schemas.openxmlformats.org/drawingml/2006/main" prst="roundRect">
            <a:avLst>
              <a:gd name="adj" fmla="val 1944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E7E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79EF5-15AA-4275-B9E1-0B06DE5B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526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Повар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F1E69-9341-467D-93DE-EF32868D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240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30CDA-33B0-4696-9176-57A1B120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19300"/>
            <a:ext cx="2286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7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6D0E2-49F9-4155-9A33-E2B68B6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145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нарезал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D4121-E9E6-440E-A77C-445B4F55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5905500" cy="685800"/>
          </a:xfrm>
          <a:prstGeom xmlns:a="http://schemas.openxmlformats.org/drawingml/2006/main" prst="roundRect">
            <a:avLst>
              <a:gd name="adj" fmla="val 1944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E7E7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17D99-78CA-4CCD-A27E-85FA7554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Повар + нарезал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A22FD-BC65-4CB9-91BF-1FC53E95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480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86623-F383-437B-AFEA-7BBCA645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2286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7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68028-968E-40B6-914A-80A0C123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38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6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помидоры / огурцы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6ACF9-1CCD-47DE-AFD2-A4934D86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5905500" cy="685800"/>
          </a:xfrm>
          <a:prstGeom xmlns:a="http://schemas.openxmlformats.org/drawingml/2006/main" prst="roundRect">
            <a:avLst>
              <a:gd name="adj" fmla="val 1944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DCE9A-27C4-4965-9E47-6D123BFB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005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Повар + нарезал + помидоры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07E73-E5DC-4157-986B-C24239B4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719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C24AE-BBC3-47F2-A85F-829FE8D5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67200"/>
            <a:ext cx="2286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4288">
            <a:solidFill>
              <a:srgbClr val="1684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FFC37-EED5-4DAE-9CFE-211CEBA0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62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ножом</a:t>
            </a:r>
          </a:p>
        </p:txBody>
      </p:sp>
    </p:spTree>
    <p:extLst>
      <p:ext uri="{BB962C8B-B14F-4D97-AF65-F5344CB8AC3E}">
        <p14:creationId xmlns:p14="http://schemas.microsoft.com/office/powerpoint/2010/main" val="1229961684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AACAB3-074D-456E-AB17-D4107E5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Токены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F8CBA-78B2-4CB1-B719-C4AE56E5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56C94-5EEE-4CBC-9778-7873E1A8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БАЗОВЫЕ ТЕРМИНЫ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4D17C-4FB1-44A3-8624-8193C1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63FAC-147A-4866-B12C-B65BB7D2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D6B8A-C0C9-4DE6-9188-482F20A0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16845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6845B"/>
                </a:solidFill>
                <a:latin typeface="Arial"/>
                <a:ea typeface="Arial"/>
                <a:cs typeface="Arial"/>
              </a:rPr>
              <a:t>ВЫХОД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EB777-29AF-4FBF-BED8-D628F5D3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1219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457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42EED-29BB-4865-80AC-99A2F18F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1EDB5-1916-471E-9A65-AA15DAEF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28875"/>
            <a:ext cx="1066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457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7514F-88B6-4BB2-B2E7-0215C55C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24125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E3D60-1843-47FA-AE8B-22AFE9C1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13144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457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5E278-8CA7-451F-9895-1D59AB2E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2412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AAD76-068F-4F87-B875-742013A8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146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F182A-C218-4FC2-9E26-9B963D09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4312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616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A948F-5B65-432F-8835-7944736D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880C2-1127-4D7F-BA9E-3AE0571B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146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16845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6845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6C236-AB60-43EE-BA9E-DA644B89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1285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4288">
            <a:solidFill>
              <a:srgbClr val="1684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B774C-6D0A-4140-A82B-FA65817A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24125"/>
            <a:ext cx="109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ответ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E6203-A7DD-4DC8-A149-85BE5F08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28875"/>
            <a:ext cx="7810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4288">
            <a:solidFill>
              <a:srgbClr val="168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2FFAA-2519-4AB0-A2BD-B28C1114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5241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2AE15-81A8-438E-8BDD-B17507E2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28875"/>
            <a:ext cx="1257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4288">
            <a:solidFill>
              <a:srgbClr val="1684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AC34C-A594-400E-A347-86D3FA36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5241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частям</a:t>
            </a:r>
          </a:p>
        </p:txBody>
      </p:sp>
    </p:spTree>
    <p:extLst>
      <p:ext uri="{BB962C8B-B14F-4D97-AF65-F5344CB8AC3E}">
        <p14:creationId xmlns:p14="http://schemas.microsoft.com/office/powerpoint/2010/main" val="864672755"/>
      </p:ext>
    </p:extLst>
  </p:cSld>
</p:sld>
</file>

<file path=ppt/slides/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A9988A-60B2-4445-A574-17ADACD5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B3C04-460B-43A7-8040-13BE034A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2B3CB-9D54-4616-8FE9-7DB52B95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БАЗОВЫЕ ТЕРМИНЫ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68FF4-E24F-4D1E-89C3-AFF335E5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f8b450cc143fb"/>
          <a:stretch xmlns:a="http://schemas.openxmlformats.org/drawingml/2006/main"/>
        </p:blipFill>
        <p:spPr>
          <a:xfrm xmlns:a="http://schemas.openxmlformats.org/drawingml/2006/main">
            <a:off x="1898765" y="1504950"/>
            <a:ext cx="8394471" cy="472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64870"/>
      </p:ext>
    </p:extLst>
  </p:cSld>
</p:sld>
</file>

<file path=ppt/slides/slide1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998FE7-D3B7-468C-8473-6326BF1F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System и user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15FAD-FB02-485A-8AE6-C41AF0A0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4D5AD-AE17-4584-B640-49001535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БАЗОВЫЕ ТЕРМИНЫ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7015C-41E6-4CA8-8161-58E72B7E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23611-70A1-43AA-B8E8-EC0B4283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428875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457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BB5CC-058A-4F28-A182-9FFC9C10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0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system
роль и правила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F011B-8A9A-4922-9028-5ACE45AC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2428875" cy="723900"/>
          </a:xfrm>
          <a:prstGeom xmlns:a="http://schemas.openxmlformats.org/drawingml/2006/main" prst="roundRect">
            <a:avLst>
              <a:gd name="adj" fmla="val 1578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457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596BF-B754-4841-9672-2AE9C539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0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user
задача и данные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F56CF-7A88-42F6-A23F-61A134B6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17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F5D02-2434-49FA-8CB1-3FAB8453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2714625" cy="17145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20955">
            <a:solidFill>
              <a:srgbClr val="2457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4AD3E-43A7-4464-9416-371228B5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FA53C-E227-4D95-BDB8-3370746F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system + user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1515"/>
                </a:solidFill>
                <a:latin typeface="Arial"/>
                <a:ea typeface="Arial"/>
                <a:cs typeface="Arial"/>
              </a:rPr>
              <a:t>+ chat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2C5DA-6AA8-437D-A38B-2607B83B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6E544-6FF4-4AEE-ACE5-9CEA9277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616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5426C-7E5D-43AF-8EEB-C53A5A29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C9ABC-1B6D-4EE2-AE3F-AA15BD52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2000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4288">
            <a:solidFill>
              <a:srgbClr val="D08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4BB4B-196F-496F-AA0E-7B9EA49E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67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параметры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8D2BA-239F-44B0-8123-10565788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300" b="1" i="0">
                <a:solidFill>
                  <a:srgbClr val="D08A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D08A00"/>
                </a:solidFill>
                <a:latin typeface="Arial"/>
                <a:ea typeface="Arial"/>
                <a:cs typeface="Arial"/>
              </a:rPr>
              <a:t>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46647-AA00-4683-A46F-B74A7A2A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816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temperature · max tokens · reasoning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41B0F-CCC5-4BF2-858C-B5BD36B5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95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2B59D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B59D9"/>
                </a:solidFill>
                <a:latin typeface="Arial"/>
                <a:ea typeface="Arial"/>
                <a:cs typeface="Arial"/>
              </a:rPr>
              <a:t>chat history досылаем через API</a:t>
            </a:r>
          </a:p>
        </p:txBody>
      </p:sp>
    </p:spTree>
    <p:extLst>
      <p:ext uri="{BB962C8B-B14F-4D97-AF65-F5344CB8AC3E}">
        <p14:creationId xmlns:p14="http://schemas.microsoft.com/office/powerpoint/2010/main" val="1339692123"/>
      </p:ext>
    </p:extLst>
  </p:cSld>
</p:sld>
</file>

<file path=ppt/slides/slide1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657E4E-97B8-45A8-A786-9110E80B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Temperature</a:t>
            </a:r>
          </a:p>
        </p:txBody>
      </p:sp>
      <p:sp>
        <p:nvSpPr>
          <p:cNvPr id="214" name="Линия">
            <a:extLst xmlns:a="http://schemas.openxmlformats.org/drawingml/2006/main">
              <a:ext uri="{FF2B5EF4-FFF2-40B4-BE49-F238E27FC236}">
                <a16:creationId xmlns:a16="http://schemas.microsoft.com/office/drawing/2014/main" id="{CDB5B9A2-C21F-418A-9C52-43D96A3E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5" name="БАЗОВЫЕ ТЕРМИНЫ">
            <a:extLst xmlns:a="http://schemas.openxmlformats.org/drawingml/2006/main">
              <a:ext uri="{FF2B5EF4-FFF2-40B4-BE49-F238E27FC236}">
                <a16:creationId xmlns:a16="http://schemas.microsoft.com/office/drawing/2014/main" id="{63504EF1-E498-4B3C-B1B4-67A70C1F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БАЗОВЫЕ ТЕРМИНЫ</a:t>
            </a:r>
          </a:p>
        </p:txBody>
      </p:sp>
      <p:sp>
        <p:nvSpPr>
          <p:cNvPr id="216" name="16">
            <a:extLst xmlns:a="http://schemas.openxmlformats.org/drawingml/2006/main">
              <a:ext uri="{FF2B5EF4-FFF2-40B4-BE49-F238E27FC236}">
                <a16:creationId xmlns:a16="http://schemas.microsoft.com/office/drawing/2014/main" id="{0B41E8B6-5863-4A57-A2D3-0D9E8574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15</a:t>
            </a:r>
          </a:p>
        </p:txBody>
      </p:sp>
      <p:sp>
        <p:nvSpPr>
          <p:cNvPr id="217" name="Линия">
            <a:extLst xmlns:a="http://schemas.openxmlformats.org/drawingml/2006/main">
              <a:ext uri="{FF2B5EF4-FFF2-40B4-BE49-F238E27FC236}">
                <a16:creationId xmlns:a16="http://schemas.microsoft.com/office/drawing/2014/main" id="{52856BB7-2BDE-4745-8354-8FBFF078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5999" y="1809750"/>
            <a:ext cx="1" cy="352425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8" name="НИЖЕ">
            <a:extLst xmlns:a="http://schemas.openxmlformats.org/drawingml/2006/main">
              <a:ext uri="{FF2B5EF4-FFF2-40B4-BE49-F238E27FC236}">
                <a16:creationId xmlns:a16="http://schemas.microsoft.com/office/drawing/2014/main" id="{58203B45-B3CA-4E0A-9FA8-934E3A16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НИЖЕ</a:t>
            </a:r>
          </a:p>
        </p:txBody>
      </p:sp>
      <p:sp>
        <p:nvSpPr>
          <p:cNvPr id="219" name="Чаще выбирается лидер…">
            <a:extLst xmlns:a="http://schemas.openxmlformats.org/drawingml/2006/main">
              <a:ext uri="{FF2B5EF4-FFF2-40B4-BE49-F238E27FC236}">
                <a16:creationId xmlns:a16="http://schemas.microsoft.com/office/drawing/2014/main" id="{68E9A395-9147-4172-B36E-481D12CB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Чаще выбирается лидер</a:t>
            </a:r>
          </a:p>
          <a:p xmlns:a="http://schemas.openxmlformats.org/drawingml/2006/main">
            <a:pPr>
              <a:buNone/>
            </a:pPr>
            <a:endParaRPr sz="1900">
              <a:solidFill>
                <a:srgbClr val="161616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9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Ответы обычно стабильнее</a:t>
            </a:r>
          </a:p>
          <a:p xmlns:a="http://schemas.openxmlformats.org/drawingml/2006/main">
            <a:pPr>
              <a:buNone/>
            </a:pPr>
            <a:endParaRPr sz="1900">
              <a:solidFill>
                <a:srgbClr val="161616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9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Удобно для извлечения и кода</a:t>
            </a:r>
          </a:p>
        </p:txBody>
      </p:sp>
      <p:sp>
        <p:nvSpPr>
          <p:cNvPr id="220" name="ВЫШЕ">
            <a:extLst xmlns:a="http://schemas.openxmlformats.org/drawingml/2006/main">
              <a:ext uri="{FF2B5EF4-FFF2-40B4-BE49-F238E27FC236}">
                <a16:creationId xmlns:a16="http://schemas.microsoft.com/office/drawing/2014/main" id="{56EA7773-130C-4DC3-AAD5-9AB33C20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E3A00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ВЫШЕ</a:t>
            </a:r>
          </a:p>
        </p:txBody>
      </p:sp>
      <p:sp>
        <p:nvSpPr>
          <p:cNvPr id="221" name="Чаще выбираются альтернативы…">
            <a:extLst xmlns:a="http://schemas.openxmlformats.org/drawingml/2006/main">
              <a:ext uri="{FF2B5EF4-FFF2-40B4-BE49-F238E27FC236}">
                <a16:creationId xmlns:a16="http://schemas.microsoft.com/office/drawing/2014/main" id="{58C5BDF6-C66B-470D-8F12-40157813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Чаще выбираются альтернативы</a:t>
            </a:r>
          </a:p>
          <a:p xmlns:a="http://schemas.openxmlformats.org/drawingml/2006/main">
            <a:pPr>
              <a:buNone/>
            </a:pPr>
            <a:endParaRPr sz="1900">
              <a:solidFill>
                <a:srgbClr val="161616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9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Больше вариативности</a:t>
            </a:r>
          </a:p>
          <a:p xmlns:a="http://schemas.openxmlformats.org/drawingml/2006/main">
            <a:pPr>
              <a:buNone/>
            </a:pPr>
            <a:endParaRPr sz="1900">
              <a:solidFill>
                <a:srgbClr val="161616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9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Полезно для идей</a:t>
            </a:r>
          </a:p>
        </p:txBody>
      </p:sp>
    </p:spTree>
    <p:extLst>
      <p:ext uri="{BB962C8B-B14F-4D97-AF65-F5344CB8AC3E}">
        <p14:creationId xmlns:p14="http://schemas.microsoft.com/office/powerpoint/2010/main" val="1467502485"/>
      </p:ext>
    </p:extLst>
  </p:cSld>
</p:sld>
</file>

<file path=ppt/slides/slide1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20F910-CC19-4D12-BF33-54373595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Reasoning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8DEC1-B177-4628-8323-549EFF03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1F8A0-3209-4882-BBE8-C41F8077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БАЗОВЫЕ ТЕРМИНЫ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6457C-9054-41D4-887F-C3A7A426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a6b217509455f"/>
          <a:srcRect xmlns:a="http://schemas.openxmlformats.org/drawingml/2006/main" l="0" t="16372" r="0" b="163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108204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A57C3-A1B2-49A9-8761-7912435F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95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Модель делает промежуточные шаги перед финальным ответом.</a:t>
            </a:r>
          </a:p>
        </p:txBody>
      </p:sp>
    </p:spTree>
    <p:extLst>
      <p:ext uri="{BB962C8B-B14F-4D97-AF65-F5344CB8AC3E}">
        <p14:creationId xmlns:p14="http://schemas.microsoft.com/office/powerpoint/2010/main" val="1302864870"/>
      </p:ext>
    </p:extLst>
  </p:cSld>
</p:sld>
</file>

<file path=ppt/slides/slide1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0C76E0-054C-4D96-82FF-EC136870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Reasoning effort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F2C67-A919-4AE9-8796-A2E95D81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567EB-1AC1-43FE-B64D-A275B1F0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БАЗОВЫЕ ТЕРМИНЫ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2243E-EADC-472C-AFF8-3BCE10AE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4CFCB-2662-4442-879E-3BCE9143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19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326AF-CBB4-4A79-988E-97277F0C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05000"/>
            <a:ext cx="2381250" cy="647700"/>
          </a:xfrm>
          <a:prstGeom xmlns:a="http://schemas.openxmlformats.org/drawingml/2006/main" prst="roundRect">
            <a:avLst>
              <a:gd name="adj" fmla="val 17647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E7E7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8BDCA-2E89-4EE9-BEEB-151CE63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00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5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быстрее</a:t>
            </a:r>
          </a:p>
          <a:p xmlns:a="http://schemas.openxmlformats.org/drawingml/2006/main">
            <a:pPr algn="r">
              <a:lnSpc>
                <a:spcPct val="108000"/>
              </a:lnSpc>
              <a:buNone/>
              <a:defRPr sz="1575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дешевле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C22CE-B92B-4F39-B4E8-F197FA64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194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57D6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148FF-C5AA-4276-A10C-B15AD176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4953000" cy="647700"/>
          </a:xfrm>
          <a:prstGeom xmlns:a="http://schemas.openxmlformats.org/drawingml/2006/main" prst="roundRect">
            <a:avLst>
              <a:gd name="adj" fmla="val 1764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DB5B1-B467-4FFD-88E8-62590EE5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003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5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баланс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16437-56ED-44E3-81D1-340E5616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95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HIGH / MAX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DBDDE-9ED5-4E1B-9284-2BCE9DEE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8191500" cy="647700"/>
          </a:xfrm>
          <a:prstGeom xmlns:a="http://schemas.openxmlformats.org/drawingml/2006/main" prst="roundRect">
            <a:avLst>
              <a:gd name="adj" fmla="val 17647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A8B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5EB7C-67B2-4D29-B3BF-38F217A0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005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1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5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дольше</a:t>
            </a:r>
          </a:p>
          <a:p xmlns:a="http://schemas.openxmlformats.org/drawingml/2006/main">
            <a:pPr algn="r">
              <a:lnSpc>
                <a:spcPct val="108000"/>
              </a:lnSpc>
              <a:buNone/>
              <a:defRPr sz="1575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дороже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685E5-00AC-45DC-A9C0-1B2F28B6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Больше reasoning обычно означает больше времени и токенов. Пользу проверяем на своих задачах.</a:t>
            </a:r>
          </a:p>
        </p:txBody>
      </p:sp>
    </p:spTree>
    <p:extLst>
      <p:ext uri="{BB962C8B-B14F-4D97-AF65-F5344CB8AC3E}">
        <p14:creationId xmlns:p14="http://schemas.microsoft.com/office/powerpoint/2010/main" val="744502924"/>
      </p:ext>
    </p:extLst>
  </p:cSld>
</p:sld>
</file>

<file path=ppt/slides/slide1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761815-11D8-44A9-8618-AB6E01EB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Мультимодальность</a:t>
            </a:r>
          </a:p>
        </p:txBody>
      </p:sp>
      <p:sp>
        <p:nvSpPr>
          <p:cNvPr id="243" name="Линия">
            <a:extLst xmlns:a="http://schemas.openxmlformats.org/drawingml/2006/main">
              <a:ext uri="{FF2B5EF4-FFF2-40B4-BE49-F238E27FC236}">
                <a16:creationId xmlns:a16="http://schemas.microsoft.com/office/drawing/2014/main" id="{0FC5DE05-0873-4206-8E84-E2E805EE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4" name="БАЗОВЫЕ ТЕРМИНЫ">
            <a:extLst xmlns:a="http://schemas.openxmlformats.org/drawingml/2006/main">
              <a:ext uri="{FF2B5EF4-FFF2-40B4-BE49-F238E27FC236}">
                <a16:creationId xmlns:a16="http://schemas.microsoft.com/office/drawing/2014/main" id="{44887F45-A11A-45C0-AE1E-A4955650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БАЗОВЫЕ ТЕРМИНЫ</a:t>
            </a:r>
          </a:p>
        </p:txBody>
      </p:sp>
      <p:sp>
        <p:nvSpPr>
          <p:cNvPr id="245" name="18">
            <a:extLst xmlns:a="http://schemas.openxmlformats.org/drawingml/2006/main">
              <a:ext uri="{FF2B5EF4-FFF2-40B4-BE49-F238E27FC236}">
                <a16:creationId xmlns:a16="http://schemas.microsoft.com/office/drawing/2014/main" id="{EF4D2E41-71D5-465C-A472-52EECC75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18</a:t>
            </a:r>
          </a:p>
        </p:txBody>
      </p:sp>
      <p:sp>
        <p:nvSpPr>
          <p:cNvPr id="246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57716C2A-2D93-406C-9E41-68F18FBB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952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7" name="текст">
            <a:extLst xmlns:a="http://schemas.openxmlformats.org/drawingml/2006/main">
              <a:ext uri="{FF2B5EF4-FFF2-40B4-BE49-F238E27FC236}">
                <a16:creationId xmlns:a16="http://schemas.microsoft.com/office/drawing/2014/main" id="{C92343C8-0D9D-49D4-B4D9-53073D2C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724025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текст</a:t>
            </a:r>
          </a:p>
        </p:txBody>
      </p:sp>
      <p:sp>
        <p:nvSpPr>
          <p:cNvPr id="248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CD11777E-B332-49CC-A769-CC6D6C2B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43125"/>
            <a:ext cx="1952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A00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9" name="изображение">
            <a:extLst xmlns:a="http://schemas.openxmlformats.org/drawingml/2006/main">
              <a:ext uri="{FF2B5EF4-FFF2-40B4-BE49-F238E27FC236}">
                <a16:creationId xmlns:a16="http://schemas.microsoft.com/office/drawing/2014/main" id="{7E239048-11F6-4DBC-9EE9-3867A9D0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43150"/>
            <a:ext cx="1724025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изображение</a:t>
            </a:r>
          </a:p>
        </p:txBody>
      </p:sp>
      <p:sp>
        <p:nvSpPr>
          <p:cNvPr id="250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A8D14D32-EB57-442F-9F87-EFF04F00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43125"/>
            <a:ext cx="1952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1" name="PDF">
            <a:extLst xmlns:a="http://schemas.openxmlformats.org/drawingml/2006/main">
              <a:ext uri="{FF2B5EF4-FFF2-40B4-BE49-F238E27FC236}">
                <a16:creationId xmlns:a16="http://schemas.microsoft.com/office/drawing/2014/main" id="{BA8F6A75-539C-4DCB-95C0-20F818CA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43150"/>
            <a:ext cx="1724025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PDF</a:t>
            </a:r>
          </a:p>
        </p:txBody>
      </p:sp>
      <p:sp>
        <p:nvSpPr>
          <p:cNvPr id="252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2F86018D-86B3-47F9-BFE7-3BE3D452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1952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A00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3" name="аудио">
            <a:extLst xmlns:a="http://schemas.openxmlformats.org/drawingml/2006/main">
              <a:ext uri="{FF2B5EF4-FFF2-40B4-BE49-F238E27FC236}">
                <a16:creationId xmlns:a16="http://schemas.microsoft.com/office/drawing/2014/main" id="{2EB257D8-9BB2-4D34-A0BE-7315971D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343150"/>
            <a:ext cx="1724025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аудио</a:t>
            </a:r>
          </a:p>
        </p:txBody>
      </p:sp>
      <p:sp>
        <p:nvSpPr>
          <p:cNvPr id="254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C2F1ECF6-E73C-4159-BF29-58E13147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43125"/>
            <a:ext cx="1952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5" name="видео / экран">
            <a:extLst xmlns:a="http://schemas.openxmlformats.org/drawingml/2006/main">
              <a:ext uri="{FF2B5EF4-FFF2-40B4-BE49-F238E27FC236}">
                <a16:creationId xmlns:a16="http://schemas.microsoft.com/office/drawing/2014/main" id="{29EF5C5F-FBCA-4FD5-A653-8D1CD1C9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43150"/>
            <a:ext cx="1724025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видео / экран</a:t>
            </a:r>
          </a:p>
        </p:txBody>
      </p:sp>
      <p:sp>
        <p:nvSpPr>
          <p:cNvPr id="256" name="Модель может принимать разные типы контента.…">
            <a:extLst xmlns:a="http://schemas.openxmlformats.org/drawingml/2006/main">
              <a:ext uri="{FF2B5EF4-FFF2-40B4-BE49-F238E27FC236}">
                <a16:creationId xmlns:a16="http://schemas.microsoft.com/office/drawing/2014/main" id="{F4C8E519-DD38-4B17-BB60-924C1A2A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87630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Модель может принимать разные типы контента.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Точность всё равно проверяем на своей задаче.</a:t>
            </a:r>
          </a:p>
        </p:txBody>
      </p:sp>
    </p:spTree>
    <p:extLst>
      <p:ext uri="{BB962C8B-B14F-4D97-AF65-F5344CB8AC3E}">
        <p14:creationId xmlns:p14="http://schemas.microsoft.com/office/powerpoint/2010/main" val="1898065324"/>
      </p:ext>
    </p:extLst>
  </p:cSld>
</p:sld>
</file>

<file path=ppt/slides/slide1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A9988A-60B2-4445-A574-17ADACD5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Галлюцинации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B3C04-460B-43A7-8040-13BE034A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2B3CB-9D54-4616-8FE9-7DB52B95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БАЗОВЫЕ ТЕРМИНЫ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68FF4-E24F-4D1E-89C3-AFF335E5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da7b2b2ba46b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898765" y="1504950"/>
            <a:ext cx="8394471" cy="472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64870"/>
      </p:ext>
    </p:extLst>
  </p:cSld>
</p:sld>
</file>

<file path=ppt/slides/slide2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27507B-6C95-464D-88A5-12613C21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Галлюцинации</a:t>
            </a:r>
          </a:p>
        </p:txBody>
      </p:sp>
      <p:sp>
        <p:nvSpPr>
          <p:cNvPr id="261" name="Линия">
            <a:extLst xmlns:a="http://schemas.openxmlformats.org/drawingml/2006/main">
              <a:ext uri="{FF2B5EF4-FFF2-40B4-BE49-F238E27FC236}">
                <a16:creationId xmlns:a16="http://schemas.microsoft.com/office/drawing/2014/main" id="{E4E2AF8E-DE5E-4D6C-A8FB-D0434685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2" name="БАЗОВЫЕ ТЕРМИНЫ">
            <a:extLst xmlns:a="http://schemas.openxmlformats.org/drawingml/2006/main">
              <a:ext uri="{FF2B5EF4-FFF2-40B4-BE49-F238E27FC236}">
                <a16:creationId xmlns:a16="http://schemas.microsoft.com/office/drawing/2014/main" id="{D77123B3-7756-4846-9357-34E4890D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БАЗОВЫЕ ТЕРМИНЫ</a:t>
            </a:r>
          </a:p>
        </p:txBody>
      </p:sp>
      <p:sp>
        <p:nvSpPr>
          <p:cNvPr id="263" name="19">
            <a:extLst xmlns:a="http://schemas.openxmlformats.org/drawingml/2006/main">
              <a:ext uri="{FF2B5EF4-FFF2-40B4-BE49-F238E27FC236}">
                <a16:creationId xmlns:a16="http://schemas.microsoft.com/office/drawing/2014/main" id="{C2577F07-039A-4359-A45E-EEFEADC1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20</a:t>
            </a:r>
          </a:p>
        </p:txBody>
      </p:sp>
      <p:sp>
        <p:nvSpPr>
          <p:cNvPr id="264" name="Линия">
            <a:extLst xmlns:a="http://schemas.openxmlformats.org/drawingml/2006/main">
              <a:ext uri="{FF2B5EF4-FFF2-40B4-BE49-F238E27FC236}">
                <a16:creationId xmlns:a16="http://schemas.microsoft.com/office/drawing/2014/main" id="{30522E41-6F58-41E9-A8F6-CACB88C5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5999" y="1809750"/>
            <a:ext cx="1" cy="352425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5" name="ПРАВДОПОДОБНО">
            <a:extLst xmlns:a="http://schemas.openxmlformats.org/drawingml/2006/main">
              <a:ext uri="{FF2B5EF4-FFF2-40B4-BE49-F238E27FC236}">
                <a16:creationId xmlns:a16="http://schemas.microsoft.com/office/drawing/2014/main" id="{E8FE8B07-71E0-4FCA-97CF-1658B752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ПРАВДОПОДОБНО</a:t>
            </a:r>
          </a:p>
        </p:txBody>
      </p:sp>
      <p:sp>
        <p:nvSpPr>
          <p:cNvPr id="266" name="Гладкий текст…">
            <a:extLst xmlns:a="http://schemas.openxmlformats.org/drawingml/2006/main">
              <a:ext uri="{FF2B5EF4-FFF2-40B4-BE49-F238E27FC236}">
                <a16:creationId xmlns:a16="http://schemas.microsoft.com/office/drawing/2014/main" id="{0D4B0965-57A3-42E6-889E-28DB28C1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Гладкий текст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уверенный тон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конкретные детали</a:t>
            </a:r>
          </a:p>
        </p:txBody>
      </p:sp>
      <p:sp>
        <p:nvSpPr>
          <p:cNvPr id="267" name="ПРОВЕРЯЕМО">
            <a:extLst xmlns:a="http://schemas.openxmlformats.org/drawingml/2006/main">
              <a:ext uri="{FF2B5EF4-FFF2-40B4-BE49-F238E27FC236}">
                <a16:creationId xmlns:a16="http://schemas.microsoft.com/office/drawing/2014/main" id="{04C18DAF-9FD6-4235-93B2-CEFCEDA0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ПРОВЕРЯЕМО</a:t>
            </a:r>
          </a:p>
        </p:txBody>
      </p:sp>
      <p:sp>
        <p:nvSpPr>
          <p:cNvPr id="268" name="источники…">
            <a:extLst xmlns:a="http://schemas.openxmlformats.org/drawingml/2006/main">
              <a:ext uri="{FF2B5EF4-FFF2-40B4-BE49-F238E27FC236}">
                <a16:creationId xmlns:a16="http://schemas.microsoft.com/office/drawing/2014/main" id="{E95EA7D9-33E8-488D-AABD-09481EE8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источники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инструменты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тесты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бизнес-правила</a:t>
            </a:r>
          </a:p>
        </p:txBody>
      </p:sp>
      <p:sp>
        <p:nvSpPr>
          <p:cNvPr id="269" name="Просьба «не выдумывай» не заменяет проверку.">
            <a:extLst xmlns:a="http://schemas.openxmlformats.org/drawingml/2006/main">
              <a:ext uri="{FF2B5EF4-FFF2-40B4-BE49-F238E27FC236}">
                <a16:creationId xmlns:a16="http://schemas.microsoft.com/office/drawing/2014/main" id="{B4471D8C-1F9B-4845-9CFD-669C58F8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438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9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Просьба «не выдумывай» не заменяет проверку.</a:t>
            </a:r>
          </a:p>
        </p:txBody>
      </p:sp>
    </p:spTree>
    <p:extLst>
      <p:ext uri="{BB962C8B-B14F-4D97-AF65-F5344CB8AC3E}">
        <p14:creationId xmlns:p14="http://schemas.microsoft.com/office/powerpoint/2010/main" val="1829581614"/>
      </p:ext>
    </p:extLst>
  </p:cSld>
</p:sld>
</file>

<file path=ppt/slides/slide2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8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657BFA79-ABB0-4C07-9336-A0885B9B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D6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C0FB24-A521-418C-8010-73EDD765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52550"/>
            <a:ext cx="9715500" cy="1619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4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Но как понять,
что это работает?</a:t>
            </a:r>
          </a:p>
        </p:txBody>
      </p:sp>
      <p:sp>
        <p:nvSpPr>
          <p:cNvPr id="511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89E449BA-C082-4B09-8B71-D1F6AF8E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БАЗОВЫЕ ТЕРМИНЫ</a:t>
            </a:r>
          </a:p>
        </p:txBody>
      </p:sp>
      <p:sp>
        <p:nvSpPr>
          <p:cNvPr id="512" name="37">
            <a:extLst xmlns:a="http://schemas.openxmlformats.org/drawingml/2006/main">
              <a:ext uri="{FF2B5EF4-FFF2-40B4-BE49-F238E27FC236}">
                <a16:creationId xmlns:a16="http://schemas.microsoft.com/office/drawing/2014/main" id="{18EC29FF-C45C-46D1-A0F2-C57E6275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58329133"/>
      </p:ext>
    </p:extLst>
  </p:cSld>
</p:sld>
</file>

<file path=ppt/slides/slide2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2E5E93-62F8-48CA-B5A4-9298DCCF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Что измеряем в production</a:t>
            </a:r>
          </a:p>
        </p:txBody>
      </p:sp>
      <p:sp>
        <p:nvSpPr>
          <p:cNvPr id="274" name="Линия">
            <a:extLst xmlns:a="http://schemas.openxmlformats.org/drawingml/2006/main">
              <a:ext uri="{FF2B5EF4-FFF2-40B4-BE49-F238E27FC236}">
                <a16:creationId xmlns:a16="http://schemas.microsoft.com/office/drawing/2014/main" id="{EC90EB85-80E9-4629-8707-D887B6F5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5" name="БАЗОВЫЕ ТЕРМИНЫ">
            <a:extLst xmlns:a="http://schemas.openxmlformats.org/drawingml/2006/main">
              <a:ext uri="{FF2B5EF4-FFF2-40B4-BE49-F238E27FC236}">
                <a16:creationId xmlns:a16="http://schemas.microsoft.com/office/drawing/2014/main" id="{5990C76A-6198-45A7-948B-2698E4BC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БАЗОВЫЕ ТЕРМИНЫ</a:t>
            </a:r>
          </a:p>
        </p:txBody>
      </p:sp>
      <p:sp>
        <p:nvSpPr>
          <p:cNvPr id="276" name="20">
            <a:extLst xmlns:a="http://schemas.openxmlformats.org/drawingml/2006/main">
              <a:ext uri="{FF2B5EF4-FFF2-40B4-BE49-F238E27FC236}">
                <a16:creationId xmlns:a16="http://schemas.microsoft.com/office/drawing/2014/main" id="{72D58859-E4F2-44F4-9B08-D0A8F866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22</a:t>
            </a:r>
          </a:p>
        </p:txBody>
      </p:sp>
      <p:sp>
        <p:nvSpPr>
          <p:cNvPr id="277" name="PASS RATE">
            <a:extLst xmlns:a="http://schemas.openxmlformats.org/drawingml/2006/main">
              <a:ext uri="{FF2B5EF4-FFF2-40B4-BE49-F238E27FC236}">
                <a16:creationId xmlns:a16="http://schemas.microsoft.com/office/drawing/2014/main" id="{8A354E07-A814-401F-9C32-9CEC72E5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PASS RATE</a:t>
            </a:r>
          </a:p>
        </p:txBody>
      </p:sp>
      <p:sp>
        <p:nvSpPr>
          <p:cNvPr id="278" name="прошла ли задача">
            <a:extLst xmlns:a="http://schemas.openxmlformats.org/drawingml/2006/main">
              <a:ext uri="{FF2B5EF4-FFF2-40B4-BE49-F238E27FC236}">
                <a16:creationId xmlns:a16="http://schemas.microsoft.com/office/drawing/2014/main" id="{A55EA90B-5AEA-4721-BACE-A9D9E713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7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прошла ли задача</a:t>
            </a:r>
          </a:p>
        </p:txBody>
      </p:sp>
      <p:sp>
        <p:nvSpPr>
          <p:cNvPr id="279" name="TOKENS">
            <a:extLst xmlns:a="http://schemas.openxmlformats.org/drawingml/2006/main">
              <a:ext uri="{FF2B5EF4-FFF2-40B4-BE49-F238E27FC236}">
                <a16:creationId xmlns:a16="http://schemas.microsoft.com/office/drawing/2014/main" id="{1950B531-53F0-458F-BE54-EB9A1579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1432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TOKENS</a:t>
            </a:r>
          </a:p>
        </p:txBody>
      </p:sp>
      <p:sp>
        <p:nvSpPr>
          <p:cNvPr id="280" name="сколько входа и выхода">
            <a:extLst xmlns:a="http://schemas.openxmlformats.org/drawingml/2006/main">
              <a:ext uri="{FF2B5EF4-FFF2-40B4-BE49-F238E27FC236}">
                <a16:creationId xmlns:a16="http://schemas.microsoft.com/office/drawing/2014/main" id="{E8729C21-9FC9-410E-AF99-7A73B0DB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7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сколько входа и выхода</a:t>
            </a:r>
          </a:p>
        </p:txBody>
      </p:sp>
      <p:sp>
        <p:nvSpPr>
          <p:cNvPr id="281" name="TTFT">
            <a:extLst xmlns:a="http://schemas.openxmlformats.org/drawingml/2006/main">
              <a:ext uri="{FF2B5EF4-FFF2-40B4-BE49-F238E27FC236}">
                <a16:creationId xmlns:a16="http://schemas.microsoft.com/office/drawing/2014/main" id="{581EC700-C4EF-4E9F-B98E-5973FE6C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1432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TTFT</a:t>
            </a:r>
          </a:p>
        </p:txBody>
      </p:sp>
      <p:sp>
        <p:nvSpPr>
          <p:cNvPr id="282" name="когда пришёл первый фрагмент">
            <a:extLst xmlns:a="http://schemas.openxmlformats.org/drawingml/2006/main">
              <a:ext uri="{FF2B5EF4-FFF2-40B4-BE49-F238E27FC236}">
                <a16:creationId xmlns:a16="http://schemas.microsoft.com/office/drawing/2014/main" id="{AEFAAC68-2214-4FAF-BDD2-E67229F4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когда пришёл первый фрагмент</a:t>
            </a:r>
          </a:p>
        </p:txBody>
      </p:sp>
      <p:sp>
        <p:nvSpPr>
          <p:cNvPr id="283" name="LATENCY">
            <a:extLst xmlns:a="http://schemas.openxmlformats.org/drawingml/2006/main">
              <a:ext uri="{FF2B5EF4-FFF2-40B4-BE49-F238E27FC236}">
                <a16:creationId xmlns:a16="http://schemas.microsoft.com/office/drawing/2014/main" id="{5E07168B-3264-4BC5-8BD3-D93FCA2B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1432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LATENCY</a:t>
            </a:r>
          </a:p>
        </p:txBody>
      </p:sp>
      <p:sp>
        <p:nvSpPr>
          <p:cNvPr id="284" name="сколько ждали целиком">
            <a:extLst xmlns:a="http://schemas.openxmlformats.org/drawingml/2006/main">
              <a:ext uri="{FF2B5EF4-FFF2-40B4-BE49-F238E27FC236}">
                <a16:creationId xmlns:a16="http://schemas.microsoft.com/office/drawing/2014/main" id="{DF82B00D-7695-4DD3-A039-1955609A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7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сколько ждали целиком</a:t>
            </a:r>
          </a:p>
        </p:txBody>
      </p:sp>
      <p:sp>
        <p:nvSpPr>
          <p:cNvPr id="285" name="COST">
            <a:extLst xmlns:a="http://schemas.openxmlformats.org/drawingml/2006/main">
              <a:ext uri="{FF2B5EF4-FFF2-40B4-BE49-F238E27FC236}">
                <a16:creationId xmlns:a16="http://schemas.microsoft.com/office/drawing/2014/main" id="{212000AC-E7F7-48BC-9F6E-7C0F6039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31432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COST</a:t>
            </a:r>
          </a:p>
        </p:txBody>
      </p:sp>
      <p:sp>
        <p:nvSpPr>
          <p:cNvPr id="286" name="сколько стоит задача">
            <a:extLst xmlns:a="http://schemas.openxmlformats.org/drawingml/2006/main">
              <a:ext uri="{FF2B5EF4-FFF2-40B4-BE49-F238E27FC236}">
                <a16:creationId xmlns:a16="http://schemas.microsoft.com/office/drawing/2014/main" id="{7006CD89-BD18-4C63-B297-E398A28B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7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сколько стоит задача</a:t>
            </a:r>
          </a:p>
        </p:txBody>
      </p:sp>
      <p:sp>
        <p:nvSpPr>
          <p:cNvPr id="287" name="ERRORS">
            <a:extLst xmlns:a="http://schemas.openxmlformats.org/drawingml/2006/main">
              <a:ext uri="{FF2B5EF4-FFF2-40B4-BE49-F238E27FC236}">
                <a16:creationId xmlns:a16="http://schemas.microsoft.com/office/drawing/2014/main" id="{1EA11A24-25ED-4B89-8B51-8E7FB351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31432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ERRORS</a:t>
            </a:r>
          </a:p>
        </p:txBody>
      </p:sp>
      <p:sp>
        <p:nvSpPr>
          <p:cNvPr id="288" name="timeouts, 429, 5xx">
            <a:extLst xmlns:a="http://schemas.openxmlformats.org/drawingml/2006/main">
              <a:ext uri="{FF2B5EF4-FFF2-40B4-BE49-F238E27FC236}">
                <a16:creationId xmlns:a16="http://schemas.microsoft.com/office/drawing/2014/main" id="{6696E345-63B1-466D-A1A4-6F415F2D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7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timeouts, 429, 5xx</a:t>
            </a:r>
          </a:p>
        </p:txBody>
      </p:sp>
    </p:spTree>
    <p:extLst>
      <p:ext uri="{BB962C8B-B14F-4D97-AF65-F5344CB8AC3E}">
        <p14:creationId xmlns:p14="http://schemas.microsoft.com/office/powerpoint/2010/main" val="544345094"/>
      </p:ext>
    </p:extLst>
  </p:cSld>
</p:sld>
</file>

<file path=ppt/slides/slide2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C5D184-8F65-44B9-AE9C-7441C011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 или правда?</a:t>
            </a:r>
          </a:p>
        </p:txBody>
      </p:sp>
      <p:sp>
        <p:nvSpPr>
          <p:cNvPr id="347" name="Линия">
            <a:extLst xmlns:a="http://schemas.openxmlformats.org/drawingml/2006/main">
              <a:ext uri="{FF2B5EF4-FFF2-40B4-BE49-F238E27FC236}">
                <a16:creationId xmlns:a16="http://schemas.microsoft.com/office/drawing/2014/main" id="{84CA096D-C72E-430C-9F58-C5904611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8" name="МИФЫ">
            <a:extLst xmlns:a="http://schemas.openxmlformats.org/drawingml/2006/main">
              <a:ext uri="{FF2B5EF4-FFF2-40B4-BE49-F238E27FC236}">
                <a16:creationId xmlns:a16="http://schemas.microsoft.com/office/drawing/2014/main" id="{D3477E49-08D7-4D6F-815D-35AF357A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МИФЫ</a:t>
            </a:r>
          </a:p>
        </p:txBody>
      </p:sp>
      <p:sp>
        <p:nvSpPr>
          <p:cNvPr id="349" name="25">
            <a:extLst xmlns:a="http://schemas.openxmlformats.org/drawingml/2006/main">
              <a:ext uri="{FF2B5EF4-FFF2-40B4-BE49-F238E27FC236}">
                <a16:creationId xmlns:a16="http://schemas.microsoft.com/office/drawing/2014/main" id="{186315BA-F592-4DF8-96E0-A6661372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23</a:t>
            </a:r>
          </a:p>
        </p:txBody>
      </p:sp>
      <p:sp>
        <p:nvSpPr>
          <p:cNvPr id="350" name="3/8">
            <a:extLst xmlns:a="http://schemas.openxmlformats.org/drawingml/2006/main">
              <a:ext uri="{FF2B5EF4-FFF2-40B4-BE49-F238E27FC236}">
                <a16:creationId xmlns:a16="http://schemas.microsoft.com/office/drawing/2014/main" id="{F2F16CA8-54A3-4E65-A0B1-A44B10A0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1430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13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r>
              <a:t>1/5</a:t>
            </a:r>
          </a:p>
        </p:txBody>
      </p:sp>
      <p:sp>
        <p:nvSpPr>
          <p:cNvPr id="351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41EAA281-D4B7-4744-9AD8-67AE7D0F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51435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161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2" name="Фраза «ты эксперт» добавляет модели знаний">
            <a:extLst xmlns:a="http://schemas.openxmlformats.org/drawingml/2006/main">
              <a:ext uri="{FF2B5EF4-FFF2-40B4-BE49-F238E27FC236}">
                <a16:creationId xmlns:a16="http://schemas.microsoft.com/office/drawing/2014/main" id="{1DDAA910-D931-4E75-9941-F9D849F6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4191000" cy="2000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Фраза «ты эксперт» добавляет модели знаний</a:t>
            </a:r>
          </a:p>
        </p:txBody>
      </p:sp>
      <p:sp>
        <p:nvSpPr>
          <p:cNvPr id="353" name="Кружок">
            <a:extLst xmlns:a="http://schemas.openxmlformats.org/drawingml/2006/main">
              <a:ext uri="{FF2B5EF4-FFF2-40B4-BE49-F238E27FC236}">
                <a16:creationId xmlns:a16="http://schemas.microsoft.com/office/drawing/2014/main" id="{F0A91732-C74F-4A84-8294-BDBBD1A5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4C45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4" name="×">
            <a:extLst xmlns:a="http://schemas.openxmlformats.org/drawingml/2006/main">
              <a:ext uri="{FF2B5EF4-FFF2-40B4-BE49-F238E27FC236}">
                <a16:creationId xmlns:a16="http://schemas.microsoft.com/office/drawing/2014/main" id="{C83484B9-5FE2-46D5-A5B1-61D4ECED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86050"/>
            <a:ext cx="952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48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×</a:t>
            </a:r>
          </a:p>
        </p:txBody>
      </p:sp>
      <p:sp>
        <p:nvSpPr>
          <p:cNvPr id="355" name="МИФ">
            <a:extLst xmlns:a="http://schemas.openxmlformats.org/drawingml/2006/main">
              <a:ext uri="{FF2B5EF4-FFF2-40B4-BE49-F238E27FC236}">
                <a16:creationId xmlns:a16="http://schemas.microsoft.com/office/drawing/2014/main" id="{8FB5FB40-680E-401A-BD1A-37E1725A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13335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</a:t>
            </a:r>
          </a:p>
        </p:txBody>
      </p:sp>
      <p:sp>
        <p:nvSpPr>
          <p:cNvPr id="356" name="Кружок">
            <a:extLst xmlns:a="http://schemas.openxmlformats.org/drawingml/2006/main">
              <a:ext uri="{FF2B5EF4-FFF2-40B4-BE49-F238E27FC236}">
                <a16:creationId xmlns:a16="http://schemas.microsoft.com/office/drawing/2014/main" id="{DB6E1CC8-A847-4068-95F9-DDDE8334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684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7" name="♥">
            <a:extLst xmlns:a="http://schemas.openxmlformats.org/drawingml/2006/main">
              <a:ext uri="{FF2B5EF4-FFF2-40B4-BE49-F238E27FC236}">
                <a16:creationId xmlns:a16="http://schemas.microsoft.com/office/drawing/2014/main" id="{7AF44181-7BAF-461A-8C60-906F3413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33675"/>
            <a:ext cx="952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33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♥</a:t>
            </a:r>
          </a:p>
        </p:txBody>
      </p:sp>
      <p:sp>
        <p:nvSpPr>
          <p:cNvPr id="358" name="ПРАВДА">
            <a:extLst xmlns:a="http://schemas.openxmlformats.org/drawingml/2006/main">
              <a:ext uri="{FF2B5EF4-FFF2-40B4-BE49-F238E27FC236}">
                <a16:creationId xmlns:a16="http://schemas.microsoft.com/office/drawing/2014/main" id="{106C5591-F07A-40F8-A02F-DA0D10EE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16383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ПРАВДА</a:t>
            </a:r>
          </a:p>
        </p:txBody>
      </p:sp>
      <p:sp>
        <p:nvSpPr>
          <p:cNvPr id="359" name="Выберите сторону. Ответ на следующем слайде.">
            <a:extLst xmlns:a="http://schemas.openxmlformats.org/drawingml/2006/main">
              <a:ext uri="{FF2B5EF4-FFF2-40B4-BE49-F238E27FC236}">
                <a16:creationId xmlns:a16="http://schemas.microsoft.com/office/drawing/2014/main" id="{7F1F6A21-00D8-4F3B-8EF9-4073571D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95900"/>
            <a:ext cx="5905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Выберите сторону. Ответ на следующем слайде.</a:t>
            </a:r>
          </a:p>
        </p:txBody>
      </p:sp>
    </p:spTree>
    <p:extLst>
      <p:ext uri="{BB962C8B-B14F-4D97-AF65-F5344CB8AC3E}">
        <p14:creationId xmlns:p14="http://schemas.microsoft.com/office/powerpoint/2010/main" val="1704830902"/>
      </p:ext>
    </p:extLst>
  </p:cSld>
</p:sld>
</file>

<file path=ppt/slides/slide2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3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66E05417-6996-49B4-87F4-4219A6DA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4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4" name="МИФ">
            <a:extLst xmlns:a="http://schemas.openxmlformats.org/drawingml/2006/main">
              <a:ext uri="{FF2B5EF4-FFF2-40B4-BE49-F238E27FC236}">
                <a16:creationId xmlns:a16="http://schemas.microsoft.com/office/drawing/2014/main" id="{07BC5A9C-0840-4A99-80BD-69500A7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23812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3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</a:t>
            </a:r>
          </a:p>
        </p:txBody>
      </p:sp>
      <p:sp>
        <p:nvSpPr>
          <p:cNvPr id="365" name="Роль меняет стиль, а не знания">
            <a:extLst xmlns:a="http://schemas.openxmlformats.org/drawingml/2006/main">
              <a:ext uri="{FF2B5EF4-FFF2-40B4-BE49-F238E27FC236}">
                <a16:creationId xmlns:a16="http://schemas.microsoft.com/office/drawing/2014/main" id="{2E565F00-4FCE-4704-B98B-5BE4BC11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715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Роль меняет стиль, а не знания</a:t>
            </a:r>
          </a:p>
        </p:txBody>
      </p:sp>
      <p:sp>
        <p:nvSpPr>
          <p:cNvPr id="366" name="Фраза «ты эксперт» может изменить тон и подачу, но не добавляет модели новых фактов.">
            <a:extLst xmlns:a="http://schemas.openxmlformats.org/drawingml/2006/main">
              <a:ext uri="{FF2B5EF4-FFF2-40B4-BE49-F238E27FC236}">
                <a16:creationId xmlns:a16="http://schemas.microsoft.com/office/drawing/2014/main" id="{8659ED83-94A9-4893-B401-BE7D0740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91440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Фраза «ты эксперт» может изменить тон и подачу, но не добавляет модели новых фактов.</a:t>
            </a:r>
          </a:p>
        </p:txBody>
      </p:sp>
      <p:sp>
        <p:nvSpPr>
          <p:cNvPr id="367" name="Роль нужна, если она задаёт аудиторию, формат или критерии ответа.">
            <a:extLst xmlns:a="http://schemas.openxmlformats.org/drawingml/2006/main">
              <a:ext uri="{FF2B5EF4-FFF2-40B4-BE49-F238E27FC236}">
                <a16:creationId xmlns:a16="http://schemas.microsoft.com/office/drawing/2014/main" id="{D1D00EAF-CCE0-4617-863D-6EDFEEB6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5250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2000"/>
              </a:lnSpc>
              <a:buNone/>
              <a:defRPr sz="19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Роль нужна, если она задаёт аудиторию, формат или критерии ответа.</a:t>
            </a:r>
          </a:p>
        </p:txBody>
      </p:sp>
      <p:sp>
        <p:nvSpPr>
          <p:cNvPr id="368" name="МИФЫ">
            <a:extLst xmlns:a="http://schemas.openxmlformats.org/drawingml/2006/main">
              <a:ext uri="{FF2B5EF4-FFF2-40B4-BE49-F238E27FC236}">
                <a16:creationId xmlns:a16="http://schemas.microsoft.com/office/drawing/2014/main" id="{04E1AC94-DE62-4028-9CC1-71063902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МИФЫ</a:t>
            </a:r>
          </a:p>
        </p:txBody>
      </p:sp>
      <p:sp>
        <p:nvSpPr>
          <p:cNvPr id="369" name="26">
            <a:extLst xmlns:a="http://schemas.openxmlformats.org/drawingml/2006/main">
              <a:ext uri="{FF2B5EF4-FFF2-40B4-BE49-F238E27FC236}">
                <a16:creationId xmlns:a16="http://schemas.microsoft.com/office/drawing/2014/main" id="{7213E3D7-BB17-4BAA-B9E0-C9179FF2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0440122"/>
      </p:ext>
    </p:extLst>
  </p:cSld>
</p:sld>
</file>

<file path=ppt/slides/slide2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824D04-E761-4B34-ADEC-534975DA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 или правда?</a:t>
            </a:r>
          </a:p>
        </p:txBody>
      </p:sp>
      <p:sp>
        <p:nvSpPr>
          <p:cNvPr id="374" name="Линия">
            <a:extLst xmlns:a="http://schemas.openxmlformats.org/drawingml/2006/main">
              <a:ext uri="{FF2B5EF4-FFF2-40B4-BE49-F238E27FC236}">
                <a16:creationId xmlns:a16="http://schemas.microsoft.com/office/drawing/2014/main" id="{D96538D5-0908-4D65-95E4-7084C7C7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5" name="МИФЫ">
            <a:extLst xmlns:a="http://schemas.openxmlformats.org/drawingml/2006/main">
              <a:ext uri="{FF2B5EF4-FFF2-40B4-BE49-F238E27FC236}">
                <a16:creationId xmlns:a16="http://schemas.microsoft.com/office/drawing/2014/main" id="{AF9105B7-C16D-487B-9AD5-8B7E57DA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МИФЫ</a:t>
            </a:r>
          </a:p>
        </p:txBody>
      </p:sp>
      <p:sp>
        <p:nvSpPr>
          <p:cNvPr id="376" name="27">
            <a:extLst xmlns:a="http://schemas.openxmlformats.org/drawingml/2006/main">
              <a:ext uri="{FF2B5EF4-FFF2-40B4-BE49-F238E27FC236}">
                <a16:creationId xmlns:a16="http://schemas.microsoft.com/office/drawing/2014/main" id="{17F7C15F-74D0-4690-ADBC-C07A85BB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25</a:t>
            </a:r>
          </a:p>
        </p:txBody>
      </p:sp>
      <p:sp>
        <p:nvSpPr>
          <p:cNvPr id="377" name="4/8">
            <a:extLst xmlns:a="http://schemas.openxmlformats.org/drawingml/2006/main">
              <a:ext uri="{FF2B5EF4-FFF2-40B4-BE49-F238E27FC236}">
                <a16:creationId xmlns:a16="http://schemas.microsoft.com/office/drawing/2014/main" id="{1008D56B-DE72-4E4F-AB3C-980F680C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1430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13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r>
              <a:t>2/5</a:t>
            </a:r>
          </a:p>
        </p:txBody>
      </p:sp>
      <p:sp>
        <p:nvSpPr>
          <p:cNvPr id="378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83399664-8A63-483C-AF12-96FC35DF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51435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161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9" name="Язык промпта может изменить качество и цену">
            <a:extLst xmlns:a="http://schemas.openxmlformats.org/drawingml/2006/main">
              <a:ext uri="{FF2B5EF4-FFF2-40B4-BE49-F238E27FC236}">
                <a16:creationId xmlns:a16="http://schemas.microsoft.com/office/drawing/2014/main" id="{24BA13A8-1840-4D31-B355-5AF948F2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4191000" cy="2000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Язык промпта может изменить качество и цену</a:t>
            </a:r>
          </a:p>
        </p:txBody>
      </p:sp>
      <p:sp>
        <p:nvSpPr>
          <p:cNvPr id="380" name="Кружок">
            <a:extLst xmlns:a="http://schemas.openxmlformats.org/drawingml/2006/main">
              <a:ext uri="{FF2B5EF4-FFF2-40B4-BE49-F238E27FC236}">
                <a16:creationId xmlns:a16="http://schemas.microsoft.com/office/drawing/2014/main" id="{2EFAB00D-094A-4FFD-B10E-92EC14DA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4C45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1" name="×">
            <a:extLst xmlns:a="http://schemas.openxmlformats.org/drawingml/2006/main">
              <a:ext uri="{FF2B5EF4-FFF2-40B4-BE49-F238E27FC236}">
                <a16:creationId xmlns:a16="http://schemas.microsoft.com/office/drawing/2014/main" id="{B89BDB51-9349-4A06-95AB-AE76EF75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86050"/>
            <a:ext cx="952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48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×</a:t>
            </a:r>
          </a:p>
        </p:txBody>
      </p:sp>
      <p:sp>
        <p:nvSpPr>
          <p:cNvPr id="382" name="МИФ">
            <a:extLst xmlns:a="http://schemas.openxmlformats.org/drawingml/2006/main">
              <a:ext uri="{FF2B5EF4-FFF2-40B4-BE49-F238E27FC236}">
                <a16:creationId xmlns:a16="http://schemas.microsoft.com/office/drawing/2014/main" id="{52B3C476-E278-40D3-A425-7C9D0C58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13335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</a:t>
            </a:r>
          </a:p>
        </p:txBody>
      </p:sp>
      <p:sp>
        <p:nvSpPr>
          <p:cNvPr id="383" name="Кружок">
            <a:extLst xmlns:a="http://schemas.openxmlformats.org/drawingml/2006/main">
              <a:ext uri="{FF2B5EF4-FFF2-40B4-BE49-F238E27FC236}">
                <a16:creationId xmlns:a16="http://schemas.microsoft.com/office/drawing/2014/main" id="{DC02706E-0BD5-495B-AEC4-44EB47B3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684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4" name="♥">
            <a:extLst xmlns:a="http://schemas.openxmlformats.org/drawingml/2006/main">
              <a:ext uri="{FF2B5EF4-FFF2-40B4-BE49-F238E27FC236}">
                <a16:creationId xmlns:a16="http://schemas.microsoft.com/office/drawing/2014/main" id="{150BDD4F-6972-4C3E-9B79-58923CD5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33675"/>
            <a:ext cx="952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33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♥</a:t>
            </a:r>
          </a:p>
        </p:txBody>
      </p:sp>
      <p:sp>
        <p:nvSpPr>
          <p:cNvPr id="385" name="ПРАВДА">
            <a:extLst xmlns:a="http://schemas.openxmlformats.org/drawingml/2006/main">
              <a:ext uri="{FF2B5EF4-FFF2-40B4-BE49-F238E27FC236}">
                <a16:creationId xmlns:a16="http://schemas.microsoft.com/office/drawing/2014/main" id="{FED89630-C75D-4C49-860F-5E3D585A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16383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ПРАВДА</a:t>
            </a:r>
          </a:p>
        </p:txBody>
      </p:sp>
      <p:sp>
        <p:nvSpPr>
          <p:cNvPr id="386" name="Выберите сторону. Ответ на следующем слайде.">
            <a:extLst xmlns:a="http://schemas.openxmlformats.org/drawingml/2006/main">
              <a:ext uri="{FF2B5EF4-FFF2-40B4-BE49-F238E27FC236}">
                <a16:creationId xmlns:a16="http://schemas.microsoft.com/office/drawing/2014/main" id="{BA5D5216-A399-459C-BF25-0BABD65D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95900"/>
            <a:ext cx="5905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Выберите сторону. Ответ на следующем слайде.</a:t>
            </a:r>
          </a:p>
        </p:txBody>
      </p:sp>
    </p:spTree>
    <p:extLst>
      <p:ext uri="{BB962C8B-B14F-4D97-AF65-F5344CB8AC3E}">
        <p14:creationId xmlns:p14="http://schemas.microsoft.com/office/powerpoint/2010/main" val="1496562877"/>
      </p:ext>
    </p:extLst>
  </p:cSld>
</p:sld>
</file>

<file path=ppt/slides/slide2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0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0B1E29CE-C3D1-4628-838E-19413861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1" name="ПРАВДА">
            <a:extLst xmlns:a="http://schemas.openxmlformats.org/drawingml/2006/main">
              <a:ext uri="{FF2B5EF4-FFF2-40B4-BE49-F238E27FC236}">
                <a16:creationId xmlns:a16="http://schemas.microsoft.com/office/drawing/2014/main" id="{9F72A065-1DCE-4F8B-836D-5ED4BA9B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23812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3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ПРАВДА</a:t>
            </a:r>
          </a:p>
        </p:txBody>
      </p:sp>
      <p:sp>
        <p:nvSpPr>
          <p:cNvPr id="392" name="Язык промпта может повлиять на результат">
            <a:extLst xmlns:a="http://schemas.openxmlformats.org/drawingml/2006/main">
              <a:ext uri="{FF2B5EF4-FFF2-40B4-BE49-F238E27FC236}">
                <a16:creationId xmlns:a16="http://schemas.microsoft.com/office/drawing/2014/main" id="{E2DEFB31-5A2E-4BD9-98E4-9F1AFAB6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715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Язык промпта может повлиять на результат</a:t>
            </a:r>
          </a:p>
        </p:txBody>
      </p:sp>
      <p:sp>
        <p:nvSpPr>
          <p:cNvPr id="393" name="Русский и английский по-разному токенизируются и представлены в данных модели.">
            <a:extLst xmlns:a="http://schemas.openxmlformats.org/drawingml/2006/main">
              <a:ext uri="{FF2B5EF4-FFF2-40B4-BE49-F238E27FC236}">
                <a16:creationId xmlns:a16="http://schemas.microsoft.com/office/drawing/2014/main" id="{2D88B904-B00E-476D-9B7D-DFA95863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91440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Русский и английский по-разному токенизируются и представлены в данных модели.</a:t>
            </a:r>
          </a:p>
        </p:txBody>
      </p:sp>
      <p:sp>
        <p:nvSpPr>
          <p:cNvPr id="394" name="Сравниваем языки на своих задачах. Английский не всегда лучше.">
            <a:extLst xmlns:a="http://schemas.openxmlformats.org/drawingml/2006/main">
              <a:ext uri="{FF2B5EF4-FFF2-40B4-BE49-F238E27FC236}">
                <a16:creationId xmlns:a16="http://schemas.microsoft.com/office/drawing/2014/main" id="{B2C83842-3D3C-4870-8371-8C6EDC24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5250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2000"/>
              </a:lnSpc>
              <a:buNone/>
              <a:defRPr sz="19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Сравниваем языки на своих задачах. Английский не всегда лучше.</a:t>
            </a:r>
          </a:p>
        </p:txBody>
      </p:sp>
      <p:sp>
        <p:nvSpPr>
          <p:cNvPr id="395" name="МИФЫ">
            <a:extLst xmlns:a="http://schemas.openxmlformats.org/drawingml/2006/main">
              <a:ext uri="{FF2B5EF4-FFF2-40B4-BE49-F238E27FC236}">
                <a16:creationId xmlns:a16="http://schemas.microsoft.com/office/drawing/2014/main" id="{BB4645C5-5F7E-4008-AC66-9E38813C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МИФЫ</a:t>
            </a:r>
          </a:p>
        </p:txBody>
      </p:sp>
      <p:sp>
        <p:nvSpPr>
          <p:cNvPr id="396" name="28">
            <a:extLst xmlns:a="http://schemas.openxmlformats.org/drawingml/2006/main">
              <a:ext uri="{FF2B5EF4-FFF2-40B4-BE49-F238E27FC236}">
                <a16:creationId xmlns:a16="http://schemas.microsoft.com/office/drawing/2014/main" id="{27340AD9-31AF-4EE7-883B-919A0F97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58883712"/>
      </p:ext>
    </p:extLst>
  </p:cSld>
</p:sld>
</file>

<file path=ppt/slides/slide2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7F3F0F-E1BA-419F-8079-DFA70105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 или правда?</a:t>
            </a:r>
          </a:p>
        </p:txBody>
      </p:sp>
      <p:sp>
        <p:nvSpPr>
          <p:cNvPr id="401" name="Линия">
            <a:extLst xmlns:a="http://schemas.openxmlformats.org/drawingml/2006/main">
              <a:ext uri="{FF2B5EF4-FFF2-40B4-BE49-F238E27FC236}">
                <a16:creationId xmlns:a16="http://schemas.microsoft.com/office/drawing/2014/main" id="{EA1665AC-8096-416A-9FC1-069A68F5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2" name="МИФЫ">
            <a:extLst xmlns:a="http://schemas.openxmlformats.org/drawingml/2006/main">
              <a:ext uri="{FF2B5EF4-FFF2-40B4-BE49-F238E27FC236}">
                <a16:creationId xmlns:a16="http://schemas.microsoft.com/office/drawing/2014/main" id="{C5DAB08C-5168-4B91-8C19-42D139E1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МИФЫ</a:t>
            </a:r>
          </a:p>
        </p:txBody>
      </p:sp>
      <p:sp>
        <p:nvSpPr>
          <p:cNvPr id="403" name="29">
            <a:extLst xmlns:a="http://schemas.openxmlformats.org/drawingml/2006/main">
              <a:ext uri="{FF2B5EF4-FFF2-40B4-BE49-F238E27FC236}">
                <a16:creationId xmlns:a16="http://schemas.microsoft.com/office/drawing/2014/main" id="{7900743A-3059-4A6A-A87B-3AE71D86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27</a:t>
            </a:r>
          </a:p>
        </p:txBody>
      </p:sp>
      <p:sp>
        <p:nvSpPr>
          <p:cNvPr id="404" name="5/8">
            <a:extLst xmlns:a="http://schemas.openxmlformats.org/drawingml/2006/main">
              <a:ext uri="{FF2B5EF4-FFF2-40B4-BE49-F238E27FC236}">
                <a16:creationId xmlns:a16="http://schemas.microsoft.com/office/drawing/2014/main" id="{C075E8A8-D9F7-4AA5-BF17-3A09E76E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1430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13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r>
              <a:t>3/5</a:t>
            </a:r>
          </a:p>
        </p:txBody>
      </p:sp>
      <p:sp>
        <p:nvSpPr>
          <p:cNvPr id="405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D6F841FF-9CC6-473F-82F8-C1CE13C6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51435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161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6" name="Один промпт нужно проверить на каждой выбранной LLM">
            <a:extLst xmlns:a="http://schemas.openxmlformats.org/drawingml/2006/main">
              <a:ext uri="{FF2B5EF4-FFF2-40B4-BE49-F238E27FC236}">
                <a16:creationId xmlns:a16="http://schemas.microsoft.com/office/drawing/2014/main" id="{99325AEC-2081-4AA6-A4FF-A15451F2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4191000" cy="2000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Промпты — универсальный инструмент</a:t>
            </a:r>
          </a:p>
        </p:txBody>
      </p:sp>
      <p:sp>
        <p:nvSpPr>
          <p:cNvPr id="407" name="Кружок">
            <a:extLst xmlns:a="http://schemas.openxmlformats.org/drawingml/2006/main">
              <a:ext uri="{FF2B5EF4-FFF2-40B4-BE49-F238E27FC236}">
                <a16:creationId xmlns:a16="http://schemas.microsoft.com/office/drawing/2014/main" id="{5BAA5851-AA93-456E-BB99-93CCB91A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4C45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8" name="×">
            <a:extLst xmlns:a="http://schemas.openxmlformats.org/drawingml/2006/main">
              <a:ext uri="{FF2B5EF4-FFF2-40B4-BE49-F238E27FC236}">
                <a16:creationId xmlns:a16="http://schemas.microsoft.com/office/drawing/2014/main" id="{777E521A-0839-4915-AA60-CD4B7E00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86050"/>
            <a:ext cx="952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48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×</a:t>
            </a:r>
          </a:p>
        </p:txBody>
      </p:sp>
      <p:sp>
        <p:nvSpPr>
          <p:cNvPr id="409" name="МИФ">
            <a:extLst xmlns:a="http://schemas.openxmlformats.org/drawingml/2006/main">
              <a:ext uri="{FF2B5EF4-FFF2-40B4-BE49-F238E27FC236}">
                <a16:creationId xmlns:a16="http://schemas.microsoft.com/office/drawing/2014/main" id="{DB081741-3235-4210-ADA1-2507ADFE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13335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</a:t>
            </a:r>
          </a:p>
        </p:txBody>
      </p:sp>
      <p:sp>
        <p:nvSpPr>
          <p:cNvPr id="410" name="Кружок">
            <a:extLst xmlns:a="http://schemas.openxmlformats.org/drawingml/2006/main">
              <a:ext uri="{FF2B5EF4-FFF2-40B4-BE49-F238E27FC236}">
                <a16:creationId xmlns:a16="http://schemas.microsoft.com/office/drawing/2014/main" id="{5BF73211-70E6-4C0D-8326-04F8665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684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1" name="♥">
            <a:extLst xmlns:a="http://schemas.openxmlformats.org/drawingml/2006/main">
              <a:ext uri="{FF2B5EF4-FFF2-40B4-BE49-F238E27FC236}">
                <a16:creationId xmlns:a16="http://schemas.microsoft.com/office/drawing/2014/main" id="{12F3A37B-3F76-4E01-99FA-75309D78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33675"/>
            <a:ext cx="952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33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♥</a:t>
            </a:r>
          </a:p>
        </p:txBody>
      </p:sp>
      <p:sp>
        <p:nvSpPr>
          <p:cNvPr id="412" name="ПРАВДА">
            <a:extLst xmlns:a="http://schemas.openxmlformats.org/drawingml/2006/main">
              <a:ext uri="{FF2B5EF4-FFF2-40B4-BE49-F238E27FC236}">
                <a16:creationId xmlns:a16="http://schemas.microsoft.com/office/drawing/2014/main" id="{C2CDB7E9-827E-4774-A815-9D48CAAB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16383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ПРАВДА</a:t>
            </a:r>
          </a:p>
        </p:txBody>
      </p:sp>
      <p:sp>
        <p:nvSpPr>
          <p:cNvPr id="413" name="Выберите сторону. Ответ на следующем слайде.">
            <a:extLst xmlns:a="http://schemas.openxmlformats.org/drawingml/2006/main">
              <a:ext uri="{FF2B5EF4-FFF2-40B4-BE49-F238E27FC236}">
                <a16:creationId xmlns:a16="http://schemas.microsoft.com/office/drawing/2014/main" id="{0E919A62-180F-4B01-81B8-FD295ED6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95900"/>
            <a:ext cx="5905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Выберите сторону. Ответ на следующем слайде.</a:t>
            </a:r>
          </a:p>
        </p:txBody>
      </p:sp>
    </p:spTree>
    <p:extLst>
      <p:ext uri="{BB962C8B-B14F-4D97-AF65-F5344CB8AC3E}">
        <p14:creationId xmlns:p14="http://schemas.microsoft.com/office/powerpoint/2010/main" val="948790012"/>
      </p:ext>
    </p:extLst>
  </p:cSld>
</p:sld>
</file>

<file path=ppt/slides/slide2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7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F3E775C5-D225-4032-BD7F-4152F89B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B4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8" name="ПРАВДА">
            <a:extLst xmlns:a="http://schemas.openxmlformats.org/drawingml/2006/main">
              <a:ext uri="{FF2B5EF4-FFF2-40B4-BE49-F238E27FC236}">
                <a16:creationId xmlns:a16="http://schemas.microsoft.com/office/drawing/2014/main" id="{3A09DBAF-7BFC-47FD-891D-F8950086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23812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3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350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НЕПРАВДА</a:t>
            </a:r>
          </a:p>
        </p:txBody>
      </p:sp>
      <p:sp>
        <p:nvSpPr>
          <p:cNvPr id="419" name="Один промпт проверяем на каждой модели">
            <a:extLst xmlns:a="http://schemas.openxmlformats.org/drawingml/2006/main">
              <a:ext uri="{FF2B5EF4-FFF2-40B4-BE49-F238E27FC236}">
                <a16:creationId xmlns:a16="http://schemas.microsoft.com/office/drawing/2014/main" id="{5FBB67DD-23A2-40EE-A053-3294B700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715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 зависит от модели и задачи</a:t>
            </a:r>
          </a:p>
        </p:txBody>
      </p:sp>
      <p:sp>
        <p:nvSpPr>
          <p:cNvPr id="420" name="Модели и их версии по-разному следуют инструкциям и используют примеры.">
            <a:extLst xmlns:a="http://schemas.openxmlformats.org/drawingml/2006/main">
              <a:ext uri="{FF2B5EF4-FFF2-40B4-BE49-F238E27FC236}">
                <a16:creationId xmlns:a16="http://schemas.microsoft.com/office/drawing/2014/main" id="{BA519F42-4488-46E7-B591-1A80B74C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91440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Одинаковый текст может дать разный результат у разных моделей и даже у разных версий одной модели.</a:t>
            </a:r>
          </a:p>
        </p:txBody>
      </p:sp>
      <p:sp>
        <p:nvSpPr>
          <p:cNvPr id="421" name="Сменили модель: снова запускаем eval.">
            <a:extLst xmlns:a="http://schemas.openxmlformats.org/drawingml/2006/main">
              <a:ext uri="{FF2B5EF4-FFF2-40B4-BE49-F238E27FC236}">
                <a16:creationId xmlns:a16="http://schemas.microsoft.com/office/drawing/2014/main" id="{0D6E7168-F9EB-4FC3-9E07-1B3461E2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5250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12000"/>
              </a:lnSpc>
              <a:buNone/>
              <a:defRPr sz="19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  <a:defRPr sz="187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Проверяем связку: задача + данные + промпт + модель.</a:t>
            </a:r>
          </a:p>
        </p:txBody>
      </p:sp>
      <p:sp>
        <p:nvSpPr>
          <p:cNvPr id="422" name="МИФЫ">
            <a:extLst xmlns:a="http://schemas.openxmlformats.org/drawingml/2006/main">
              <a:ext uri="{FF2B5EF4-FFF2-40B4-BE49-F238E27FC236}">
                <a16:creationId xmlns:a16="http://schemas.microsoft.com/office/drawing/2014/main" id="{C1C9C850-9E98-4DE8-9CCE-F9CB095F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МИФЫ</a:t>
            </a:r>
          </a:p>
        </p:txBody>
      </p:sp>
      <p:sp>
        <p:nvSpPr>
          <p:cNvPr id="423" name="30">
            <a:extLst xmlns:a="http://schemas.openxmlformats.org/drawingml/2006/main">
              <a:ext uri="{FF2B5EF4-FFF2-40B4-BE49-F238E27FC236}">
                <a16:creationId xmlns:a16="http://schemas.microsoft.com/office/drawing/2014/main" id="{557927BF-BCA3-46DC-AE25-72F52863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16129544"/>
      </p:ext>
    </p:extLst>
  </p:cSld>
</p:sld>
</file>

<file path=ppt/slides/slide2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74EA2A-E62E-4AC7-BAC9-AF05B31F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 или правда?</a:t>
            </a:r>
          </a:p>
        </p:txBody>
      </p:sp>
      <p:sp>
        <p:nvSpPr>
          <p:cNvPr id="428" name="Линия">
            <a:extLst xmlns:a="http://schemas.openxmlformats.org/drawingml/2006/main">
              <a:ext uri="{FF2B5EF4-FFF2-40B4-BE49-F238E27FC236}">
                <a16:creationId xmlns:a16="http://schemas.microsoft.com/office/drawing/2014/main" id="{74807F15-7A76-4853-AA19-D1D7E10D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9" name="МИФЫ">
            <a:extLst xmlns:a="http://schemas.openxmlformats.org/drawingml/2006/main">
              <a:ext uri="{FF2B5EF4-FFF2-40B4-BE49-F238E27FC236}">
                <a16:creationId xmlns:a16="http://schemas.microsoft.com/office/drawing/2014/main" id="{31080510-C8CA-4DCB-AE35-3B93548D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МИФЫ</a:t>
            </a:r>
          </a:p>
        </p:txBody>
      </p:sp>
      <p:sp>
        <p:nvSpPr>
          <p:cNvPr id="430" name="31">
            <a:extLst xmlns:a="http://schemas.openxmlformats.org/drawingml/2006/main">
              <a:ext uri="{FF2B5EF4-FFF2-40B4-BE49-F238E27FC236}">
                <a16:creationId xmlns:a16="http://schemas.microsoft.com/office/drawing/2014/main" id="{D0E38B31-446C-4B5B-B33B-7EFDA2C5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29</a:t>
            </a:r>
          </a:p>
        </p:txBody>
      </p:sp>
      <p:sp>
        <p:nvSpPr>
          <p:cNvPr id="431" name="6/8">
            <a:extLst xmlns:a="http://schemas.openxmlformats.org/drawingml/2006/main">
              <a:ext uri="{FF2B5EF4-FFF2-40B4-BE49-F238E27FC236}">
                <a16:creationId xmlns:a16="http://schemas.microsoft.com/office/drawing/2014/main" id="{C94D8EC8-E30E-4324-A6F2-468F30BC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1430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13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r>
              <a:t>4/5</a:t>
            </a:r>
          </a:p>
        </p:txBody>
      </p:sp>
      <p:sp>
        <p:nvSpPr>
          <p:cNvPr id="432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04BDEC40-AEA0-4294-8E67-5C906B3F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51435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161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3" name="Temperature = 0 гарантирует одинаковый ответ">
            <a:extLst xmlns:a="http://schemas.openxmlformats.org/drawingml/2006/main">
              <a:ext uri="{FF2B5EF4-FFF2-40B4-BE49-F238E27FC236}">
                <a16:creationId xmlns:a16="http://schemas.microsoft.com/office/drawing/2014/main" id="{8E77A954-27F4-4D93-B000-52FCA2AD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4191000" cy="2000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Temperature = 0 гарантирует одинаковый ответ</a:t>
            </a:r>
          </a:p>
        </p:txBody>
      </p:sp>
      <p:sp>
        <p:nvSpPr>
          <p:cNvPr id="434" name="Кружок">
            <a:extLst xmlns:a="http://schemas.openxmlformats.org/drawingml/2006/main">
              <a:ext uri="{FF2B5EF4-FFF2-40B4-BE49-F238E27FC236}">
                <a16:creationId xmlns:a16="http://schemas.microsoft.com/office/drawing/2014/main" id="{E3E25E74-571E-4C86-B692-0F0DBD6B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4C45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5" name="×">
            <a:extLst xmlns:a="http://schemas.openxmlformats.org/drawingml/2006/main">
              <a:ext uri="{FF2B5EF4-FFF2-40B4-BE49-F238E27FC236}">
                <a16:creationId xmlns:a16="http://schemas.microsoft.com/office/drawing/2014/main" id="{50A77973-0207-42C3-87FD-C1CB1A13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86050"/>
            <a:ext cx="952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48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×</a:t>
            </a:r>
          </a:p>
        </p:txBody>
      </p:sp>
      <p:sp>
        <p:nvSpPr>
          <p:cNvPr id="436" name="МИФ">
            <a:extLst xmlns:a="http://schemas.openxmlformats.org/drawingml/2006/main">
              <a:ext uri="{FF2B5EF4-FFF2-40B4-BE49-F238E27FC236}">
                <a16:creationId xmlns:a16="http://schemas.microsoft.com/office/drawing/2014/main" id="{CACCE49C-4353-4DFC-B497-A7A58199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13335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</a:t>
            </a:r>
          </a:p>
        </p:txBody>
      </p:sp>
      <p:sp>
        <p:nvSpPr>
          <p:cNvPr id="437" name="Кружок">
            <a:extLst xmlns:a="http://schemas.openxmlformats.org/drawingml/2006/main">
              <a:ext uri="{FF2B5EF4-FFF2-40B4-BE49-F238E27FC236}">
                <a16:creationId xmlns:a16="http://schemas.microsoft.com/office/drawing/2014/main" id="{F6D9AD08-21EE-4C17-B6C1-ACD9ADAD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684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8" name="♥">
            <a:extLst xmlns:a="http://schemas.openxmlformats.org/drawingml/2006/main">
              <a:ext uri="{FF2B5EF4-FFF2-40B4-BE49-F238E27FC236}">
                <a16:creationId xmlns:a16="http://schemas.microsoft.com/office/drawing/2014/main" id="{EEA243A9-5CF3-4BCB-A289-A3804EE2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33675"/>
            <a:ext cx="952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33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♥</a:t>
            </a:r>
          </a:p>
        </p:txBody>
      </p:sp>
      <p:sp>
        <p:nvSpPr>
          <p:cNvPr id="439" name="ПРАВДА">
            <a:extLst xmlns:a="http://schemas.openxmlformats.org/drawingml/2006/main">
              <a:ext uri="{FF2B5EF4-FFF2-40B4-BE49-F238E27FC236}">
                <a16:creationId xmlns:a16="http://schemas.microsoft.com/office/drawing/2014/main" id="{C01F68F6-3298-4A68-984E-6CA6723B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16383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ПРАВДА</a:t>
            </a:r>
          </a:p>
        </p:txBody>
      </p:sp>
      <p:sp>
        <p:nvSpPr>
          <p:cNvPr id="440" name="Выберите сторону. Ответ на следующем слайде.">
            <a:extLst xmlns:a="http://schemas.openxmlformats.org/drawingml/2006/main">
              <a:ext uri="{FF2B5EF4-FFF2-40B4-BE49-F238E27FC236}">
                <a16:creationId xmlns:a16="http://schemas.microsoft.com/office/drawing/2014/main" id="{4792F928-445F-49D8-80CE-F1135B43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95900"/>
            <a:ext cx="5905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Выберите сторону. Ответ на следующем слайде.</a:t>
            </a:r>
          </a:p>
        </p:txBody>
      </p:sp>
    </p:spTree>
    <p:extLst>
      <p:ext uri="{BB962C8B-B14F-4D97-AF65-F5344CB8AC3E}">
        <p14:creationId xmlns:p14="http://schemas.microsoft.com/office/powerpoint/2010/main" val="1296085321"/>
      </p:ext>
    </p:extLst>
  </p:cSld>
</p:sld>
</file>

<file path=ppt/slides/slide3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FBC0A95D-6891-4CCF-B269-E9798E70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4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5" name="МИФ">
            <a:extLst xmlns:a="http://schemas.openxmlformats.org/drawingml/2006/main">
              <a:ext uri="{FF2B5EF4-FFF2-40B4-BE49-F238E27FC236}">
                <a16:creationId xmlns:a16="http://schemas.microsoft.com/office/drawing/2014/main" id="{3CF71CBA-A6E8-4D42-AF00-AD1CE94C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23812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3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</a:t>
            </a:r>
          </a:p>
        </p:txBody>
      </p:sp>
      <p:sp>
        <p:nvSpPr>
          <p:cNvPr id="446" name="Temperature 0 снижает разброс, но не даёт гарантии">
            <a:extLst xmlns:a="http://schemas.openxmlformats.org/drawingml/2006/main">
              <a:ext uri="{FF2B5EF4-FFF2-40B4-BE49-F238E27FC236}">
                <a16:creationId xmlns:a16="http://schemas.microsoft.com/office/drawing/2014/main" id="{E76D32A2-5371-4062-9D34-143775B2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715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Temperature 0 снижает разброс, но не даёт гарантии</a:t>
            </a:r>
          </a:p>
        </p:txBody>
      </p:sp>
      <p:sp>
        <p:nvSpPr>
          <p:cNvPr id="447" name="Ответ может измениться из-за версии модели, инфраструктуры или близких вероятностей токенов.">
            <a:extLst xmlns:a="http://schemas.openxmlformats.org/drawingml/2006/main">
              <a:ext uri="{FF2B5EF4-FFF2-40B4-BE49-F238E27FC236}">
                <a16:creationId xmlns:a16="http://schemas.microsoft.com/office/drawing/2014/main" id="{193E8DEC-D0D5-44E5-8604-A6E19B08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91440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Ответ может измениться из-за версии модели, инфраструктуры или близких вероятностей токенов.</a:t>
            </a:r>
          </a:p>
        </p:txBody>
      </p:sp>
      <p:sp>
        <p:nvSpPr>
          <p:cNvPr id="448" name="Повторяемость проверяем несколькими запусками.">
            <a:extLst xmlns:a="http://schemas.openxmlformats.org/drawingml/2006/main">
              <a:ext uri="{FF2B5EF4-FFF2-40B4-BE49-F238E27FC236}">
                <a16:creationId xmlns:a16="http://schemas.microsoft.com/office/drawing/2014/main" id="{EDB00768-975A-4D4C-B9DF-223A6969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5250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2000"/>
              </a:lnSpc>
              <a:buNone/>
              <a:defRPr sz="19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Повторяемость проверяем несколькими запусками.</a:t>
            </a:r>
          </a:p>
        </p:txBody>
      </p:sp>
      <p:sp>
        <p:nvSpPr>
          <p:cNvPr id="449" name="МИФЫ">
            <a:extLst xmlns:a="http://schemas.openxmlformats.org/drawingml/2006/main">
              <a:ext uri="{FF2B5EF4-FFF2-40B4-BE49-F238E27FC236}">
                <a16:creationId xmlns:a16="http://schemas.microsoft.com/office/drawing/2014/main" id="{A2B7B319-53E9-498E-8F42-74AC1135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МИФЫ</a:t>
            </a:r>
          </a:p>
        </p:txBody>
      </p:sp>
      <p:sp>
        <p:nvSpPr>
          <p:cNvPr id="450" name="32">
            <a:extLst xmlns:a="http://schemas.openxmlformats.org/drawingml/2006/main">
              <a:ext uri="{FF2B5EF4-FFF2-40B4-BE49-F238E27FC236}">
                <a16:creationId xmlns:a16="http://schemas.microsoft.com/office/drawing/2014/main" id="{529B0E8C-25FF-4D76-AB1E-E0DBBCD7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16127370"/>
      </p:ext>
    </p:extLst>
  </p:cSld>
</p:sld>
</file>

<file path=ppt/slides/slide3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F30C14-FF7B-4B25-AFD0-B0FFA3F4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 или правда?</a:t>
            </a:r>
          </a:p>
        </p:txBody>
      </p:sp>
      <p:sp>
        <p:nvSpPr>
          <p:cNvPr id="482" name="Линия">
            <a:extLst xmlns:a="http://schemas.openxmlformats.org/drawingml/2006/main">
              <a:ext uri="{FF2B5EF4-FFF2-40B4-BE49-F238E27FC236}">
                <a16:creationId xmlns:a16="http://schemas.microsoft.com/office/drawing/2014/main" id="{7FFF4E2B-FF5A-4AD5-B764-42DDF26A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3" name="МИФЫ">
            <a:extLst xmlns:a="http://schemas.openxmlformats.org/drawingml/2006/main">
              <a:ext uri="{FF2B5EF4-FFF2-40B4-BE49-F238E27FC236}">
                <a16:creationId xmlns:a16="http://schemas.microsoft.com/office/drawing/2014/main" id="{DDDEFBF2-0616-4B2D-97B0-60A05156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МИФЫ</a:t>
            </a:r>
          </a:p>
        </p:txBody>
      </p:sp>
      <p:sp>
        <p:nvSpPr>
          <p:cNvPr id="484" name="35">
            <a:extLst xmlns:a="http://schemas.openxmlformats.org/drawingml/2006/main">
              <a:ext uri="{FF2B5EF4-FFF2-40B4-BE49-F238E27FC236}">
                <a16:creationId xmlns:a16="http://schemas.microsoft.com/office/drawing/2014/main" id="{02920E43-E92A-484B-BC5A-949994BC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31</a:t>
            </a:r>
          </a:p>
        </p:txBody>
      </p:sp>
      <p:sp>
        <p:nvSpPr>
          <p:cNvPr id="485" name="8/8">
            <a:extLst xmlns:a="http://schemas.openxmlformats.org/drawingml/2006/main">
              <a:ext uri="{FF2B5EF4-FFF2-40B4-BE49-F238E27FC236}">
                <a16:creationId xmlns:a16="http://schemas.microsoft.com/office/drawing/2014/main" id="{A7700573-0A34-41AD-9E79-27E2E9DB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1430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13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</a:pPr>
            <a:r>
              <a:t>5/5</a:t>
            </a:r>
          </a:p>
        </p:txBody>
      </p:sp>
      <p:sp>
        <p:nvSpPr>
          <p:cNvPr id="486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C8786243-AAAE-49B4-8505-33EA2D0E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51435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6161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7" name="Самая сильная модель с max reasoning всегда лучший выбор">
            <a:extLst xmlns:a="http://schemas.openxmlformats.org/drawingml/2006/main">
              <a:ext uri="{FF2B5EF4-FFF2-40B4-BE49-F238E27FC236}">
                <a16:creationId xmlns:a16="http://schemas.microsoft.com/office/drawing/2014/main" id="{3879E19F-AECC-4EA8-ABCA-6770EF8D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4191000" cy="2000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Самая сильная модель с max reasoning всегда лучший выбор</a:t>
            </a:r>
          </a:p>
        </p:txBody>
      </p:sp>
      <p:sp>
        <p:nvSpPr>
          <p:cNvPr id="488" name="Кружок">
            <a:extLst xmlns:a="http://schemas.openxmlformats.org/drawingml/2006/main">
              <a:ext uri="{FF2B5EF4-FFF2-40B4-BE49-F238E27FC236}">
                <a16:creationId xmlns:a16="http://schemas.microsoft.com/office/drawing/2014/main" id="{B8C21956-A3D7-44ED-8079-54960B31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4C45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9" name="×">
            <a:extLst xmlns:a="http://schemas.openxmlformats.org/drawingml/2006/main">
              <a:ext uri="{FF2B5EF4-FFF2-40B4-BE49-F238E27FC236}">
                <a16:creationId xmlns:a16="http://schemas.microsoft.com/office/drawing/2014/main" id="{C2E7C14D-4642-42A6-8EA0-F61A3B1E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86050"/>
            <a:ext cx="952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48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×</a:t>
            </a:r>
          </a:p>
        </p:txBody>
      </p:sp>
      <p:sp>
        <p:nvSpPr>
          <p:cNvPr id="490" name="МИФ">
            <a:extLst xmlns:a="http://schemas.openxmlformats.org/drawingml/2006/main">
              <a:ext uri="{FF2B5EF4-FFF2-40B4-BE49-F238E27FC236}">
                <a16:creationId xmlns:a16="http://schemas.microsoft.com/office/drawing/2014/main" id="{5E0C5CAE-C692-4CC0-8EAB-BF645D29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13335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</a:t>
            </a:r>
          </a:p>
        </p:txBody>
      </p:sp>
      <p:sp>
        <p:nvSpPr>
          <p:cNvPr id="491" name="Кружок">
            <a:extLst xmlns:a="http://schemas.openxmlformats.org/drawingml/2006/main">
              <a:ext uri="{FF2B5EF4-FFF2-40B4-BE49-F238E27FC236}">
                <a16:creationId xmlns:a16="http://schemas.microsoft.com/office/drawing/2014/main" id="{3A6D1545-56B8-40BB-9918-77C6CA29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684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2" name="♥">
            <a:extLst xmlns:a="http://schemas.openxmlformats.org/drawingml/2006/main">
              <a:ext uri="{FF2B5EF4-FFF2-40B4-BE49-F238E27FC236}">
                <a16:creationId xmlns:a16="http://schemas.microsoft.com/office/drawing/2014/main" id="{9F322B5B-178D-47B9-B2B3-E9954A3D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33675"/>
            <a:ext cx="952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33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♥</a:t>
            </a:r>
          </a:p>
        </p:txBody>
      </p:sp>
      <p:sp>
        <p:nvSpPr>
          <p:cNvPr id="493" name="ПРАВДА">
            <a:extLst xmlns:a="http://schemas.openxmlformats.org/drawingml/2006/main">
              <a:ext uri="{FF2B5EF4-FFF2-40B4-BE49-F238E27FC236}">
                <a16:creationId xmlns:a16="http://schemas.microsoft.com/office/drawing/2014/main" id="{33D7FBEF-704C-4CCA-B394-D7B93074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16383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6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ПРАВДА</a:t>
            </a:r>
          </a:p>
        </p:txBody>
      </p:sp>
      <p:sp>
        <p:nvSpPr>
          <p:cNvPr id="494" name="Выберите сторону. Ответ на следующем слайде.">
            <a:extLst xmlns:a="http://schemas.openxmlformats.org/drawingml/2006/main">
              <a:ext uri="{FF2B5EF4-FFF2-40B4-BE49-F238E27FC236}">
                <a16:creationId xmlns:a16="http://schemas.microsoft.com/office/drawing/2014/main" id="{554E45DC-655C-407E-8216-E4E6CE5B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95900"/>
            <a:ext cx="5905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Выберите сторону. Ответ на следующем слайде.</a:t>
            </a:r>
          </a:p>
        </p:txBody>
      </p:sp>
    </p:spTree>
    <p:extLst>
      <p:ext uri="{BB962C8B-B14F-4D97-AF65-F5344CB8AC3E}">
        <p14:creationId xmlns:p14="http://schemas.microsoft.com/office/powerpoint/2010/main" val="59591771"/>
      </p:ext>
    </p:extLst>
  </p:cSld>
</p:sld>
</file>

<file path=ppt/slides/slide3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8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77D1904D-B5F5-4B64-BF98-BB6C3F7A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4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9" name="МИФ">
            <a:extLst xmlns:a="http://schemas.openxmlformats.org/drawingml/2006/main">
              <a:ext uri="{FF2B5EF4-FFF2-40B4-BE49-F238E27FC236}">
                <a16:creationId xmlns:a16="http://schemas.microsoft.com/office/drawing/2014/main" id="{3050DE4A-275A-47BA-AB72-D8E65265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23812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3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</a:t>
            </a:r>
          </a:p>
        </p:txBody>
      </p:sp>
      <p:sp>
        <p:nvSpPr>
          <p:cNvPr id="500" name="Самая мощная модель нужна не всегда">
            <a:extLst xmlns:a="http://schemas.openxmlformats.org/drawingml/2006/main">
              <a:ext uri="{FF2B5EF4-FFF2-40B4-BE49-F238E27FC236}">
                <a16:creationId xmlns:a16="http://schemas.microsoft.com/office/drawing/2014/main" id="{98C6F956-94B4-4217-A275-C686DD2A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715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Самая мощная модель нужна не всегда</a:t>
            </a:r>
          </a:p>
        </p:txBody>
      </p:sp>
      <p:sp>
        <p:nvSpPr>
          <p:cNvPr id="501" name="Дополнительный reasoning увеличивает задержку и расход токенов, но не всегда улучшает результат.">
            <a:extLst xmlns:a="http://schemas.openxmlformats.org/drawingml/2006/main">
              <a:ext uri="{FF2B5EF4-FFF2-40B4-BE49-F238E27FC236}">
                <a16:creationId xmlns:a16="http://schemas.microsoft.com/office/drawing/2014/main" id="{AE99CAC0-A099-472B-9BF0-5293DF9A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91440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Дополнительный reasoning увеличивает задержку и расход токенов, но не всегда улучшает результат.</a:t>
            </a:r>
          </a:p>
        </p:txBody>
      </p:sp>
      <p:sp>
        <p:nvSpPr>
          <p:cNvPr id="502" name="Выбираем минимальную конфигурацию, которая проходит eval.">
            <a:extLst xmlns:a="http://schemas.openxmlformats.org/drawingml/2006/main">
              <a:ext uri="{FF2B5EF4-FFF2-40B4-BE49-F238E27FC236}">
                <a16:creationId xmlns:a16="http://schemas.microsoft.com/office/drawing/2014/main" id="{EE87101E-9C1F-4682-BB86-3CEAD571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5250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2000"/>
              </a:lnSpc>
              <a:buNone/>
              <a:defRPr sz="19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Выбираем минимальную конфигурацию, которая проходит eval.</a:t>
            </a:r>
          </a:p>
        </p:txBody>
      </p:sp>
      <p:sp>
        <p:nvSpPr>
          <p:cNvPr id="503" name="МИФЫ">
            <a:extLst xmlns:a="http://schemas.openxmlformats.org/drawingml/2006/main">
              <a:ext uri="{FF2B5EF4-FFF2-40B4-BE49-F238E27FC236}">
                <a16:creationId xmlns:a16="http://schemas.microsoft.com/office/drawing/2014/main" id="{62757AAB-51B9-4A3D-B8BD-B81AAF39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МИФЫ</a:t>
            </a:r>
          </a:p>
        </p:txBody>
      </p:sp>
      <p:sp>
        <p:nvSpPr>
          <p:cNvPr id="504" name="36">
            <a:extLst xmlns:a="http://schemas.openxmlformats.org/drawingml/2006/main">
              <a:ext uri="{FF2B5EF4-FFF2-40B4-BE49-F238E27FC236}">
                <a16:creationId xmlns:a16="http://schemas.microsoft.com/office/drawing/2014/main" id="{8B8C164D-EA72-4A40-A8BE-7DF2E998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91699179"/>
      </p:ext>
    </p:extLst>
  </p:cSld>
</p:sld>
</file>

<file path=ppt/slides/slide3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107DBF-E8A9-41FB-8DED-6E6DCC43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CAPTCHA и бабушка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A60C4-9AB7-432E-9BFE-4FF3C8A6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C50D7-F117-4E23-90D8-3E78892B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МЕМЫ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D011F-758E-406E-8E57-8152754D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53aceba5d40d7"/>
          <a:stretch xmlns:a="http://schemas.openxmlformats.org/drawingml/2006/main"/>
        </p:blipFill>
        <p:spPr>
          <a:xfrm xmlns:a="http://schemas.openxmlformats.org/drawingml/2006/main">
            <a:off x="1294151" y="1504950"/>
            <a:ext cx="9603698" cy="472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64870"/>
      </p:ext>
    </p:extLst>
  </p:cSld>
</p:sld>
</file>

<file path=ppt/slides/slide3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9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738F3257-E67F-4E38-8C59-1A0FD640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4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0" name="МИФ">
            <a:extLst xmlns:a="http://schemas.openxmlformats.org/drawingml/2006/main">
              <a:ext uri="{FF2B5EF4-FFF2-40B4-BE49-F238E27FC236}">
                <a16:creationId xmlns:a16="http://schemas.microsoft.com/office/drawing/2014/main" id="{E23FFA2F-92B5-40F5-A9D7-12AD3CA4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23812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3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РАЗБОР</a:t>
            </a:r>
          </a:p>
        </p:txBody>
      </p:sp>
      <p:sp>
        <p:nvSpPr>
          <p:cNvPr id="311" name="Вежливость не делает ответ точнее">
            <a:extLst xmlns:a="http://schemas.openxmlformats.org/drawingml/2006/main">
              <a:ext uri="{FF2B5EF4-FFF2-40B4-BE49-F238E27FC236}">
                <a16:creationId xmlns:a16="http://schemas.microsoft.com/office/drawing/2014/main" id="{3DED9A16-C6B8-423A-9DF8-9D7D6692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715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Контекст обошёл отказ</a:t>
            </a:r>
          </a:p>
        </p:txBody>
      </p:sp>
      <p:sp>
        <p:nvSpPr>
          <p:cNvPr id="312" name="Тон иногда влияет на ответ, но это зависит от модели, задачи и формулировки.">
            <a:extLst xmlns:a="http://schemas.openxmlformats.org/drawingml/2006/main">
              <a:ext uri="{FF2B5EF4-FFF2-40B4-BE49-F238E27FC236}">
                <a16:creationId xmlns:a16="http://schemas.microsoft.com/office/drawing/2014/main" id="{60A73102-97A0-4ED9-AC51-DA8DFB92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91440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На прямой запрос модель отказалась читать CAPTCHA. История про бабушку заставила её распознать тот же текст.</a:t>
            </a:r>
          </a:p>
        </p:txBody>
      </p:sp>
      <p:sp>
        <p:nvSpPr>
          <p:cNvPr id="313" name="Хотите проверить качество: сравните ответы на одном наборе задач.">
            <a:extLst xmlns:a="http://schemas.openxmlformats.org/drawingml/2006/main">
              <a:ext uri="{FF2B5EF4-FFF2-40B4-BE49-F238E27FC236}">
                <a16:creationId xmlns:a16="http://schemas.microsoft.com/office/drawing/2014/main" id="{47A43655-A2DE-445A-8249-B0DC0857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5250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2000"/>
              </a:lnSpc>
              <a:buNone/>
              <a:defRPr sz="19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Это не сочувствие, а слабое место в правилах и проверке контекста.</a:t>
            </a:r>
          </a:p>
        </p:txBody>
      </p:sp>
      <p:sp>
        <p:nvSpPr>
          <p:cNvPr id="314" name="МИФЫ">
            <a:extLst xmlns:a="http://schemas.openxmlformats.org/drawingml/2006/main">
              <a:ext uri="{FF2B5EF4-FFF2-40B4-BE49-F238E27FC236}">
                <a16:creationId xmlns:a16="http://schemas.microsoft.com/office/drawing/2014/main" id="{5FF50439-A886-4409-858D-F1EDA6B7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МЕМЫ</a:t>
            </a:r>
          </a:p>
        </p:txBody>
      </p:sp>
      <p:sp>
        <p:nvSpPr>
          <p:cNvPr id="315" name="22">
            <a:extLst xmlns:a="http://schemas.openxmlformats.org/drawingml/2006/main">
              <a:ext uri="{FF2B5EF4-FFF2-40B4-BE49-F238E27FC236}">
                <a16:creationId xmlns:a16="http://schemas.microsoft.com/office/drawing/2014/main" id="{F616EBD5-D713-412E-B6DF-5F56306E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089824242"/>
      </p:ext>
    </p:extLst>
  </p:cSld>
</p:sld>
</file>

<file path=ppt/slides/slide3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107DBF-E8A9-41FB-8DED-6E6DCC43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Морской конёк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A60C4-9AB7-432E-9BFE-4FF3C8A6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C50D7-F117-4E23-90D8-3E78892B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МЕМЫ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D011F-758E-406E-8E57-8152754D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9353e6a2d4464"/>
          <a:stretch xmlns:a="http://schemas.openxmlformats.org/drawingml/2006/main"/>
        </p:blipFill>
        <p:spPr>
          <a:xfrm xmlns:a="http://schemas.openxmlformats.org/drawingml/2006/main">
            <a:off x="4251234" y="1504950"/>
            <a:ext cx="3689531" cy="472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64870"/>
      </p:ext>
    </p:extLst>
  </p:cSld>
</p:sld>
</file>

<file path=ppt/slides/slide3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9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738F3257-E67F-4E38-8C59-1A0FD640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4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0" name="МИФ">
            <a:extLst xmlns:a="http://schemas.openxmlformats.org/drawingml/2006/main">
              <a:ext uri="{FF2B5EF4-FFF2-40B4-BE49-F238E27FC236}">
                <a16:creationId xmlns:a16="http://schemas.microsoft.com/office/drawing/2014/main" id="{E23FFA2F-92B5-40F5-A9D7-12AD3CA4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23812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3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РАЗБОР</a:t>
            </a:r>
          </a:p>
        </p:txBody>
      </p:sp>
      <p:sp>
        <p:nvSpPr>
          <p:cNvPr id="311" name="Вежливость не делает ответ точнее">
            <a:extLst xmlns:a="http://schemas.openxmlformats.org/drawingml/2006/main">
              <a:ext uri="{FF2B5EF4-FFF2-40B4-BE49-F238E27FC236}">
                <a16:creationId xmlns:a16="http://schemas.microsoft.com/office/drawing/2014/main" id="{3DED9A16-C6B8-423A-9DF8-9D7D6692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715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Такого emoji нет</a:t>
            </a:r>
          </a:p>
        </p:txBody>
      </p:sp>
      <p:sp>
        <p:nvSpPr>
          <p:cNvPr id="312" name="Тон иногда влияет на ответ, но это зависит от модели, задачи и формулировки.">
            <a:extLst xmlns:a="http://schemas.openxmlformats.org/drawingml/2006/main">
              <a:ext uri="{FF2B5EF4-FFF2-40B4-BE49-F238E27FC236}">
                <a16:creationId xmlns:a16="http://schemas.microsoft.com/office/drawing/2014/main" id="{60A73102-97A0-4ED9-AC51-DA8DFB92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91440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 Unicode нет отдельного emoji морского конька. Модель всё равно перебирает похожие символы и исправляет сама себя по кругу.</a:t>
            </a:r>
          </a:p>
        </p:txBody>
      </p:sp>
      <p:sp>
        <p:nvSpPr>
          <p:cNvPr id="313" name="Хотите проверить качество: сравните ответы на одном наборе задач.">
            <a:extLst xmlns:a="http://schemas.openxmlformats.org/drawingml/2006/main">
              <a:ext uri="{FF2B5EF4-FFF2-40B4-BE49-F238E27FC236}">
                <a16:creationId xmlns:a16="http://schemas.microsoft.com/office/drawing/2014/main" id="{47A43655-A2DE-445A-8249-B0DC0857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5250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2000"/>
              </a:lnSpc>
              <a:buNone/>
              <a:defRPr sz="19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Если нужного символа не существует, уверенный тон его не создаст.</a:t>
            </a:r>
          </a:p>
        </p:txBody>
      </p:sp>
      <p:sp>
        <p:nvSpPr>
          <p:cNvPr id="314" name="МИФЫ">
            <a:extLst xmlns:a="http://schemas.openxmlformats.org/drawingml/2006/main">
              <a:ext uri="{FF2B5EF4-FFF2-40B4-BE49-F238E27FC236}">
                <a16:creationId xmlns:a16="http://schemas.microsoft.com/office/drawing/2014/main" id="{5FF50439-A886-4409-858D-F1EDA6B7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МЕМЫ</a:t>
            </a:r>
          </a:p>
        </p:txBody>
      </p:sp>
      <p:sp>
        <p:nvSpPr>
          <p:cNvPr id="315" name="22">
            <a:extLst xmlns:a="http://schemas.openxmlformats.org/drawingml/2006/main">
              <a:ext uri="{FF2B5EF4-FFF2-40B4-BE49-F238E27FC236}">
                <a16:creationId xmlns:a16="http://schemas.microsoft.com/office/drawing/2014/main" id="{F616EBD5-D713-412E-B6DF-5F56306E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089824242"/>
      </p:ext>
    </p:extLst>
  </p:cSld>
</p:sld>
</file>

<file path=ppt/slides/slide3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107DBF-E8A9-41FB-8DED-6E6DCC43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Свиные крылышки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A60C4-9AB7-432E-9BFE-4FF3C8A6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C50D7-F117-4E23-90D8-3E78892B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u="sng">
                <a:solidFill>
                  <a:srgbClr val="2457D6"/>
                </a:solidFill>
                <a:latin typeface="Arial"/>
                <a:ea typeface="Arial"/>
                <a:cs typeface="Arial"/>
                <a:hlinkClick xmlns:r="http://schemas.openxmlformats.org/officeDocument/2006/relationships" r:id="R0002e54181b04b53"/>
              </a:rPr>
              <a:t>СТАТЬЯ НА VC.RU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D011F-758E-406E-8E57-8152754D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7d9a43e9d43af"/>
          <a:stretch xmlns:a="http://schemas.openxmlformats.org/drawingml/2006/main"/>
        </p:blipFill>
        <p:spPr>
          <a:xfrm xmlns:a="http://schemas.openxmlformats.org/drawingml/2006/main">
            <a:off x="4218052" y="1504950"/>
            <a:ext cx="3755898" cy="472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64870"/>
      </p:ext>
    </p:extLst>
  </p:cSld>
</p:sld>
</file>

<file path=ppt/slides/slide3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9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738F3257-E67F-4E38-8C59-1A0FD640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4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0" name="МИФ">
            <a:extLst xmlns:a="http://schemas.openxmlformats.org/drawingml/2006/main">
              <a:ext uri="{FF2B5EF4-FFF2-40B4-BE49-F238E27FC236}">
                <a16:creationId xmlns:a16="http://schemas.microsoft.com/office/drawing/2014/main" id="{E23FFA2F-92B5-40F5-A9D7-12AD3CA4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23812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3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РАЗБОР</a:t>
            </a:r>
          </a:p>
        </p:txBody>
      </p:sp>
      <p:sp>
        <p:nvSpPr>
          <p:cNvPr id="311" name="Вежливость не делает ответ точнее">
            <a:extLst xmlns:a="http://schemas.openxmlformats.org/drawingml/2006/main">
              <a:ext uri="{FF2B5EF4-FFF2-40B4-BE49-F238E27FC236}">
                <a16:creationId xmlns:a16="http://schemas.microsoft.com/office/drawing/2014/main" id="{3DED9A16-C6B8-423A-9DF8-9D7D6692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715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Модель сгаллюцинировала</a:t>
            </a:r>
          </a:p>
        </p:txBody>
      </p:sp>
      <p:sp>
        <p:nvSpPr>
          <p:cNvPr id="312" name="Тон иногда влияет на ответ, но это зависит от модели, задачи и формулировки.">
            <a:extLst xmlns:a="http://schemas.openxmlformats.org/drawingml/2006/main">
              <a:ext uri="{FF2B5EF4-FFF2-40B4-BE49-F238E27FC236}">
                <a16:creationId xmlns:a16="http://schemas.microsoft.com/office/drawing/2014/main" id="{60A73102-97A0-4ED9-AC51-DA8DFB92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91440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97416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 ингредиентах прямо написано: «Свиные крылышки — 1 кг». Такой части свиньи не существует. Модель выдумала ингредиент и продолжила рецепт.</a:t>
            </a:r>
          </a:p>
        </p:txBody>
      </p:sp>
      <p:sp>
        <p:nvSpPr>
          <p:cNvPr id="313" name="Хотите проверить качество: сравните ответы на одном наборе задач.">
            <a:extLst xmlns:a="http://schemas.openxmlformats.org/drawingml/2006/main">
              <a:ext uri="{FF2B5EF4-FFF2-40B4-BE49-F238E27FC236}">
                <a16:creationId xmlns:a16="http://schemas.microsoft.com/office/drawing/2014/main" id="{47A43655-A2DE-445A-8249-B0DC0857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5250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2000"/>
              </a:lnSpc>
              <a:buNone/>
              <a:defRPr sz="19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Это галлюцинация.</a:t>
            </a:r>
          </a:p>
        </p:txBody>
      </p:sp>
      <p:sp>
        <p:nvSpPr>
          <p:cNvPr id="314" name="МИФЫ">
            <a:extLst xmlns:a="http://schemas.openxmlformats.org/drawingml/2006/main">
              <a:ext uri="{FF2B5EF4-FFF2-40B4-BE49-F238E27FC236}">
                <a16:creationId xmlns:a16="http://schemas.microsoft.com/office/drawing/2014/main" id="{5FF50439-A886-4409-858D-F1EDA6B7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МЕМЫ</a:t>
            </a:r>
          </a:p>
        </p:txBody>
      </p:sp>
      <p:sp>
        <p:nvSpPr>
          <p:cNvPr id="315" name="22">
            <a:extLst xmlns:a="http://schemas.openxmlformats.org/drawingml/2006/main">
              <a:ext uri="{FF2B5EF4-FFF2-40B4-BE49-F238E27FC236}">
                <a16:creationId xmlns:a16="http://schemas.microsoft.com/office/drawing/2014/main" id="{F616EBD5-D713-412E-B6DF-5F56306E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089824242"/>
      </p:ext>
    </p:extLst>
  </p:cSld>
</p:sld>
</file>

<file path=ppt/slides/slide3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107DBF-E8A9-41FB-8DED-6E6DCC43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00" b="1" i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Иероглиф посреди ответа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A60C4-9AB7-432E-9BFE-4FF3C8A6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668">
            <a:solidFill>
              <a:srgbClr val="E7E7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C50D7-F117-4E23-90D8-3E78892B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u="sng">
                <a:solidFill>
                  <a:srgbClr val="2457D6"/>
                </a:solidFill>
                <a:latin typeface="Arial"/>
                <a:ea typeface="Arial"/>
                <a:cs typeface="Arial"/>
                <a:hlinkClick xmlns:r="http://schemas.openxmlformats.org/officeDocument/2006/relationships" r:id="Rb75284047696413f"/>
              </a:rPr>
              <a:t>СТАТЬЯ НА HABR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D011F-758E-406E-8E57-8152754D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fae11a75c411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85800" y="1504950"/>
            <a:ext cx="10820400" cy="472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64870"/>
      </p:ext>
    </p:extLst>
  </p:cSld>
</p:sld>
</file>

<file path=ppt/slides/slide4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9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738F3257-E67F-4E38-8C59-1A0FD640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45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0" name="МИФ">
            <a:extLst xmlns:a="http://schemas.openxmlformats.org/drawingml/2006/main">
              <a:ext uri="{FF2B5EF4-FFF2-40B4-BE49-F238E27FC236}">
                <a16:creationId xmlns:a16="http://schemas.microsoft.com/office/drawing/2014/main" id="{E23FFA2F-92B5-40F5-A9D7-12AD3CA4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23812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3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РАЗБОР</a:t>
            </a:r>
          </a:p>
        </p:txBody>
      </p:sp>
      <p:sp>
        <p:nvSpPr>
          <p:cNvPr id="311" name="Вежливость не делает ответ точнее">
            <a:extLst xmlns:a="http://schemas.openxmlformats.org/drawingml/2006/main">
              <a:ext uri="{FF2B5EF4-FFF2-40B4-BE49-F238E27FC236}">
                <a16:creationId xmlns:a16="http://schemas.microsoft.com/office/drawing/2014/main" id="{3DED9A16-C6B8-423A-9DF8-9D7D6692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715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4999"/>
              </a:lnSpc>
              <a:buNone/>
              <a:defRPr sz="3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Редкий токен плохо обучился</a:t>
            </a:r>
          </a:p>
        </p:txBody>
      </p:sp>
      <p:sp>
        <p:nvSpPr>
          <p:cNvPr id="312" name="Тон иногда влияет на ответ, но это зависит от модели, задачи и формулировки.">
            <a:extLst xmlns:a="http://schemas.openxmlformats.org/drawingml/2006/main">
              <a:ext uri="{FF2B5EF4-FFF2-40B4-BE49-F238E27FC236}">
                <a16:creationId xmlns:a16="http://schemas.microsoft.com/office/drawing/2014/main" id="{60A73102-97A0-4ED9-AC51-DA8DFB92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91440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Иероглиф слишком редко встречался в данных. Модель не успела нормально выучить его связи с другими токенами.</a:t>
            </a:r>
          </a:p>
        </p:txBody>
      </p:sp>
      <p:sp>
        <p:nvSpPr>
          <p:cNvPr id="313" name="Хотите проверить качество: сравните ответы на одном наборе задач.">
            <a:extLst xmlns:a="http://schemas.openxmlformats.org/drawingml/2006/main">
              <a:ext uri="{FF2B5EF4-FFF2-40B4-BE49-F238E27FC236}">
                <a16:creationId xmlns:a16="http://schemas.microsoft.com/office/drawing/2014/main" id="{47A43655-A2DE-445A-8249-B0DC0857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5250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2000"/>
              </a:lnSpc>
              <a:buNone/>
              <a:defRPr sz="19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Когда модель не уверена, такой токен может случайно попасть в ответ и увести продолжение в сторону.</a:t>
            </a:r>
          </a:p>
        </p:txBody>
      </p:sp>
      <p:sp>
        <p:nvSpPr>
          <p:cNvPr id="314" name="МИФЫ">
            <a:extLst xmlns:a="http://schemas.openxmlformats.org/drawingml/2006/main">
              <a:ext uri="{FF2B5EF4-FFF2-40B4-BE49-F238E27FC236}">
                <a16:creationId xmlns:a16="http://schemas.microsoft.com/office/drawing/2014/main" id="{5FF50439-A886-4409-858D-F1EDA6B7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МЕМЫ</a:t>
            </a:r>
          </a:p>
        </p:txBody>
      </p:sp>
      <p:sp>
        <p:nvSpPr>
          <p:cNvPr id="315" name="22">
            <a:extLst xmlns:a="http://schemas.openxmlformats.org/drawingml/2006/main">
              <a:ext uri="{FF2B5EF4-FFF2-40B4-BE49-F238E27FC236}">
                <a16:creationId xmlns:a16="http://schemas.microsoft.com/office/drawing/2014/main" id="{F616EBD5-D713-412E-B6DF-5F56306E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089824242"/>
      </p:ext>
    </p:extLst>
  </p:cSld>
</p:sld>
</file>

<file path=ppt/slides/slide4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8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657BFA79-ABB0-4C07-9336-A0885B9B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D6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C0FB24-A521-418C-8010-73EDD765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52550"/>
            <a:ext cx="9715500" cy="1619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4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510" name="Хороший промпт объясняет задачу, даёт нужные данные и задаёт проверяемый результат.">
            <a:extLst xmlns:a="http://schemas.openxmlformats.org/drawingml/2006/main">
              <a:ext uri="{FF2B5EF4-FFF2-40B4-BE49-F238E27FC236}">
                <a16:creationId xmlns:a16="http://schemas.microsoft.com/office/drawing/2014/main" id="{D208A8DF-5EE4-4AB4-A93C-254D6BD1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8763000" cy="1238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5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Хороший промпт объясняет задачу, даёт нужные данные и задаёт проверяемый результат.</a:t>
            </a:r>
          </a:p>
        </p:txBody>
      </p:sp>
      <p:sp>
        <p:nvSpPr>
          <p:cNvPr id="511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89E449BA-C082-4B09-8B71-D1F6AF8E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512" name="37">
            <a:extLst xmlns:a="http://schemas.openxmlformats.org/drawingml/2006/main">
              <a:ext uri="{FF2B5EF4-FFF2-40B4-BE49-F238E27FC236}">
                <a16:creationId xmlns:a16="http://schemas.microsoft.com/office/drawing/2014/main" id="{18EC29FF-C45C-46D1-A0F2-C57E6275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558329133"/>
      </p:ext>
    </p:extLst>
  </p:cSld>
</p:sld>
</file>

<file path=ppt/slides/slide4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F470FE-EEAD-4354-A03F-62912D09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Структура промпта</a:t>
            </a:r>
          </a:p>
        </p:txBody>
      </p:sp>
      <p:sp>
        <p:nvSpPr>
          <p:cNvPr id="517" name="Линия">
            <a:extLst xmlns:a="http://schemas.openxmlformats.org/drawingml/2006/main">
              <a:ext uri="{FF2B5EF4-FFF2-40B4-BE49-F238E27FC236}">
                <a16:creationId xmlns:a16="http://schemas.microsoft.com/office/drawing/2014/main" id="{21AFC1BF-DF75-4F1F-AECD-7C9F7FFF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8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F0761B76-8150-4F20-AB0D-7539F706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519" name="38">
            <a:extLst xmlns:a="http://schemas.openxmlformats.org/drawingml/2006/main">
              <a:ext uri="{FF2B5EF4-FFF2-40B4-BE49-F238E27FC236}">
                <a16:creationId xmlns:a16="http://schemas.microsoft.com/office/drawing/2014/main" id="{07F3DFE1-B2B1-42BA-AF09-A49EDAA5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42</a:t>
            </a:r>
          </a:p>
        </p:txBody>
      </p:sp>
      <p:sp>
        <p:nvSpPr>
          <p:cNvPr id="520" name="1">
            <a:extLst xmlns:a="http://schemas.openxmlformats.org/drawingml/2006/main">
              <a:ext uri="{FF2B5EF4-FFF2-40B4-BE49-F238E27FC236}">
                <a16:creationId xmlns:a16="http://schemas.microsoft.com/office/drawing/2014/main" id="{18DF50DB-8D35-4917-9EB6-00EC8315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762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</a:t>
            </a:r>
          </a:p>
        </p:txBody>
      </p:sp>
      <p:sp>
        <p:nvSpPr>
          <p:cNvPr id="521" name="ЗАДАЧА">
            <a:extLst xmlns:a="http://schemas.openxmlformats.org/drawingml/2006/main">
              <a:ext uri="{FF2B5EF4-FFF2-40B4-BE49-F238E27FC236}">
                <a16:creationId xmlns:a16="http://schemas.microsoft.com/office/drawing/2014/main" id="{384C03E1-CCCC-4D35-A38A-741D72DE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95450"/>
            <a:ext cx="209550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ЗАДАЧА</a:t>
            </a:r>
          </a:p>
        </p:txBody>
      </p:sp>
      <p:sp>
        <p:nvSpPr>
          <p:cNvPr id="522" name="что должно получиться">
            <a:extLst xmlns:a="http://schemas.openxmlformats.org/drawingml/2006/main">
              <a:ext uri="{FF2B5EF4-FFF2-40B4-BE49-F238E27FC236}">
                <a16:creationId xmlns:a16="http://schemas.microsoft.com/office/drawing/2014/main" id="{C32B5A02-000A-4E04-B99E-99877D22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95450"/>
            <a:ext cx="67627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что должно получиться</a:t>
            </a:r>
          </a:p>
        </p:txBody>
      </p:sp>
      <p:sp>
        <p:nvSpPr>
          <p:cNvPr id="523" name="2">
            <a:extLst xmlns:a="http://schemas.openxmlformats.org/drawingml/2006/main">
              <a:ext uri="{FF2B5EF4-FFF2-40B4-BE49-F238E27FC236}">
                <a16:creationId xmlns:a16="http://schemas.microsoft.com/office/drawing/2014/main" id="{F2F79335-605A-4902-AD10-393539F1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4762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</a:t>
            </a:r>
          </a:p>
        </p:txBody>
      </p:sp>
      <p:sp>
        <p:nvSpPr>
          <p:cNvPr id="524" name="ДАННЫЕ">
            <a:extLst xmlns:a="http://schemas.openxmlformats.org/drawingml/2006/main">
              <a:ext uri="{FF2B5EF4-FFF2-40B4-BE49-F238E27FC236}">
                <a16:creationId xmlns:a16="http://schemas.microsoft.com/office/drawing/2014/main" id="{FA40D15B-173B-4227-AC26-F11FC578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57450"/>
            <a:ext cx="209550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ДАННЫЕ</a:t>
            </a:r>
          </a:p>
        </p:txBody>
      </p:sp>
      <p:sp>
        <p:nvSpPr>
          <p:cNvPr id="525" name="что модель должна учитывать">
            <a:extLst xmlns:a="http://schemas.openxmlformats.org/drawingml/2006/main">
              <a:ext uri="{FF2B5EF4-FFF2-40B4-BE49-F238E27FC236}">
                <a16:creationId xmlns:a16="http://schemas.microsoft.com/office/drawing/2014/main" id="{A05C7E90-35F0-4137-A8D7-5C8A6163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67627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что модель должна учитывать</a:t>
            </a:r>
          </a:p>
        </p:txBody>
      </p:sp>
      <p:sp>
        <p:nvSpPr>
          <p:cNvPr id="526" name="3">
            <a:extLst xmlns:a="http://schemas.openxmlformats.org/drawingml/2006/main">
              <a:ext uri="{FF2B5EF4-FFF2-40B4-BE49-F238E27FC236}">
                <a16:creationId xmlns:a16="http://schemas.microsoft.com/office/drawing/2014/main" id="{0A13D2B9-31B4-4971-9C42-5B1AC6B9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762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</a:t>
            </a:r>
          </a:p>
        </p:txBody>
      </p:sp>
      <p:sp>
        <p:nvSpPr>
          <p:cNvPr id="527" name="ГРАНИЦЫ">
            <a:extLst xmlns:a="http://schemas.openxmlformats.org/drawingml/2006/main">
              <a:ext uri="{FF2B5EF4-FFF2-40B4-BE49-F238E27FC236}">
                <a16:creationId xmlns:a16="http://schemas.microsoft.com/office/drawing/2014/main" id="{4B9C3EF0-E8B5-4B6D-AF40-D8AC338A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19450"/>
            <a:ext cx="209550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ГРАНИЦЫ</a:t>
            </a:r>
          </a:p>
        </p:txBody>
      </p:sp>
      <p:sp>
        <p:nvSpPr>
          <p:cNvPr id="528" name="что нельзя менять и где спросить">
            <a:extLst xmlns:a="http://schemas.openxmlformats.org/drawingml/2006/main">
              <a:ext uri="{FF2B5EF4-FFF2-40B4-BE49-F238E27FC236}">
                <a16:creationId xmlns:a16="http://schemas.microsoft.com/office/drawing/2014/main" id="{144A4C07-4DFA-4B3F-9211-1D015CD4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67627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что нельзя менять и где спросить</a:t>
            </a:r>
          </a:p>
        </p:txBody>
      </p:sp>
      <p:sp>
        <p:nvSpPr>
          <p:cNvPr id="529" name="4">
            <a:extLst xmlns:a="http://schemas.openxmlformats.org/drawingml/2006/main">
              <a:ext uri="{FF2B5EF4-FFF2-40B4-BE49-F238E27FC236}">
                <a16:creationId xmlns:a16="http://schemas.microsoft.com/office/drawing/2014/main" id="{B111B151-1B99-41B3-A70F-C014E88A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4762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</a:t>
            </a:r>
          </a:p>
        </p:txBody>
      </p:sp>
      <p:sp>
        <p:nvSpPr>
          <p:cNvPr id="530" name="РЕЗУЛЬТАТ">
            <a:extLst xmlns:a="http://schemas.openxmlformats.org/drawingml/2006/main">
              <a:ext uri="{FF2B5EF4-FFF2-40B4-BE49-F238E27FC236}">
                <a16:creationId xmlns:a16="http://schemas.microsoft.com/office/drawing/2014/main" id="{2E35A534-EC30-47DB-8ACB-67527B8D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81450"/>
            <a:ext cx="209550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РЕЗУЛЬТАТ</a:t>
            </a:r>
          </a:p>
        </p:txBody>
      </p:sp>
      <p:sp>
        <p:nvSpPr>
          <p:cNvPr id="531" name="в каком виде вернуть ответ">
            <a:extLst xmlns:a="http://schemas.openxmlformats.org/drawingml/2006/main">
              <a:ext uri="{FF2B5EF4-FFF2-40B4-BE49-F238E27FC236}">
                <a16:creationId xmlns:a16="http://schemas.microsoft.com/office/drawing/2014/main" id="{CEEF25EC-833A-4085-9647-2C55B396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81450"/>
            <a:ext cx="67627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 каком виде вернуть ответ</a:t>
            </a:r>
          </a:p>
        </p:txBody>
      </p:sp>
      <p:sp>
        <p:nvSpPr>
          <p:cNvPr id="532" name="5">
            <a:extLst xmlns:a="http://schemas.openxmlformats.org/drawingml/2006/main">
              <a:ext uri="{FF2B5EF4-FFF2-40B4-BE49-F238E27FC236}">
                <a16:creationId xmlns:a16="http://schemas.microsoft.com/office/drawing/2014/main" id="{D91C62C6-ECFF-46A3-96C9-F60835D5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4762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</a:t>
            </a:r>
          </a:p>
        </p:txBody>
      </p:sp>
      <p:sp>
        <p:nvSpPr>
          <p:cNvPr id="533" name="ПРОВЕРКА">
            <a:extLst xmlns:a="http://schemas.openxmlformats.org/drawingml/2006/main">
              <a:ext uri="{FF2B5EF4-FFF2-40B4-BE49-F238E27FC236}">
                <a16:creationId xmlns:a16="http://schemas.microsoft.com/office/drawing/2014/main" id="{9B2686A6-6478-4C77-9A9F-ABD01E93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43450"/>
            <a:ext cx="209550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ПРОВЕРКА</a:t>
            </a:r>
          </a:p>
        </p:txBody>
      </p:sp>
      <p:sp>
        <p:nvSpPr>
          <p:cNvPr id="534" name="как понять, что готово">
            <a:extLst xmlns:a="http://schemas.openxmlformats.org/drawingml/2006/main">
              <a:ext uri="{FF2B5EF4-FFF2-40B4-BE49-F238E27FC236}">
                <a16:creationId xmlns:a16="http://schemas.microsoft.com/office/drawing/2014/main" id="{A5CFA91F-914B-4987-9C7E-0BD680AD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43450"/>
            <a:ext cx="6762750" cy="41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как понять, что готово</a:t>
            </a:r>
          </a:p>
        </p:txBody>
      </p:sp>
    </p:spTree>
    <p:extLst>
      <p:ext uri="{BB962C8B-B14F-4D97-AF65-F5344CB8AC3E}">
        <p14:creationId xmlns:p14="http://schemas.microsoft.com/office/powerpoint/2010/main" val="1353951185"/>
      </p:ext>
    </p:extLst>
  </p:cSld>
</p:sld>
</file>

<file path=ppt/slides/slide4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3ACD3F-2D51-44CA-86B6-DB988476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1. Результат</a:t>
            </a:r>
          </a:p>
        </p:txBody>
      </p:sp>
      <p:sp>
        <p:nvSpPr>
          <p:cNvPr id="539" name="Линия">
            <a:extLst xmlns:a="http://schemas.openxmlformats.org/drawingml/2006/main">
              <a:ext uri="{FF2B5EF4-FFF2-40B4-BE49-F238E27FC236}">
                <a16:creationId xmlns:a16="http://schemas.microsoft.com/office/drawing/2014/main" id="{5975CF45-BCE8-4BFF-BAB7-349BF406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0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B3894A7B-DF94-4F3C-BDF1-CAE3CD82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541" name="39">
            <a:extLst xmlns:a="http://schemas.openxmlformats.org/drawingml/2006/main">
              <a:ext uri="{FF2B5EF4-FFF2-40B4-BE49-F238E27FC236}">
                <a16:creationId xmlns:a16="http://schemas.microsoft.com/office/drawing/2014/main" id="{762AE337-0BCC-4E50-878A-5BB7D3D1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43</a:t>
            </a:r>
          </a:p>
        </p:txBody>
      </p:sp>
      <p:sp>
        <p:nvSpPr>
          <p:cNvPr id="542" name="БЫЛО">
            <a:extLst xmlns:a="http://schemas.openxmlformats.org/drawingml/2006/main">
              <a:ext uri="{FF2B5EF4-FFF2-40B4-BE49-F238E27FC236}">
                <a16:creationId xmlns:a16="http://schemas.microsoft.com/office/drawing/2014/main" id="{9CF25E2F-E4B1-4DBC-8A87-9B20FD9E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БЫЛО</a:t>
            </a:r>
          </a:p>
        </p:txBody>
      </p:sp>
      <p:sp>
        <p:nvSpPr>
          <p:cNvPr id="543" name="СТАЛО">
            <a:extLst xmlns:a="http://schemas.openxmlformats.org/drawingml/2006/main">
              <a:ext uri="{FF2B5EF4-FFF2-40B4-BE49-F238E27FC236}">
                <a16:creationId xmlns:a16="http://schemas.microsoft.com/office/drawing/2014/main" id="{116F867D-BAC1-41FE-BF42-E47E6582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СТАЛО</a:t>
            </a:r>
          </a:p>
        </p:txBody>
      </p:sp>
      <p:sp>
        <p:nvSpPr>
          <p:cNvPr id="544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76D3C002-9E6A-4063-8686-AC451651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5" name="Сделай LLM-кодер">
            <a:extLst xmlns:a="http://schemas.openxmlformats.org/drawingml/2006/main">
              <a:ext uri="{FF2B5EF4-FFF2-40B4-BE49-F238E27FC236}">
                <a16:creationId xmlns:a16="http://schemas.microsoft.com/office/drawing/2014/main" id="{41524508-C79F-4812-926D-A950B893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Сделай LLM-кодер</a:t>
            </a:r>
          </a:p>
        </p:txBody>
      </p:sp>
      <p:sp>
        <p:nvSpPr>
          <p:cNvPr id="546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724F1A9A-19A5-4FB0-B1A5-85701C94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7" name="Сделай CLI, который получает задачу по репозиторию и возвращает план, patch и команду теста.">
            <a:extLst xmlns:a="http://schemas.openxmlformats.org/drawingml/2006/main">
              <a:ext uri="{FF2B5EF4-FFF2-40B4-BE49-F238E27FC236}">
                <a16:creationId xmlns:a16="http://schemas.microsoft.com/office/drawing/2014/main" id="{CF82EFC9-8658-4788-BD45-A500C662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17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Сделай CLI, который получает задачу по репозиторию и возвращает план, patch и команду теста.</a:t>
            </a:r>
          </a:p>
        </p:txBody>
      </p:sp>
      <p:sp>
        <p:nvSpPr>
          <p:cNvPr id="548" name="Сразу пишем, что должно получиться.">
            <a:extLst xmlns:a="http://schemas.openxmlformats.org/drawingml/2006/main">
              <a:ext uri="{FF2B5EF4-FFF2-40B4-BE49-F238E27FC236}">
                <a16:creationId xmlns:a16="http://schemas.microsoft.com/office/drawing/2014/main" id="{AD933F74-71BB-473E-BB3C-6BB1560D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Сразу пишем, что должно получиться.</a:t>
            </a:r>
          </a:p>
        </p:txBody>
      </p:sp>
    </p:spTree>
    <p:extLst>
      <p:ext uri="{BB962C8B-B14F-4D97-AF65-F5344CB8AC3E}">
        <p14:creationId xmlns:p14="http://schemas.microsoft.com/office/powerpoint/2010/main" val="1301982090"/>
      </p:ext>
    </p:extLst>
  </p:cSld>
</p:sld>
</file>

<file path=ppt/slides/slide4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E9CC61-58C7-4414-8F57-1CF1117D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2. Контекст</a:t>
            </a:r>
          </a:p>
        </p:txBody>
      </p:sp>
      <p:sp>
        <p:nvSpPr>
          <p:cNvPr id="553" name="Линия">
            <a:extLst xmlns:a="http://schemas.openxmlformats.org/drawingml/2006/main">
              <a:ext uri="{FF2B5EF4-FFF2-40B4-BE49-F238E27FC236}">
                <a16:creationId xmlns:a16="http://schemas.microsoft.com/office/drawing/2014/main" id="{B96B8B8B-204E-4071-BA31-AFB1E0F4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4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D5321FE3-3352-4782-A2B3-8DC85E40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555" name="40">
            <a:extLst xmlns:a="http://schemas.openxmlformats.org/drawingml/2006/main">
              <a:ext uri="{FF2B5EF4-FFF2-40B4-BE49-F238E27FC236}">
                <a16:creationId xmlns:a16="http://schemas.microsoft.com/office/drawing/2014/main" id="{5EDF0CB9-BE46-49B2-B3A5-9F69F26A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44</a:t>
            </a:r>
          </a:p>
        </p:txBody>
      </p:sp>
      <p:sp>
        <p:nvSpPr>
          <p:cNvPr id="556" name="БЫЛО">
            <a:extLst xmlns:a="http://schemas.openxmlformats.org/drawingml/2006/main">
              <a:ext uri="{FF2B5EF4-FFF2-40B4-BE49-F238E27FC236}">
                <a16:creationId xmlns:a16="http://schemas.microsoft.com/office/drawing/2014/main" id="{D8433B9C-44A4-41B8-BCC9-1CBD2AD8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БЫЛО</a:t>
            </a:r>
          </a:p>
        </p:txBody>
      </p:sp>
      <p:sp>
        <p:nvSpPr>
          <p:cNvPr id="557" name="СТАЛО">
            <a:extLst xmlns:a="http://schemas.openxmlformats.org/drawingml/2006/main">
              <a:ext uri="{FF2B5EF4-FFF2-40B4-BE49-F238E27FC236}">
                <a16:creationId xmlns:a16="http://schemas.microsoft.com/office/drawing/2014/main" id="{5B2A31CB-9336-41D7-9A7E-2E7864A8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СТАЛО</a:t>
            </a:r>
          </a:p>
        </p:txBody>
      </p:sp>
      <p:sp>
        <p:nvSpPr>
          <p:cNvPr id="558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AB5CE5D7-B5D6-424D-89D0-26CF2EF5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9" name="Вот весь репозиторий и история проекта…">
            <a:extLst xmlns:a="http://schemas.openxmlformats.org/drawingml/2006/main">
              <a:ext uri="{FF2B5EF4-FFF2-40B4-BE49-F238E27FC236}">
                <a16:creationId xmlns:a16="http://schemas.microsoft.com/office/drawing/2014/main" id="{EFB4F3CC-BEDA-4A9C-8366-9AFEC22E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Вот весь репозиторий и история проекта…</a:t>
            </a:r>
          </a:p>
        </p:txBody>
      </p:sp>
      <p:sp>
        <p:nvSpPr>
          <p:cNvPr id="560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D4D262A8-BD43-476E-945D-BDB285FF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1" name="Python 3.11. Публичный API менять нельзя. Используй существующие зависимости. Ниже: tree и два релевантных файла.">
            <a:extLst xmlns:a="http://schemas.openxmlformats.org/drawingml/2006/main">
              <a:ext uri="{FF2B5EF4-FFF2-40B4-BE49-F238E27FC236}">
                <a16:creationId xmlns:a16="http://schemas.microsoft.com/office/drawing/2014/main" id="{938048B4-B84C-402D-96F3-52E1870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17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Python 3.11. Публичный API менять нельзя. Используй существующие зависимости. Ниже: tree и два релевантных файла.</a:t>
            </a:r>
          </a:p>
        </p:txBody>
      </p:sp>
      <p:sp>
        <p:nvSpPr>
          <p:cNvPr id="562" name="Добавляем только данные, которые могут изменить решение.">
            <a:extLst xmlns:a="http://schemas.openxmlformats.org/drawingml/2006/main">
              <a:ext uri="{FF2B5EF4-FFF2-40B4-BE49-F238E27FC236}">
                <a16:creationId xmlns:a16="http://schemas.microsoft.com/office/drawing/2014/main" id="{E5874136-DE18-4D5F-93E8-2F316ECA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Добавляем только данные, которые могут изменить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1098176115"/>
      </p:ext>
    </p:extLst>
  </p:cSld>
</p:sld>
</file>

<file path=ppt/slides/slide4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981A76-9991-49B2-8AB9-E0382CFA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3. Правила и входные данные</a:t>
            </a:r>
          </a:p>
        </p:txBody>
      </p:sp>
      <p:sp>
        <p:nvSpPr>
          <p:cNvPr id="567" name="Линия">
            <a:extLst xmlns:a="http://schemas.openxmlformats.org/drawingml/2006/main">
              <a:ext uri="{FF2B5EF4-FFF2-40B4-BE49-F238E27FC236}">
                <a16:creationId xmlns:a16="http://schemas.microsoft.com/office/drawing/2014/main" id="{456F6736-9D17-4CA0-89D9-4B8F6065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8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984153CA-6A39-4AAC-ABA9-B5E36531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569" name="41">
            <a:extLst xmlns:a="http://schemas.openxmlformats.org/drawingml/2006/main">
              <a:ext uri="{FF2B5EF4-FFF2-40B4-BE49-F238E27FC236}">
                <a16:creationId xmlns:a16="http://schemas.microsoft.com/office/drawing/2014/main" id="{07CF238D-0395-46B3-9145-C7A9D405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45</a:t>
            </a:r>
          </a:p>
        </p:txBody>
      </p:sp>
      <p:sp>
        <p:nvSpPr>
          <p:cNvPr id="570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7410D48B-BAC0-4A84-8828-806B1681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144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1" name="# Постоянные правила…">
            <a:extLst xmlns:a="http://schemas.openxmlformats.org/drawingml/2006/main">
              <a:ext uri="{FF2B5EF4-FFF2-40B4-BE49-F238E27FC236}">
                <a16:creationId xmlns:a16="http://schemas.microsoft.com/office/drawing/2014/main" id="{65145412-E384-4A92-AB52-32F42354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71675"/>
            <a:ext cx="8686800" cy="2914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# Постоянные правила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Верни plan, patch и tests.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Не применяй изменения автоматически.</a:t>
            </a:r>
          </a:p>
          <a:p xmlns:a="http://schemas.openxmlformats.org/drawingml/2006/main">
            <a:pPr>
              <a:buNone/>
            </a:pPr>
            <a:endParaRPr>
              <a:solidFill>
                <a:srgbClr val="161616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# Вход этого запуска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&lt;task&gt;...&lt;/task&gt;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&lt;tree&gt;...&lt;/tree&gt;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&lt;files&gt;...&lt;/files&gt;</a:t>
            </a:r>
          </a:p>
        </p:txBody>
      </p:sp>
      <p:sp>
        <p:nvSpPr>
          <p:cNvPr id="572" name="Разделители делают промпт понятнее. Защиту от prompt injection строим отдельно.">
            <a:extLst xmlns:a="http://schemas.openxmlformats.org/drawingml/2006/main">
              <a:ext uri="{FF2B5EF4-FFF2-40B4-BE49-F238E27FC236}">
                <a16:creationId xmlns:a16="http://schemas.microsoft.com/office/drawing/2014/main" id="{DEA6EA23-33E8-4B8B-972B-A0C19273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12000"/>
              </a:lnSpc>
              <a:buNone/>
              <a:defRPr sz="16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Разделители делают промпт понятнее. Защиту от prompt injection строим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305076155"/>
      </p:ext>
    </p:extLst>
  </p:cSld>
</p:sld>
</file>

<file path=ppt/slides/slide4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A0F5B1-1368-4EAE-A955-6CF62C35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4. Ограничения</a:t>
            </a:r>
          </a:p>
        </p:txBody>
      </p:sp>
      <p:sp>
        <p:nvSpPr>
          <p:cNvPr id="577" name="Линия">
            <a:extLst xmlns:a="http://schemas.openxmlformats.org/drawingml/2006/main">
              <a:ext uri="{FF2B5EF4-FFF2-40B4-BE49-F238E27FC236}">
                <a16:creationId xmlns:a16="http://schemas.microsoft.com/office/drawing/2014/main" id="{95A15E7F-CCB7-4416-9508-0D7CF510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8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CF92A760-866B-4766-ACEE-C0A9AB00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579" name="42">
            <a:extLst xmlns:a="http://schemas.openxmlformats.org/drawingml/2006/main">
              <a:ext uri="{FF2B5EF4-FFF2-40B4-BE49-F238E27FC236}">
                <a16:creationId xmlns:a16="http://schemas.microsoft.com/office/drawing/2014/main" id="{2D2B072B-7C7A-496B-8BFD-4503CEB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46</a:t>
            </a:r>
          </a:p>
        </p:txBody>
      </p:sp>
      <p:sp>
        <p:nvSpPr>
          <p:cNvPr id="580" name="БЫЛО">
            <a:extLst xmlns:a="http://schemas.openxmlformats.org/drawingml/2006/main">
              <a:ext uri="{FF2B5EF4-FFF2-40B4-BE49-F238E27FC236}">
                <a16:creationId xmlns:a16="http://schemas.microsoft.com/office/drawing/2014/main" id="{5876E0F2-3438-409D-9B2F-23831A85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БЫЛО</a:t>
            </a:r>
          </a:p>
        </p:txBody>
      </p:sp>
      <p:sp>
        <p:nvSpPr>
          <p:cNvPr id="581" name="СТАЛО">
            <a:extLst xmlns:a="http://schemas.openxmlformats.org/drawingml/2006/main">
              <a:ext uri="{FF2B5EF4-FFF2-40B4-BE49-F238E27FC236}">
                <a16:creationId xmlns:a16="http://schemas.microsoft.com/office/drawing/2014/main" id="{004741FE-DB7C-4B98-9F76-0DB5D387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СТАЛО</a:t>
            </a:r>
          </a:p>
        </p:txBody>
      </p:sp>
      <p:sp>
        <p:nvSpPr>
          <p:cNvPr id="582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BD4AD185-2946-4260-A678-053EFE31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3" name="Сделай надёжно и безопасно">
            <a:extLst xmlns:a="http://schemas.openxmlformats.org/drawingml/2006/main">
              <a:ext uri="{FF2B5EF4-FFF2-40B4-BE49-F238E27FC236}">
                <a16:creationId xmlns:a16="http://schemas.microsoft.com/office/drawing/2014/main" id="{7A6E0DE2-760B-4768-A463-9FD56B3E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Сделай надёжно и безопасно</a:t>
            </a:r>
          </a:p>
        </p:txBody>
      </p:sp>
      <p:sp>
        <p:nvSpPr>
          <p:cNvPr id="584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E6204290-5AD6-43C6-BA73-6D1F9B9D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5" name="Не удаляй файлы. Не меняй публичный API. Не добавляй зависимости. Не выполняй patch без подтверждения.">
            <a:extLst xmlns:a="http://schemas.openxmlformats.org/drawingml/2006/main">
              <a:ext uri="{FF2B5EF4-FFF2-40B4-BE49-F238E27FC236}">
                <a16:creationId xmlns:a16="http://schemas.microsoft.com/office/drawing/2014/main" id="{9F71F247-5343-4137-9BE5-219658C1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17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Не удаляй файлы. Не меняй публичный API. Не добавляй зависимости. Не выполняй patch без подтверждения.</a:t>
            </a:r>
          </a:p>
        </p:txBody>
      </p:sp>
      <p:sp>
        <p:nvSpPr>
          <p:cNvPr id="586" name="Важные запреты дублируем кодом и правами доступа.">
            <a:extLst xmlns:a="http://schemas.openxmlformats.org/drawingml/2006/main">
              <a:ext uri="{FF2B5EF4-FFF2-40B4-BE49-F238E27FC236}">
                <a16:creationId xmlns:a16="http://schemas.microsoft.com/office/drawing/2014/main" id="{30D71F5F-8389-4497-8F65-43B885FA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Важные запреты дублируем кодом и правами доступа.</a:t>
            </a:r>
          </a:p>
        </p:txBody>
      </p:sp>
    </p:spTree>
    <p:extLst>
      <p:ext uri="{BB962C8B-B14F-4D97-AF65-F5344CB8AC3E}">
        <p14:creationId xmlns:p14="http://schemas.microsoft.com/office/powerpoint/2010/main" val="1699415822"/>
      </p:ext>
    </p:extLst>
  </p:cSld>
</p:sld>
</file>

<file path=ppt/slides/slide4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051201-1BC0-4AFD-AC19-CEB3CE9A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5. Формат ответа</a:t>
            </a:r>
          </a:p>
        </p:txBody>
      </p:sp>
      <p:sp>
        <p:nvSpPr>
          <p:cNvPr id="591" name="Линия">
            <a:extLst xmlns:a="http://schemas.openxmlformats.org/drawingml/2006/main">
              <a:ext uri="{FF2B5EF4-FFF2-40B4-BE49-F238E27FC236}">
                <a16:creationId xmlns:a16="http://schemas.microsoft.com/office/drawing/2014/main" id="{14D6B536-75A3-497B-A1C0-09E2CDFA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2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47489D01-EB4A-4871-93C4-5283804E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593" name="43">
            <a:extLst xmlns:a="http://schemas.openxmlformats.org/drawingml/2006/main">
              <a:ext uri="{FF2B5EF4-FFF2-40B4-BE49-F238E27FC236}">
                <a16:creationId xmlns:a16="http://schemas.microsoft.com/office/drawing/2014/main" id="{8A147BF4-FA5D-495D-8084-B7C0A4C5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47</a:t>
            </a:r>
          </a:p>
        </p:txBody>
      </p:sp>
      <p:sp>
        <p:nvSpPr>
          <p:cNvPr id="594" name="БЫЛО">
            <a:extLst xmlns:a="http://schemas.openxmlformats.org/drawingml/2006/main">
              <a:ext uri="{FF2B5EF4-FFF2-40B4-BE49-F238E27FC236}">
                <a16:creationId xmlns:a16="http://schemas.microsoft.com/office/drawing/2014/main" id="{B50D6FE8-4D04-4D22-B597-51E29936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БЫЛО</a:t>
            </a:r>
          </a:p>
        </p:txBody>
      </p:sp>
      <p:sp>
        <p:nvSpPr>
          <p:cNvPr id="595" name="СТАЛО">
            <a:extLst xmlns:a="http://schemas.openxmlformats.org/drawingml/2006/main">
              <a:ext uri="{FF2B5EF4-FFF2-40B4-BE49-F238E27FC236}">
                <a16:creationId xmlns:a16="http://schemas.microsoft.com/office/drawing/2014/main" id="{CE889F40-A119-4239-B016-F050151F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СТАЛО</a:t>
            </a:r>
          </a:p>
        </p:txBody>
      </p:sp>
      <p:sp>
        <p:nvSpPr>
          <p:cNvPr id="596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0CE5D1EE-2942-4F0B-9294-D621297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7" name="Ответь структурированно">
            <a:extLst xmlns:a="http://schemas.openxmlformats.org/drawingml/2006/main">
              <a:ext uri="{FF2B5EF4-FFF2-40B4-BE49-F238E27FC236}">
                <a16:creationId xmlns:a16="http://schemas.microsoft.com/office/drawing/2014/main" id="{7752FC1A-3C8B-4C8F-8B1A-8AA501F0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Ответь структурированно</a:t>
            </a:r>
          </a:p>
        </p:txBody>
      </p:sp>
      <p:sp>
        <p:nvSpPr>
          <p:cNvPr id="598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EEF23FD0-9D71-445D-9792-3D399694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9" name="Верни:…">
            <a:extLst xmlns:a="http://schemas.openxmlformats.org/drawingml/2006/main">
              <a:ext uri="{FF2B5EF4-FFF2-40B4-BE49-F238E27FC236}">
                <a16:creationId xmlns:a16="http://schemas.microsoft.com/office/drawing/2014/main" id="{FC662333-01E6-4B83-85D6-ECEDE37E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Верни: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1. summary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2. assumptions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3. files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4. unified diff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5. tests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6. risks</a:t>
            </a:r>
          </a:p>
        </p:txBody>
      </p:sp>
      <p:sp>
        <p:nvSpPr>
          <p:cNvPr id="600" name="Если ответ читает программа, задаём схему.">
            <a:extLst xmlns:a="http://schemas.openxmlformats.org/drawingml/2006/main">
              <a:ext uri="{FF2B5EF4-FFF2-40B4-BE49-F238E27FC236}">
                <a16:creationId xmlns:a16="http://schemas.microsoft.com/office/drawing/2014/main" id="{29A36DA1-C661-49DF-AE30-CAFBE493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Если ответ читает программа, задаём схему.</a:t>
            </a:r>
          </a:p>
        </p:txBody>
      </p:sp>
    </p:spTree>
    <p:extLst>
      <p:ext uri="{BB962C8B-B14F-4D97-AF65-F5344CB8AC3E}">
        <p14:creationId xmlns:p14="http://schemas.microsoft.com/office/powerpoint/2010/main" val="392618875"/>
      </p:ext>
    </p:extLst>
  </p:cSld>
</p:sld>
</file>

<file path=ppt/slides/slide4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4E218F-C3A9-47DB-B431-24FA8E45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6. Критерии готовности</a:t>
            </a:r>
          </a:p>
        </p:txBody>
      </p:sp>
      <p:sp>
        <p:nvSpPr>
          <p:cNvPr id="605" name="Линия">
            <a:extLst xmlns:a="http://schemas.openxmlformats.org/drawingml/2006/main">
              <a:ext uri="{FF2B5EF4-FFF2-40B4-BE49-F238E27FC236}">
                <a16:creationId xmlns:a16="http://schemas.microsoft.com/office/drawing/2014/main" id="{CE8D1375-86E2-4E7C-B966-E790B7FE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6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B0B1A12A-60C4-439B-9B3B-23CA941E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607" name="44">
            <a:extLst xmlns:a="http://schemas.openxmlformats.org/drawingml/2006/main">
              <a:ext uri="{FF2B5EF4-FFF2-40B4-BE49-F238E27FC236}">
                <a16:creationId xmlns:a16="http://schemas.microsoft.com/office/drawing/2014/main" id="{3402F3CA-2173-4931-B03A-FFA53313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48</a:t>
            </a:r>
          </a:p>
        </p:txBody>
      </p:sp>
      <p:sp>
        <p:nvSpPr>
          <p:cNvPr id="608" name="БЫЛО">
            <a:extLst xmlns:a="http://schemas.openxmlformats.org/drawingml/2006/main">
              <a:ext uri="{FF2B5EF4-FFF2-40B4-BE49-F238E27FC236}">
                <a16:creationId xmlns:a16="http://schemas.microsoft.com/office/drawing/2014/main" id="{A5EA0A8C-A4DC-45DB-BBFF-815D7201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БЫЛО</a:t>
            </a:r>
          </a:p>
        </p:txBody>
      </p:sp>
      <p:sp>
        <p:nvSpPr>
          <p:cNvPr id="609" name="СТАЛО">
            <a:extLst xmlns:a="http://schemas.openxmlformats.org/drawingml/2006/main">
              <a:ext uri="{FF2B5EF4-FFF2-40B4-BE49-F238E27FC236}">
                <a16:creationId xmlns:a16="http://schemas.microsoft.com/office/drawing/2014/main" id="{7665F794-1E60-42A5-972F-57058979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СТАЛО</a:t>
            </a:r>
          </a:p>
        </p:txBody>
      </p:sp>
      <p:sp>
        <p:nvSpPr>
          <p:cNvPr id="610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C3C22EA4-0210-49B6-9782-C281F5E9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1" name="Сделай хорошо">
            <a:extLst xmlns:a="http://schemas.openxmlformats.org/drawingml/2006/main">
              <a:ext uri="{FF2B5EF4-FFF2-40B4-BE49-F238E27FC236}">
                <a16:creationId xmlns:a16="http://schemas.microsoft.com/office/drawing/2014/main" id="{C9791C4D-6823-460D-B0AE-CC8DD8DD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Сделай хорошо</a:t>
            </a:r>
          </a:p>
        </p:txBody>
      </p:sp>
      <p:sp>
        <p:nvSpPr>
          <p:cNvPr id="612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AE493490-FC28-4BDF-80CB-6B790D79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3" name="Готово, когда:…">
            <a:extLst xmlns:a="http://schemas.openxmlformats.org/drawingml/2006/main">
              <a:ext uri="{FF2B5EF4-FFF2-40B4-BE49-F238E27FC236}">
                <a16:creationId xmlns:a16="http://schemas.microsoft.com/office/drawing/2014/main" id="{41891842-4417-4DA1-8AD3-EC5EC014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7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Готово, когда: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7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- код компилируется;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7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- тесты покрывают обычный и граничный случай;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7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- команда запуска указана;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7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- публичный API не изменён.</a:t>
            </a:r>
          </a:p>
        </p:txBody>
      </p:sp>
      <p:sp>
        <p:nvSpPr>
          <p:cNvPr id="614" name="Пишем условия, которые можно проверить.">
            <a:extLst xmlns:a="http://schemas.openxmlformats.org/drawingml/2006/main">
              <a:ext uri="{FF2B5EF4-FFF2-40B4-BE49-F238E27FC236}">
                <a16:creationId xmlns:a16="http://schemas.microsoft.com/office/drawing/2014/main" id="{5A120B15-FDAB-4788-ACCC-581BA15E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Пишем условия, которые можно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257607600"/>
      </p:ext>
    </p:extLst>
  </p:cSld>
</p:sld>
</file>

<file path=ppt/slides/slide4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9C7BC4-D152-4BC8-9901-78FCF562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7. Неопределённость</a:t>
            </a:r>
          </a:p>
        </p:txBody>
      </p:sp>
      <p:sp>
        <p:nvSpPr>
          <p:cNvPr id="619" name="Линия">
            <a:extLst xmlns:a="http://schemas.openxmlformats.org/drawingml/2006/main">
              <a:ext uri="{FF2B5EF4-FFF2-40B4-BE49-F238E27FC236}">
                <a16:creationId xmlns:a16="http://schemas.microsoft.com/office/drawing/2014/main" id="{D8174D4A-3CFC-4F78-A6E7-F4D79CC6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0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8DA549D5-078C-4673-BEB5-A7CF4EDD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621" name="45">
            <a:extLst xmlns:a="http://schemas.openxmlformats.org/drawingml/2006/main">
              <a:ext uri="{FF2B5EF4-FFF2-40B4-BE49-F238E27FC236}">
                <a16:creationId xmlns:a16="http://schemas.microsoft.com/office/drawing/2014/main" id="{C24C6FEB-5BA5-4D49-8BB3-29F4CE17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49</a:t>
            </a:r>
          </a:p>
        </p:txBody>
      </p:sp>
      <p:sp>
        <p:nvSpPr>
          <p:cNvPr id="622" name="БЫЛО">
            <a:extLst xmlns:a="http://schemas.openxmlformats.org/drawingml/2006/main">
              <a:ext uri="{FF2B5EF4-FFF2-40B4-BE49-F238E27FC236}">
                <a16:creationId xmlns:a16="http://schemas.microsoft.com/office/drawing/2014/main" id="{F1FBBF72-4903-48CF-B1A0-6D7AB478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БЫЛО</a:t>
            </a:r>
          </a:p>
        </p:txBody>
      </p:sp>
      <p:sp>
        <p:nvSpPr>
          <p:cNvPr id="623" name="СТАЛО">
            <a:extLst xmlns:a="http://schemas.openxmlformats.org/drawingml/2006/main">
              <a:ext uri="{FF2B5EF4-FFF2-40B4-BE49-F238E27FC236}">
                <a16:creationId xmlns:a16="http://schemas.microsoft.com/office/drawing/2014/main" id="{9E1B3F02-B2AC-4882-BA1B-5B6410ED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СТАЛО</a:t>
            </a:r>
          </a:p>
        </p:txBody>
      </p:sp>
      <p:sp>
        <p:nvSpPr>
          <p:cNvPr id="624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2D4C7EFF-86EE-48BC-9CF9-A3E3DBE6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5" name="Если не знаешь, спроси">
            <a:extLst xmlns:a="http://schemas.openxmlformats.org/drawingml/2006/main">
              <a:ext uri="{FF2B5EF4-FFF2-40B4-BE49-F238E27FC236}">
                <a16:creationId xmlns:a16="http://schemas.microsoft.com/office/drawing/2014/main" id="{A30918E2-AAE0-4582-9CC9-6DD24EBC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Если не знаешь, спроси</a:t>
            </a:r>
          </a:p>
        </p:txBody>
      </p:sp>
      <p:sp>
        <p:nvSpPr>
          <p:cNvPr id="626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CAC33AC2-692F-4AD5-B062-7D76B53F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7" name="Если выбор меняет публичный API, спроси. Иначе выбери самый простой совместимый вариант и назови допущение.">
            <a:extLst xmlns:a="http://schemas.openxmlformats.org/drawingml/2006/main">
              <a:ext uri="{FF2B5EF4-FFF2-40B4-BE49-F238E27FC236}">
                <a16:creationId xmlns:a16="http://schemas.microsoft.com/office/drawing/2014/main" id="{7F08ECBC-26C9-43F8-B4F3-5C23BB1B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17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Если выбор меняет публичный API, спроси. Иначе выбери самый простой совместимый вариант и назови допущение.</a:t>
            </a:r>
          </a:p>
        </p:txBody>
      </p:sp>
      <p:sp>
        <p:nvSpPr>
          <p:cNvPr id="628" name="Заранее объясняем, когда спрашивать, а когда продолжать.">
            <a:extLst xmlns:a="http://schemas.openxmlformats.org/drawingml/2006/main">
              <a:ext uri="{FF2B5EF4-FFF2-40B4-BE49-F238E27FC236}">
                <a16:creationId xmlns:a16="http://schemas.microsoft.com/office/drawing/2014/main" id="{CF18692A-C875-4ABC-A83E-64815E61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Заранее объясняем, когда спрашивать, а когда продолжать.</a:t>
            </a:r>
          </a:p>
        </p:txBody>
      </p:sp>
    </p:spTree>
    <p:extLst>
      <p:ext uri="{BB962C8B-B14F-4D97-AF65-F5344CB8AC3E}">
        <p14:creationId xmlns:p14="http://schemas.microsoft.com/office/powerpoint/2010/main" val="1895170940"/>
      </p:ext>
    </p:extLst>
  </p:cSld>
</p:sld>
</file>

<file path=ppt/slides/slide5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1113C3-4FEA-4D84-B33F-4C2D7747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8. Примеры</a:t>
            </a:r>
          </a:p>
        </p:txBody>
      </p:sp>
      <p:sp>
        <p:nvSpPr>
          <p:cNvPr id="633" name="Линия">
            <a:extLst xmlns:a="http://schemas.openxmlformats.org/drawingml/2006/main">
              <a:ext uri="{FF2B5EF4-FFF2-40B4-BE49-F238E27FC236}">
                <a16:creationId xmlns:a16="http://schemas.microsoft.com/office/drawing/2014/main" id="{03B7AC0F-9D5F-4922-9F96-710D15C7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4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385B753D-7286-4DDA-8D57-7ED09F94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635" name="46">
            <a:extLst xmlns:a="http://schemas.openxmlformats.org/drawingml/2006/main">
              <a:ext uri="{FF2B5EF4-FFF2-40B4-BE49-F238E27FC236}">
                <a16:creationId xmlns:a16="http://schemas.microsoft.com/office/drawing/2014/main" id="{CFFAD18C-4A12-437F-AF92-DEE35DD6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50</a:t>
            </a:r>
          </a:p>
        </p:txBody>
      </p:sp>
      <p:sp>
        <p:nvSpPr>
          <p:cNvPr id="636" name="Линия">
            <a:extLst xmlns:a="http://schemas.openxmlformats.org/drawingml/2006/main">
              <a:ext uri="{FF2B5EF4-FFF2-40B4-BE49-F238E27FC236}">
                <a16:creationId xmlns:a16="http://schemas.microsoft.com/office/drawing/2014/main" id="{D5E99F4D-2EC3-4292-A6F9-13624E7D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5999" y="1809750"/>
            <a:ext cx="1" cy="352425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7" name="INPUT">
            <a:extLst xmlns:a="http://schemas.openxmlformats.org/drawingml/2006/main">
              <a:ext uri="{FF2B5EF4-FFF2-40B4-BE49-F238E27FC236}">
                <a16:creationId xmlns:a16="http://schemas.microsoft.com/office/drawing/2014/main" id="{208D37BE-111B-4B38-AAA6-599B73EA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INPUT</a:t>
            </a:r>
          </a:p>
        </p:txBody>
      </p:sp>
      <p:sp>
        <p:nvSpPr>
          <p:cNvPr id="638" name="Функция возвращает None для пустого списка.">
            <a:extLst xmlns:a="http://schemas.openxmlformats.org/drawingml/2006/main">
              <a:ext uri="{FF2B5EF4-FFF2-40B4-BE49-F238E27FC236}">
                <a16:creationId xmlns:a16="http://schemas.microsoft.com/office/drawing/2014/main" id="{3385F789-E179-43AF-B4EE-1E760092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buNone/>
            </a:pPr>
            <a:r>
              <a:t>Функция возвращает None для пустого списка.</a:t>
            </a:r>
          </a:p>
        </p:txBody>
      </p:sp>
      <p:sp>
        <p:nvSpPr>
          <p:cNvPr id="639" name="OUTPUT">
            <a:extLst xmlns:a="http://schemas.openxmlformats.org/drawingml/2006/main">
              <a:ext uri="{FF2B5EF4-FFF2-40B4-BE49-F238E27FC236}">
                <a16:creationId xmlns:a16="http://schemas.microsoft.com/office/drawing/2014/main" id="{9BE91568-737B-4BB8-BD70-2CEC15DD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OUTPUT</a:t>
            </a:r>
          </a:p>
        </p:txBody>
      </p:sp>
      <p:sp>
        <p:nvSpPr>
          <p:cNvPr id="640" name="summary: обработан пустой ввод…">
            <a:extLst xmlns:a="http://schemas.openxmlformats.org/drawingml/2006/main">
              <a:ext uri="{FF2B5EF4-FFF2-40B4-BE49-F238E27FC236}">
                <a16:creationId xmlns:a16="http://schemas.microsoft.com/office/drawing/2014/main" id="{27505D1D-A52F-48EF-828E-23260EAA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summary: обработан пустой ввод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file: stats.py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test: test_average_empty</a:t>
            </a:r>
          </a:p>
        </p:txBody>
      </p:sp>
      <p:sp>
        <p:nvSpPr>
          <p:cNvPr id="641" name="Пример помогает показать формат и уровень детализации.">
            <a:extLst xmlns:a="http://schemas.openxmlformats.org/drawingml/2006/main">
              <a:ext uri="{FF2B5EF4-FFF2-40B4-BE49-F238E27FC236}">
                <a16:creationId xmlns:a16="http://schemas.microsoft.com/office/drawing/2014/main" id="{A2AAE447-A5F7-40F8-BEB1-B5A678DA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438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Пример помогает показать формат и уровень детализации.</a:t>
            </a:r>
          </a:p>
        </p:txBody>
      </p:sp>
    </p:spTree>
    <p:extLst>
      <p:ext uri="{BB962C8B-B14F-4D97-AF65-F5344CB8AC3E}">
        <p14:creationId xmlns:p14="http://schemas.microsoft.com/office/powerpoint/2010/main" val="1807757683"/>
      </p:ext>
    </p:extLst>
  </p:cSld>
</p:sld>
</file>

<file path=ppt/slides/slide5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3ACD3F-2D51-44CA-86B6-DB988476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Few-shot</a:t>
            </a:r>
          </a:p>
        </p:txBody>
      </p:sp>
      <p:sp>
        <p:nvSpPr>
          <p:cNvPr id="539" name="Линия">
            <a:extLst xmlns:a="http://schemas.openxmlformats.org/drawingml/2006/main">
              <a:ext uri="{FF2B5EF4-FFF2-40B4-BE49-F238E27FC236}">
                <a16:creationId xmlns:a16="http://schemas.microsoft.com/office/drawing/2014/main" id="{5975CF45-BCE8-4BFF-BAB7-349BF406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0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B3894A7B-DF94-4F3C-BDF1-CAE3CD82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541" name="39">
            <a:extLst xmlns:a="http://schemas.openxmlformats.org/drawingml/2006/main">
              <a:ext uri="{FF2B5EF4-FFF2-40B4-BE49-F238E27FC236}">
                <a16:creationId xmlns:a16="http://schemas.microsoft.com/office/drawing/2014/main" id="{762AE337-0BCC-4E50-878A-5BB7D3D1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51</a:t>
            </a:r>
          </a:p>
        </p:txBody>
      </p:sp>
      <p:sp>
        <p:nvSpPr>
          <p:cNvPr id="542" name="БЫЛО">
            <a:extLst xmlns:a="http://schemas.openxmlformats.org/drawingml/2006/main">
              <a:ext uri="{FF2B5EF4-FFF2-40B4-BE49-F238E27FC236}">
                <a16:creationId xmlns:a16="http://schemas.microsoft.com/office/drawing/2014/main" id="{9CF25E2F-E4B1-4DBC-8A87-9B20FD9E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БЕЗ ПРИМЕРОВ</a:t>
            </a:r>
          </a:p>
        </p:txBody>
      </p:sp>
      <p:sp>
        <p:nvSpPr>
          <p:cNvPr id="543" name="СТАЛО">
            <a:extLst xmlns:a="http://schemas.openxmlformats.org/drawingml/2006/main">
              <a:ext uri="{FF2B5EF4-FFF2-40B4-BE49-F238E27FC236}">
                <a16:creationId xmlns:a16="http://schemas.microsoft.com/office/drawing/2014/main" id="{116F867D-BAC1-41FE-BF42-E47E6582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1524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2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 ПРИМЕРАМИ</a:t>
            </a:r>
          </a:p>
        </p:txBody>
      </p:sp>
      <p:sp>
        <p:nvSpPr>
          <p:cNvPr id="544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76D3C002-9E6A-4063-8686-AC451651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5" name="Сделай LLM-кодер">
            <a:extLst xmlns:a="http://schemas.openxmlformats.org/drawingml/2006/main">
              <a:ext uri="{FF2B5EF4-FFF2-40B4-BE49-F238E27FC236}">
                <a16:creationId xmlns:a16="http://schemas.microsoft.com/office/drawing/2014/main" id="{41524508-C79F-4812-926D-A950B893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47650" tIns="171450" rIns="247650" bIns="171450" anchor="ctr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1515"/>
                </a:solidFill>
                <a:latin typeface="Arial"/>
                <a:ea typeface="Arial"/>
                <a:cs typeface="Arial"/>
              </a:rPr>
              <a:t>«Определи тон отзыва»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1515"/>
                </a:solidFill>
                <a:latin typeface="Arial"/>
                <a:ea typeface="Arial"/>
                <a:cs typeface="Arial"/>
              </a:rPr>
              <a:t>→ «позитивный»</a:t>
            </a:r>
          </a:p>
        </p:txBody>
      </p:sp>
      <p:sp>
        <p:nvSpPr>
          <p:cNvPr id="546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724F1A9A-19A5-4FB0-B1A5-85701C94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7" name="Сделай CLI, который получает задачу по репозиторию и возвращает план, patch и команду теста.">
            <a:extLst xmlns:a="http://schemas.openxmlformats.org/drawingml/2006/main">
              <a:ext uri="{FF2B5EF4-FFF2-40B4-BE49-F238E27FC236}">
                <a16:creationId xmlns:a16="http://schemas.microsoft.com/office/drawing/2014/main" id="{CF82EFC9-8658-4788-BD45-A500C662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495800" cy="2057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247650" tIns="171450" rIns="247650" bIns="171450" anchor="ctr">
            <a:normAutofit fontScale="100000" lnSpcReduction="0"/>
          </a:bodyPr>
          <a:lstStyle xmlns:a="http://schemas.openxmlformats.org/drawingml/2006/main">
            <a:lvl1pPr>
              <a:lnSpc>
                <a:spcPct val="116000"/>
              </a:lnSpc>
              <a:buNone/>
              <a:defRPr sz="17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1515"/>
                </a:solidFill>
                <a:latin typeface="Arial"/>
                <a:ea typeface="Arial"/>
                <a:cs typeface="Arial"/>
              </a:rPr>
              <a:t>«Вернули деньги без споров» → positive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1515"/>
                </a:solidFill>
                <a:latin typeface="Arial"/>
                <a:ea typeface="Arial"/>
                <a:cs typeface="Arial"/>
              </a:rPr>
              <a:t>«Три недели без ответа» → negative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1515"/>
                </a:solidFill>
                <a:latin typeface="Arial"/>
                <a:ea typeface="Arial"/>
                <a:cs typeface="Arial"/>
              </a:rPr>
              <a:t>Новый отзыв → ?</a:t>
            </a:r>
          </a:p>
        </p:txBody>
      </p:sp>
      <p:sp>
        <p:nvSpPr>
          <p:cNvPr id="548" name="Сразу пишем, что должно получиться.">
            <a:extLst xmlns:a="http://schemas.openxmlformats.org/drawingml/2006/main">
              <a:ext uri="{FF2B5EF4-FFF2-40B4-BE49-F238E27FC236}">
                <a16:creationId xmlns:a16="http://schemas.microsoft.com/office/drawing/2014/main" id="{AD933F74-71BB-473E-BB3C-6BB1560D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Примеры задают формат и границу между классами.</a:t>
            </a:r>
          </a:p>
        </p:txBody>
      </p:sp>
    </p:spTree>
    <p:extLst>
      <p:ext uri="{BB962C8B-B14F-4D97-AF65-F5344CB8AC3E}">
        <p14:creationId xmlns:p14="http://schemas.microsoft.com/office/powerpoint/2010/main" val="1301982090"/>
      </p:ext>
    </p:extLst>
  </p:cSld>
</p:sld>
</file>

<file path=ppt/slides/slide5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06E2E-423F-44C6-B8F5-6A8F32F8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Разделители</a:t>
            </a:r>
          </a:p>
        </p:txBody>
      </p:sp>
      <p:sp>
        <p:nvSpPr>
          <p:cNvPr id="646" name="Линия">
            <a:extLst xmlns:a="http://schemas.openxmlformats.org/drawingml/2006/main">
              <a:ext uri="{FF2B5EF4-FFF2-40B4-BE49-F238E27FC236}">
                <a16:creationId xmlns:a16="http://schemas.microsoft.com/office/drawing/2014/main" id="{E583DC68-FF87-41C6-A15B-C6B86FC3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7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97F19CE2-71B1-4882-BAF0-685CEA6E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648" name="47">
            <a:extLst xmlns:a="http://schemas.openxmlformats.org/drawingml/2006/main">
              <a:ext uri="{FF2B5EF4-FFF2-40B4-BE49-F238E27FC236}">
                <a16:creationId xmlns:a16="http://schemas.microsoft.com/office/drawing/2014/main" id="{40B5ABA5-E3CC-47A6-B945-275092C6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52</a:t>
            </a:r>
          </a:p>
        </p:txBody>
      </p:sp>
      <p:sp>
        <p:nvSpPr>
          <p:cNvPr id="649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4C7BFD3A-F7E4-4C20-A93E-69F3E039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00200"/>
            <a:ext cx="9715500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0" name="# Задача…">
            <a:extLst xmlns:a="http://schemas.openxmlformats.org/drawingml/2006/main">
              <a:ext uri="{FF2B5EF4-FFF2-40B4-BE49-F238E27FC236}">
                <a16:creationId xmlns:a16="http://schemas.microsoft.com/office/drawing/2014/main" id="{A18528AB-71CF-4573-84CA-C925D070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71625"/>
            <a:ext cx="9258300" cy="419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51515"/>
                </a:solidFill>
                <a:latin typeface="Menlo"/>
                <a:ea typeface="Menlo"/>
                <a:cs typeface="Menlo"/>
              </a:rPr>
              <a:t>“Use a hash sign (#) to delimit sections,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51515"/>
                </a:solidFill>
                <a:latin typeface="Menlo"/>
                <a:ea typeface="Menlo"/>
                <a:cs typeface="Menlo"/>
              </a:rPr>
              <a:t>backticks (```) to delimit code...”</a:t>
            </a:r>
          </a:p>
          <a:p xmlns:a="http://schemas.openxmlformats.org/drawingml/2006/main">
            <a:pPr>
              <a:buNone/>
              <a:defRPr sz="1600"/>
            </a:pPr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51515"/>
                </a:solidFill>
                <a:latin typeface="Menlo"/>
                <a:ea typeface="Menlo"/>
                <a:cs typeface="Menlo"/>
              </a:rPr>
              <a:t># ЗАДАЧА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51515"/>
                </a:solidFill>
                <a:latin typeface="Menlo"/>
                <a:ea typeface="Menlo"/>
                <a:cs typeface="Menlo"/>
              </a:rPr>
              <a:t>Проверь изменение</a:t>
            </a:r>
          </a:p>
          <a:p xmlns:a="http://schemas.openxmlformats.org/drawingml/2006/main">
            <a:pPr>
              <a:buNone/>
              <a:defRPr sz="1600"/>
            </a:pPr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51515"/>
                </a:solidFill>
                <a:latin typeface="Menlo"/>
                <a:ea typeface="Menlo"/>
                <a:cs typeface="Menlo"/>
              </a:rPr>
              <a:t># ДАННЫЕ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51515"/>
                </a:solidFill>
                <a:latin typeface="Menlo"/>
                <a:ea typeface="Menlo"/>
                <a:cs typeface="Menlo"/>
              </a:rPr>
              <a:t>```python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51515"/>
                </a:solidFill>
                <a:latin typeface="Menlo"/>
                <a:ea typeface="Menlo"/>
                <a:cs typeface="Menlo"/>
              </a:rPr>
              <a:t>def total(items):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51515"/>
                </a:solidFill>
                <a:latin typeface="Menlo"/>
                <a:ea typeface="Menlo"/>
                <a:cs typeface="Menlo"/>
              </a:rPr>
              <a:t>    return sum(items)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51515"/>
                </a:solidFill>
                <a:latin typeface="Menlo"/>
                <a:ea typeface="Menlo"/>
                <a:cs typeface="Menlo"/>
              </a:rPr>
              <a:t>```</a:t>
            </a:r>
          </a:p>
          <a:p xmlns:a="http://schemas.openxmlformats.org/drawingml/2006/main">
            <a:pPr>
              <a:buNone/>
              <a:defRPr sz="1600"/>
            </a:pPr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51515"/>
                </a:solidFill>
                <a:latin typeface="Menlo"/>
                <a:ea typeface="Menlo"/>
                <a:cs typeface="Menlo"/>
              </a:rPr>
              <a:t># ФОРМАТ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151515"/>
                </a:solidFill>
                <a:latin typeface="Menlo"/>
                <a:ea typeface="Menlo"/>
                <a:cs typeface="Menlo"/>
              </a:rPr>
              <a:t>JSON</a:t>
            </a:r>
          </a:p>
        </p:txBody>
      </p:sp>
    </p:spTree>
    <p:extLst>
      <p:ext uri="{BB962C8B-B14F-4D97-AF65-F5344CB8AC3E}">
        <p14:creationId xmlns:p14="http://schemas.microsoft.com/office/powerpoint/2010/main" val="2050828528"/>
      </p:ext>
    </p:extLst>
  </p:cSld>
</p:sld>
</file>

<file path=ppt/slides/slide5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B25CEF-6679-4736-9192-042F1BA4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Fine-tuning</a:t>
            </a:r>
          </a:p>
        </p:txBody>
      </p:sp>
      <p:sp>
        <p:nvSpPr>
          <p:cNvPr id="721" name="Линия">
            <a:extLst xmlns:a="http://schemas.openxmlformats.org/drawingml/2006/main">
              <a:ext uri="{FF2B5EF4-FFF2-40B4-BE49-F238E27FC236}">
                <a16:creationId xmlns:a16="http://schemas.microsoft.com/office/drawing/2014/main" id="{3B585DBA-38D3-4B61-9503-2704EA0A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EVALS И ВЫБОР МОДЕЛИ">
            <a:extLst xmlns:a="http://schemas.openxmlformats.org/drawingml/2006/main">
              <a:ext uri="{FF2B5EF4-FFF2-40B4-BE49-F238E27FC236}">
                <a16:creationId xmlns:a16="http://schemas.microsoft.com/office/drawing/2014/main" id="{FDA9407B-2729-4657-8AA1-C64C0695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723" name="52">
            <a:extLst xmlns:a="http://schemas.openxmlformats.org/drawingml/2006/main">
              <a:ext uri="{FF2B5EF4-FFF2-40B4-BE49-F238E27FC236}">
                <a16:creationId xmlns:a16="http://schemas.microsoft.com/office/drawing/2014/main" id="{BCFA47E5-FA64-4F33-BE23-A43D087A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53</a:t>
            </a:r>
          </a:p>
        </p:txBody>
      </p:sp>
      <p:sp>
        <p:nvSpPr>
          <p:cNvPr id="724" name="Линия">
            <a:extLst xmlns:a="http://schemas.openxmlformats.org/drawingml/2006/main">
              <a:ext uri="{FF2B5EF4-FFF2-40B4-BE49-F238E27FC236}">
                <a16:creationId xmlns:a16="http://schemas.microsoft.com/office/drawing/2014/main" id="{A14C02EE-33A7-4ADC-A375-6B954068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5999" y="1809750"/>
            <a:ext cx="1" cy="352425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5" name="СЛОЖНЫЕ ЗАДАЧИ">
            <a:extLst xmlns:a="http://schemas.openxmlformats.org/drawingml/2006/main">
              <a:ext uri="{FF2B5EF4-FFF2-40B4-BE49-F238E27FC236}">
                <a16:creationId xmlns:a16="http://schemas.microsoft.com/office/drawing/2014/main" id="{2E900297-9CF7-4563-B7BA-CDCA78A0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СНАЧАЛА ПРОМПТ</a:t>
            </a:r>
          </a:p>
        </p:txBody>
      </p:sp>
      <p:sp>
        <p:nvSpPr>
          <p:cNvPr id="726" name="сложный код-ревью…">
            <a:extLst xmlns:a="http://schemas.openxmlformats.org/drawingml/2006/main">
              <a:ext uri="{FF2B5EF4-FFF2-40B4-BE49-F238E27FC236}">
                <a16:creationId xmlns:a16="http://schemas.microsoft.com/office/drawing/2014/main" id="{7D47AEE6-AC77-49AC-86F9-FDFE0F4F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few-shot уже помогает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требования меняются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мало качественных данных</a:t>
            </a:r>
          </a:p>
        </p:txBody>
      </p:sp>
      <p:sp>
        <p:nvSpPr>
          <p:cNvPr id="727" name="ПРОСТЫЕ ЗАДАЧИ">
            <a:extLst xmlns:a="http://schemas.openxmlformats.org/drawingml/2006/main">
              <a:ext uri="{FF2B5EF4-FFF2-40B4-BE49-F238E27FC236}">
                <a16:creationId xmlns:a16="http://schemas.microsoft.com/office/drawing/2014/main" id="{504CC697-894B-4B9A-A347-64235C87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КОГДА ДОУЧИВАЕМ</a:t>
            </a:r>
          </a:p>
        </p:txBody>
      </p:sp>
      <p:sp>
        <p:nvSpPr>
          <p:cNvPr id="728" name="извлечение полей…">
            <a:extLst xmlns:a="http://schemas.openxmlformats.org/drawingml/2006/main">
              <a:ext uri="{FF2B5EF4-FFF2-40B4-BE49-F238E27FC236}">
                <a16:creationId xmlns:a16="http://schemas.microsoft.com/office/drawing/2014/main" id="{088D8389-2B65-4C70-A015-87E170DE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задача стабильна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есть много input → ideal output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eval показывает выигрыш</a:t>
            </a:r>
          </a:p>
        </p:txBody>
      </p:sp>
      <p:sp>
        <p:nvSpPr>
          <p:cNvPr id="729" name="Берём минимальную конфигурацию, которая стабильно проходит eval.">
            <a:extLst xmlns:a="http://schemas.openxmlformats.org/drawingml/2006/main">
              <a:ext uri="{FF2B5EF4-FFF2-40B4-BE49-F238E27FC236}">
                <a16:creationId xmlns:a16="http://schemas.microsoft.com/office/drawing/2014/main" id="{4B9E4EA0-3EB5-42F3-AAFC-1212139C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476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Дообучение меняет модель. Проверяем результат на отложенных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467792308"/>
      </p:ext>
    </p:extLst>
  </p:cSld>
</p:sld>
</file>

<file path=ppt/slides/slide5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06E2E-423F-44C6-B8F5-6A8F32F8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Полный промпт</a:t>
            </a:r>
          </a:p>
        </p:txBody>
      </p:sp>
      <p:sp>
        <p:nvSpPr>
          <p:cNvPr id="646" name="Линия">
            <a:extLst xmlns:a="http://schemas.openxmlformats.org/drawingml/2006/main">
              <a:ext uri="{FF2B5EF4-FFF2-40B4-BE49-F238E27FC236}">
                <a16:creationId xmlns:a16="http://schemas.microsoft.com/office/drawing/2014/main" id="{E583DC68-FF87-41C6-A15B-C6B86FC3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7" name="ПРОМПТИНГ">
            <a:extLst xmlns:a="http://schemas.openxmlformats.org/drawingml/2006/main">
              <a:ext uri="{FF2B5EF4-FFF2-40B4-BE49-F238E27FC236}">
                <a16:creationId xmlns:a16="http://schemas.microsoft.com/office/drawing/2014/main" id="{97F19CE2-71B1-4882-BAF0-685CEA6E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ПРОМПТИНГ</a:t>
            </a:r>
          </a:p>
        </p:txBody>
      </p:sp>
      <p:sp>
        <p:nvSpPr>
          <p:cNvPr id="648" name="47">
            <a:extLst xmlns:a="http://schemas.openxmlformats.org/drawingml/2006/main">
              <a:ext uri="{FF2B5EF4-FFF2-40B4-BE49-F238E27FC236}">
                <a16:creationId xmlns:a16="http://schemas.microsoft.com/office/drawing/2014/main" id="{40B5ABA5-E3CC-47A6-B945-275092C6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54</a:t>
            </a:r>
          </a:p>
        </p:txBody>
      </p:sp>
      <p:sp>
        <p:nvSpPr>
          <p:cNvPr id="649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4C7BFD3A-F7E4-4C20-A93E-69F3E039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00200"/>
            <a:ext cx="9715500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0" name="# Задача…">
            <a:extLst xmlns:a="http://schemas.openxmlformats.org/drawingml/2006/main">
              <a:ext uri="{FF2B5EF4-FFF2-40B4-BE49-F238E27FC236}">
                <a16:creationId xmlns:a16="http://schemas.microsoft.com/office/drawing/2014/main" id="{A18528AB-71CF-4573-84CA-C925D070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71625"/>
            <a:ext cx="9258300" cy="4286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25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51515"/>
                </a:solidFill>
                <a:latin typeface="Menlo"/>
                <a:ea typeface="Menlo"/>
                <a:cs typeface="Menlo"/>
              </a:rPr>
              <a:t># РОЛЬ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425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51515"/>
                </a:solidFill>
                <a:latin typeface="Menlo"/>
                <a:ea typeface="Menlo"/>
                <a:cs typeface="Menlo"/>
              </a:rPr>
              <a:t>Ты ревьюер изменений другого инженера.</a:t>
            </a:r>
          </a:p>
          <a:p xmlns:a="http://schemas.openxmlformats.org/drawingml/2006/main">
            <a:pPr>
              <a:buNone/>
              <a:defRPr sz="1600"/>
            </a:pPr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425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51515"/>
                </a:solidFill>
                <a:latin typeface="Menlo"/>
                <a:ea typeface="Menlo"/>
                <a:cs typeface="Menlo"/>
              </a:rPr>
              <a:t># ФОКУС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425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51515"/>
                </a:solidFill>
                <a:latin typeface="Menlo"/>
                <a:ea typeface="Menlo"/>
                <a:cs typeface="Menlo"/>
              </a:rPr>
              <a:t>Ищи проблемы в correctness, performance, security и maintainability.</a:t>
            </a:r>
          </a:p>
          <a:p xmlns:a="http://schemas.openxmlformats.org/drawingml/2006/main">
            <a:pPr>
              <a:buNone/>
              <a:defRPr sz="1600"/>
            </a:pPr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425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51515"/>
                </a:solidFill>
                <a:latin typeface="Menlo"/>
                <a:ea typeface="Menlo"/>
                <a:cs typeface="Menlo"/>
              </a:rPr>
              <a:t># ПРАВИЛА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425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51515"/>
                </a:solidFill>
                <a:latin typeface="Menlo"/>
                <a:ea typeface="Menlo"/>
                <a:cs typeface="Menlo"/>
              </a:rPr>
              <a:t>Только actionable issues, появившиеся в PR. Не пиши nit-комментарии.</a:t>
            </a:r>
          </a:p>
          <a:p xmlns:a="http://schemas.openxmlformats.org/drawingml/2006/main">
            <a:pPr>
              <a:buNone/>
              <a:defRPr sz="1600"/>
            </a:pPr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425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51515"/>
                </a:solidFill>
                <a:latin typeface="Menlo"/>
                <a:ea typeface="Menlo"/>
                <a:cs typeface="Menlo"/>
              </a:rPr>
              <a:t># ФОРМАТ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425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51515"/>
                </a:solidFill>
                <a:latin typeface="Menlo"/>
                <a:ea typeface="Menlo"/>
                <a:cs typeface="Menlo"/>
              </a:rPr>
              <a:t>Для каждой проблемы: title, объяснение, file и line range.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425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51515"/>
                </a:solidFill>
                <a:latin typeface="Menlo"/>
                <a:ea typeface="Menlo"/>
                <a:cs typeface="Menlo"/>
              </a:rPr>
              <a:t>В конце: verdict, justification, confidence 0–1.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4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425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51515"/>
                </a:solidFill>
                <a:latin typeface="Menlo"/>
                <a:ea typeface="Menlo"/>
                <a:cs typeface="Menlo"/>
              </a:rPr>
              <a:t># ДАННЫЕ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425">
                <a:solidFill>
                  <a:srgbClr val="151515"/>
                </a:solidFill>
                <a:latin typeface="Menlo"/>
                <a:ea typeface="Menlo"/>
                <a:cs typeface="Menlo"/>
              </a:defRPr>
            </a:pPr>
            <a:r>
              <a:rPr sz="1425">
                <a:solidFill>
                  <a:srgbClr val="151515"/>
                </a:solidFill>
                <a:latin typeface="Menlo"/>
                <a:ea typeface="Menlo"/>
                <a:cs typeface="Menlo"/>
              </a:rPr>
              <a:t>&lt;diff&gt;{{ git_diff }}&lt;/diff&gt;</a:t>
            </a:r>
          </a:p>
        </p:txBody>
      </p:sp>
    </p:spTree>
    <p:extLst>
      <p:ext uri="{BB962C8B-B14F-4D97-AF65-F5344CB8AC3E}">
        <p14:creationId xmlns:p14="http://schemas.microsoft.com/office/powerpoint/2010/main" val="2050828528"/>
      </p:ext>
    </p:extLst>
  </p:cSld>
</p:sld>
</file>

<file path=ppt/slides/slide5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4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A7A01DD3-E57B-4BEE-B493-C104E8F8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D6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9D9FA0-57EA-439C-AFE4-971A85DD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52550"/>
            <a:ext cx="9715500" cy="1619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4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Как измерять качество промпта</a:t>
            </a:r>
          </a:p>
        </p:txBody>
      </p:sp>
      <p:sp>
        <p:nvSpPr>
          <p:cNvPr id="656" name="Собираем набор реальных задач и прогоняем их через один pipeline.">
            <a:extLst xmlns:a="http://schemas.openxmlformats.org/drawingml/2006/main">
              <a:ext uri="{FF2B5EF4-FFF2-40B4-BE49-F238E27FC236}">
                <a16:creationId xmlns:a16="http://schemas.microsoft.com/office/drawing/2014/main" id="{A41FE397-81E1-4BF2-9542-53668CCD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8763000" cy="1238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5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Собираем набор реальных задач и прогоняем их через один pipeline.</a:t>
            </a:r>
          </a:p>
        </p:txBody>
      </p:sp>
      <p:sp>
        <p:nvSpPr>
          <p:cNvPr id="657" name="EVALS И ВЫБОР МОДЕЛИ">
            <a:extLst xmlns:a="http://schemas.openxmlformats.org/drawingml/2006/main">
              <a:ext uri="{FF2B5EF4-FFF2-40B4-BE49-F238E27FC236}">
                <a16:creationId xmlns:a16="http://schemas.microsoft.com/office/drawing/2014/main" id="{2DD866F3-4F2F-4EF8-96A9-20D7FD75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EVALS И ВЫБОР МОДЕЛИ</a:t>
            </a:r>
          </a:p>
        </p:txBody>
      </p:sp>
      <p:sp>
        <p:nvSpPr>
          <p:cNvPr id="658" name="48">
            <a:extLst xmlns:a="http://schemas.openxmlformats.org/drawingml/2006/main">
              <a:ext uri="{FF2B5EF4-FFF2-40B4-BE49-F238E27FC236}">
                <a16:creationId xmlns:a16="http://schemas.microsoft.com/office/drawing/2014/main" id="{D315C21A-F995-4C18-9D4B-ADF734C3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453663308"/>
      </p:ext>
    </p:extLst>
  </p:cSld>
</p:sld>
</file>

<file path=ppt/slides/slide5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E21792-9E3B-49AC-8060-06359710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Benchmark помогает выбрать кандидатов</a:t>
            </a:r>
          </a:p>
        </p:txBody>
      </p:sp>
      <p:sp>
        <p:nvSpPr>
          <p:cNvPr id="663" name="Линия">
            <a:extLst xmlns:a="http://schemas.openxmlformats.org/drawingml/2006/main">
              <a:ext uri="{FF2B5EF4-FFF2-40B4-BE49-F238E27FC236}">
                <a16:creationId xmlns:a16="http://schemas.microsoft.com/office/drawing/2014/main" id="{31277DFB-F394-4380-826C-648DC98D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4" name="EVALS И ВЫБОР МОДЕЛИ">
            <a:extLst xmlns:a="http://schemas.openxmlformats.org/drawingml/2006/main">
              <a:ext uri="{FF2B5EF4-FFF2-40B4-BE49-F238E27FC236}">
                <a16:creationId xmlns:a16="http://schemas.microsoft.com/office/drawing/2014/main" id="{141A1DD6-CEAF-43FB-BABA-37BC00EE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EVALS И ВЫБОР МОДЕЛИ</a:t>
            </a:r>
          </a:p>
        </p:txBody>
      </p:sp>
      <p:sp>
        <p:nvSpPr>
          <p:cNvPr id="665" name="49">
            <a:extLst xmlns:a="http://schemas.openxmlformats.org/drawingml/2006/main">
              <a:ext uri="{FF2B5EF4-FFF2-40B4-BE49-F238E27FC236}">
                <a16:creationId xmlns:a16="http://schemas.microsoft.com/office/drawing/2014/main" id="{F86B2B89-0009-4D28-A558-DB29C014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56</a:t>
            </a:r>
          </a:p>
        </p:txBody>
      </p:sp>
      <p:sp>
        <p:nvSpPr>
          <p:cNvPr id="666" name="PUBLIC BENCH">
            <a:extLst xmlns:a="http://schemas.openxmlformats.org/drawingml/2006/main">
              <a:ext uri="{FF2B5EF4-FFF2-40B4-BE49-F238E27FC236}">
                <a16:creationId xmlns:a16="http://schemas.microsoft.com/office/drawing/2014/main" id="{7068585C-7B30-44AF-9FD1-1C4A4472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381250" cy="476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PUBLIC BENCH</a:t>
            </a:r>
          </a:p>
        </p:txBody>
      </p:sp>
      <p:sp>
        <p:nvSpPr>
          <p:cNvPr id="667" name="→">
            <a:extLst xmlns:a="http://schemas.openxmlformats.org/drawingml/2006/main">
              <a:ext uri="{FF2B5EF4-FFF2-40B4-BE49-F238E27FC236}">
                <a16:creationId xmlns:a16="http://schemas.microsoft.com/office/drawing/2014/main" id="{4948CFAF-C87F-41AE-BD6A-4232896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85725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33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→</a:t>
            </a:r>
          </a:p>
        </p:txBody>
      </p:sp>
      <p:sp>
        <p:nvSpPr>
          <p:cNvPr id="668" name="SHORTLIST">
            <a:extLst xmlns:a="http://schemas.openxmlformats.org/drawingml/2006/main">
              <a:ext uri="{FF2B5EF4-FFF2-40B4-BE49-F238E27FC236}">
                <a16:creationId xmlns:a16="http://schemas.microsoft.com/office/drawing/2014/main" id="{E258B64A-AC6E-48D1-9626-D513EFAC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381250" cy="476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SHORTLIST</a:t>
            </a:r>
          </a:p>
        </p:txBody>
      </p:sp>
      <p:sp>
        <p:nvSpPr>
          <p:cNvPr id="669" name="→">
            <a:extLst xmlns:a="http://schemas.openxmlformats.org/drawingml/2006/main">
              <a:ext uri="{FF2B5EF4-FFF2-40B4-BE49-F238E27FC236}">
                <a16:creationId xmlns:a16="http://schemas.microsoft.com/office/drawing/2014/main" id="{3F861ECD-78D9-4BAB-86AC-730A1832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85725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33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→</a:t>
            </a:r>
          </a:p>
        </p:txBody>
      </p:sp>
      <p:sp>
        <p:nvSpPr>
          <p:cNvPr id="670" name="ВАШИ 20 ЗАДАЧ">
            <a:extLst xmlns:a="http://schemas.openxmlformats.org/drawingml/2006/main">
              <a:ext uri="{FF2B5EF4-FFF2-40B4-BE49-F238E27FC236}">
                <a16:creationId xmlns:a16="http://schemas.microsoft.com/office/drawing/2014/main" id="{36C35BEB-7E10-47ED-8A58-4C191E16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476500" cy="476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ВАШИ 20 ЗАДАЧ</a:t>
            </a:r>
          </a:p>
        </p:txBody>
      </p:sp>
      <p:sp>
        <p:nvSpPr>
          <p:cNvPr id="671" name="Финальный выбор делаем на своих задачах и данных.">
            <a:extLst xmlns:a="http://schemas.openxmlformats.org/drawingml/2006/main">
              <a:ext uri="{FF2B5EF4-FFF2-40B4-BE49-F238E27FC236}">
                <a16:creationId xmlns:a16="http://schemas.microsoft.com/office/drawing/2014/main" id="{DD6BBF2B-E2CF-4A46-838F-9B4A3A28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334500" cy="762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Финальный выбор делаем на своих задачах 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659610837"/>
      </p:ext>
    </p:extLst>
  </p:cSld>
</p:sld>
</file>

<file path=ppt/slides/slide5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3BB8C0-6F04-4197-B0A1-E8516981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Проверяем всю конфигурацию</a:t>
            </a:r>
          </a:p>
        </p:txBody>
      </p:sp>
      <p:sp>
        <p:nvSpPr>
          <p:cNvPr id="676" name="Линия">
            <a:extLst xmlns:a="http://schemas.openxmlformats.org/drawingml/2006/main">
              <a:ext uri="{FF2B5EF4-FFF2-40B4-BE49-F238E27FC236}">
                <a16:creationId xmlns:a16="http://schemas.microsoft.com/office/drawing/2014/main" id="{007BF3CC-CDBF-4908-9E76-5C2C15EB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7" name="EVALS И ВЫБОР МОДЕЛИ">
            <a:extLst xmlns:a="http://schemas.openxmlformats.org/drawingml/2006/main">
              <a:ext uri="{FF2B5EF4-FFF2-40B4-BE49-F238E27FC236}">
                <a16:creationId xmlns:a16="http://schemas.microsoft.com/office/drawing/2014/main" id="{74616B36-6C07-488C-BA0C-92D0C32E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EVALS И ВЫБОР МОДЕЛИ</a:t>
            </a:r>
          </a:p>
        </p:txBody>
      </p:sp>
      <p:sp>
        <p:nvSpPr>
          <p:cNvPr id="678" name="50">
            <a:extLst xmlns:a="http://schemas.openxmlformats.org/drawingml/2006/main">
              <a:ext uri="{FF2B5EF4-FFF2-40B4-BE49-F238E27FC236}">
                <a16:creationId xmlns:a16="http://schemas.microsoft.com/office/drawing/2014/main" id="{B15EB2A9-1EF4-4F6E-8BF9-5BBD1D5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57</a:t>
            </a:r>
          </a:p>
        </p:txBody>
      </p:sp>
      <p:sp>
        <p:nvSpPr>
          <p:cNvPr id="679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ACFF96CD-F708-46BB-89E9-2F8F8F0B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19526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0" name="MODEL">
            <a:extLst xmlns:a="http://schemas.openxmlformats.org/drawingml/2006/main">
              <a:ext uri="{FF2B5EF4-FFF2-40B4-BE49-F238E27FC236}">
                <a16:creationId xmlns:a16="http://schemas.microsoft.com/office/drawing/2014/main" id="{BED2EA21-5ECE-46F0-8D7D-D7B72A57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81275"/>
            <a:ext cx="1724025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MODEL</a:t>
            </a:r>
          </a:p>
        </p:txBody>
      </p:sp>
      <p:sp>
        <p:nvSpPr>
          <p:cNvPr id="681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8E192D8D-7CE1-42C6-8FCB-EF88958E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9526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2" name="SNAPSHOT">
            <a:extLst xmlns:a="http://schemas.openxmlformats.org/drawingml/2006/main">
              <a:ext uri="{FF2B5EF4-FFF2-40B4-BE49-F238E27FC236}">
                <a16:creationId xmlns:a16="http://schemas.microsoft.com/office/drawing/2014/main" id="{4491E227-DB9A-4825-9855-4EC642DD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81275"/>
            <a:ext cx="1724025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SNAPSHOT</a:t>
            </a:r>
          </a:p>
        </p:txBody>
      </p:sp>
      <p:sp>
        <p:nvSpPr>
          <p:cNvPr id="683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D33D1806-76BD-449B-908C-5F9FDE6C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81250"/>
            <a:ext cx="19526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23813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4" name="PROMPT">
            <a:extLst xmlns:a="http://schemas.openxmlformats.org/drawingml/2006/main">
              <a:ext uri="{FF2B5EF4-FFF2-40B4-BE49-F238E27FC236}">
                <a16:creationId xmlns:a16="http://schemas.microsoft.com/office/drawing/2014/main" id="{C347FBA0-7402-4FF2-BF51-B21FF19E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581275"/>
            <a:ext cx="1724025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PROMPT</a:t>
            </a:r>
          </a:p>
        </p:txBody>
      </p:sp>
      <p:sp>
        <p:nvSpPr>
          <p:cNvPr id="685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E6626F85-6FB4-462C-BFEA-CC2D6021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19526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6" name="REASONING">
            <a:extLst xmlns:a="http://schemas.openxmlformats.org/drawingml/2006/main">
              <a:ext uri="{FF2B5EF4-FFF2-40B4-BE49-F238E27FC236}">
                <a16:creationId xmlns:a16="http://schemas.microsoft.com/office/drawing/2014/main" id="{9D762324-E566-4604-BB1B-A4A3A1D7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81275"/>
            <a:ext cx="1724025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REASONING</a:t>
            </a:r>
          </a:p>
        </p:txBody>
      </p:sp>
      <p:sp>
        <p:nvSpPr>
          <p:cNvPr id="687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9DDBB8F1-7816-4304-AFA0-64D76A32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81250"/>
            <a:ext cx="19526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8" name="TOOLS / CONTEXT">
            <a:extLst xmlns:a="http://schemas.openxmlformats.org/drawingml/2006/main">
              <a:ext uri="{FF2B5EF4-FFF2-40B4-BE49-F238E27FC236}">
                <a16:creationId xmlns:a16="http://schemas.microsoft.com/office/drawing/2014/main" id="{11109458-233B-41B8-AB43-7B2E290B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581275"/>
            <a:ext cx="1724025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TOOLS / CONTEXT</a:t>
            </a:r>
          </a:p>
        </p:txBody>
      </p:sp>
      <p:sp>
        <p:nvSpPr>
          <p:cNvPr id="689" name="Модель, версия, промпт, reasoning и контекст влияют на результат.">
            <a:extLst xmlns:a="http://schemas.openxmlformats.org/drawingml/2006/main">
              <a:ext uri="{FF2B5EF4-FFF2-40B4-BE49-F238E27FC236}">
                <a16:creationId xmlns:a16="http://schemas.microsoft.com/office/drawing/2014/main" id="{4326DD03-6B0E-4AF6-9F62-CC9F8865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93345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12000"/>
              </a:lnSpc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Модель, версия, промпт, reasoning и контекст влияют на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2090879974"/>
      </p:ext>
    </p:extLst>
  </p:cSld>
</p:sld>
</file>

<file path=ppt/slides/slide5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80FF72-9D7C-4A6A-8014-8244D520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Что записываем после eval</a:t>
            </a:r>
          </a:p>
        </p:txBody>
      </p:sp>
      <p:sp>
        <p:nvSpPr>
          <p:cNvPr id="694" name="Линия">
            <a:extLst xmlns:a="http://schemas.openxmlformats.org/drawingml/2006/main">
              <a:ext uri="{FF2B5EF4-FFF2-40B4-BE49-F238E27FC236}">
                <a16:creationId xmlns:a16="http://schemas.microsoft.com/office/drawing/2014/main" id="{C0AD1BEE-F77C-41A4-B12B-6FE3036F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5" name="EVALS И ВЫБОР МОДЕЛИ">
            <a:extLst xmlns:a="http://schemas.openxmlformats.org/drawingml/2006/main">
              <a:ext uri="{FF2B5EF4-FFF2-40B4-BE49-F238E27FC236}">
                <a16:creationId xmlns:a16="http://schemas.microsoft.com/office/drawing/2014/main" id="{0E6613A4-1B1E-47F9-AA2D-C1D2782B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EVALS И ВЫБОР МОДЕЛИ</a:t>
            </a:r>
          </a:p>
        </p:txBody>
      </p:sp>
      <p:sp>
        <p:nvSpPr>
          <p:cNvPr id="696" name="51">
            <a:extLst xmlns:a="http://schemas.openxmlformats.org/drawingml/2006/main">
              <a:ext uri="{FF2B5EF4-FFF2-40B4-BE49-F238E27FC236}">
                <a16:creationId xmlns:a16="http://schemas.microsoft.com/office/drawing/2014/main" id="{29582AE1-D7C1-41AA-8B9B-DCCE1548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58</a:t>
            </a:r>
          </a:p>
        </p:txBody>
      </p:sp>
      <p:sp>
        <p:nvSpPr>
          <p:cNvPr id="697" name="КОНФИГУРАЦИЯ">
            <a:extLst xmlns:a="http://schemas.openxmlformats.org/drawingml/2006/main">
              <a:ext uri="{FF2B5EF4-FFF2-40B4-BE49-F238E27FC236}">
                <a16:creationId xmlns:a16="http://schemas.microsoft.com/office/drawing/2014/main" id="{02CC11FE-03AD-4A13-A4EB-083C665A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3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КОНФИГУРАЦИЯ</a:t>
            </a:r>
          </a:p>
        </p:txBody>
      </p:sp>
      <p:sp>
        <p:nvSpPr>
          <p:cNvPr id="698" name="PASS RATE">
            <a:extLst xmlns:a="http://schemas.openxmlformats.org/drawingml/2006/main">
              <a:ext uri="{FF2B5EF4-FFF2-40B4-BE49-F238E27FC236}">
                <a16:creationId xmlns:a16="http://schemas.microsoft.com/office/drawing/2014/main" id="{07CBD15A-CFBC-477C-A990-8596A1CA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1714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PASS RATE</a:t>
            </a:r>
          </a:p>
        </p:txBody>
      </p:sp>
      <p:sp>
        <p:nvSpPr>
          <p:cNvPr id="699" name="ЦЕНА / ЗАДАЧА">
            <a:extLst xmlns:a="http://schemas.openxmlformats.org/drawingml/2006/main">
              <a:ext uri="{FF2B5EF4-FFF2-40B4-BE49-F238E27FC236}">
                <a16:creationId xmlns:a16="http://schemas.microsoft.com/office/drawing/2014/main" id="{DDAE4713-6BFA-499F-B4CB-8F052F73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2860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ЦЕНА / ЗАДАЧА</a:t>
            </a:r>
          </a:p>
        </p:txBody>
      </p:sp>
      <p:sp>
        <p:nvSpPr>
          <p:cNvPr id="700" name="P95 LATENCY">
            <a:extLst xmlns:a="http://schemas.openxmlformats.org/drawingml/2006/main">
              <a:ext uri="{FF2B5EF4-FFF2-40B4-BE49-F238E27FC236}">
                <a16:creationId xmlns:a16="http://schemas.microsoft.com/office/drawing/2014/main" id="{0A0C17FB-C044-4F88-8871-0BAFA67C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3812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P95 LATENCY</a:t>
            </a:r>
          </a:p>
        </p:txBody>
      </p:sp>
      <p:sp>
        <p:nvSpPr>
          <p:cNvPr id="701" name="Линия">
            <a:extLst xmlns:a="http://schemas.openxmlformats.org/drawingml/2006/main">
              <a:ext uri="{FF2B5EF4-FFF2-40B4-BE49-F238E27FC236}">
                <a16:creationId xmlns:a16="http://schemas.microsoft.com/office/drawing/2014/main" id="{B986C7AF-0302-49DF-95D3-80F41488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572751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161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2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E4A38510-4C32-42C4-88A6-0EE29A9B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3" name="модель A + prompt v3 + low">
            <a:extLst xmlns:a="http://schemas.openxmlformats.org/drawingml/2006/main">
              <a:ext uri="{FF2B5EF4-FFF2-40B4-BE49-F238E27FC236}">
                <a16:creationId xmlns:a16="http://schemas.microsoft.com/office/drawing/2014/main" id="{47B5A41E-93A8-4810-8BC1-6DA8D579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314325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модель A + prompt v3 + low</a:t>
            </a:r>
          </a:p>
        </p:txBody>
      </p:sp>
      <p:sp>
        <p:nvSpPr>
          <p:cNvPr id="704" name="...">
            <a:extLst xmlns:a="http://schemas.openxmlformats.org/drawingml/2006/main">
              <a:ext uri="{FF2B5EF4-FFF2-40B4-BE49-F238E27FC236}">
                <a16:creationId xmlns:a16="http://schemas.microsoft.com/office/drawing/2014/main" id="{6E62CAA9-FB7B-4A92-A458-9DC9F282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7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...</a:t>
            </a:r>
          </a:p>
        </p:txBody>
      </p:sp>
      <p:sp>
        <p:nvSpPr>
          <p:cNvPr id="705" name="...">
            <a:extLst xmlns:a="http://schemas.openxmlformats.org/drawingml/2006/main">
              <a:ext uri="{FF2B5EF4-FFF2-40B4-BE49-F238E27FC236}">
                <a16:creationId xmlns:a16="http://schemas.microsoft.com/office/drawing/2014/main" id="{0AC65D8C-C53A-451E-853A-D4DA524B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228600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7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...</a:t>
            </a:r>
          </a:p>
        </p:txBody>
      </p:sp>
      <p:sp>
        <p:nvSpPr>
          <p:cNvPr id="706" name="...">
            <a:extLst xmlns:a="http://schemas.openxmlformats.org/drawingml/2006/main">
              <a:ext uri="{FF2B5EF4-FFF2-40B4-BE49-F238E27FC236}">
                <a16:creationId xmlns:a16="http://schemas.microsoft.com/office/drawing/2014/main" id="{31AA997E-67A9-4527-A625-3FAEC254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19375"/>
            <a:ext cx="238125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7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...</a:t>
            </a:r>
          </a:p>
        </p:txBody>
      </p:sp>
      <p:sp>
        <p:nvSpPr>
          <p:cNvPr id="707" name="модель B + prompt v3 + medium">
            <a:extLst xmlns:a="http://schemas.openxmlformats.org/drawingml/2006/main">
              <a:ext uri="{FF2B5EF4-FFF2-40B4-BE49-F238E27FC236}">
                <a16:creationId xmlns:a16="http://schemas.microsoft.com/office/drawing/2014/main" id="{4A3589EB-B19A-441D-BAAD-76ECA85C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314325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модель B + prompt v3 + medium</a:t>
            </a:r>
          </a:p>
        </p:txBody>
      </p:sp>
      <p:sp>
        <p:nvSpPr>
          <p:cNvPr id="708" name="...">
            <a:extLst xmlns:a="http://schemas.openxmlformats.org/drawingml/2006/main">
              <a:ext uri="{FF2B5EF4-FFF2-40B4-BE49-F238E27FC236}">
                <a16:creationId xmlns:a16="http://schemas.microsoft.com/office/drawing/2014/main" id="{F2C21C19-08DD-412A-AB75-E16A1C65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7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...</a:t>
            </a:r>
          </a:p>
        </p:txBody>
      </p:sp>
      <p:sp>
        <p:nvSpPr>
          <p:cNvPr id="709" name="...">
            <a:extLst xmlns:a="http://schemas.openxmlformats.org/drawingml/2006/main">
              <a:ext uri="{FF2B5EF4-FFF2-40B4-BE49-F238E27FC236}">
                <a16:creationId xmlns:a16="http://schemas.microsoft.com/office/drawing/2014/main" id="{01786202-A412-4998-A654-DD41312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228600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7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...</a:t>
            </a:r>
          </a:p>
        </p:txBody>
      </p:sp>
      <p:sp>
        <p:nvSpPr>
          <p:cNvPr id="710" name="...">
            <a:extLst xmlns:a="http://schemas.openxmlformats.org/drawingml/2006/main">
              <a:ext uri="{FF2B5EF4-FFF2-40B4-BE49-F238E27FC236}">
                <a16:creationId xmlns:a16="http://schemas.microsoft.com/office/drawing/2014/main" id="{B054E6C1-0A1E-4E8C-B4CC-F668749F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238125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7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...</a:t>
            </a:r>
          </a:p>
        </p:txBody>
      </p:sp>
      <p:sp>
        <p:nvSpPr>
          <p:cNvPr id="711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8A9203F5-9CBF-4F01-8315-F72B8FA9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2" name="модель C + prompt v4 + high">
            <a:extLst xmlns:a="http://schemas.openxmlformats.org/drawingml/2006/main">
              <a:ext uri="{FF2B5EF4-FFF2-40B4-BE49-F238E27FC236}">
                <a16:creationId xmlns:a16="http://schemas.microsoft.com/office/drawing/2014/main" id="{3AE86FAA-B1F1-478C-AB7C-48D8C758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14325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модель C + prompt v4 + high</a:t>
            </a:r>
          </a:p>
        </p:txBody>
      </p:sp>
      <p:sp>
        <p:nvSpPr>
          <p:cNvPr id="713" name="...">
            <a:extLst xmlns:a="http://schemas.openxmlformats.org/drawingml/2006/main">
              <a:ext uri="{FF2B5EF4-FFF2-40B4-BE49-F238E27FC236}">
                <a16:creationId xmlns:a16="http://schemas.microsoft.com/office/drawing/2014/main" id="{2B858B83-5904-446E-8313-C145889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24375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7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...</a:t>
            </a:r>
          </a:p>
        </p:txBody>
      </p:sp>
      <p:sp>
        <p:nvSpPr>
          <p:cNvPr id="714" name="...">
            <a:extLst xmlns:a="http://schemas.openxmlformats.org/drawingml/2006/main">
              <a:ext uri="{FF2B5EF4-FFF2-40B4-BE49-F238E27FC236}">
                <a16:creationId xmlns:a16="http://schemas.microsoft.com/office/drawing/2014/main" id="{CBBBB6CC-2503-4141-B3DB-FD1FEBBE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228600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7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...</a:t>
            </a:r>
          </a:p>
        </p:txBody>
      </p:sp>
      <p:sp>
        <p:nvSpPr>
          <p:cNvPr id="715" name="...">
            <a:extLst xmlns:a="http://schemas.openxmlformats.org/drawingml/2006/main">
              <a:ext uri="{FF2B5EF4-FFF2-40B4-BE49-F238E27FC236}">
                <a16:creationId xmlns:a16="http://schemas.microsoft.com/office/drawing/2014/main" id="{4B71C203-4E36-4805-A43B-EBBF8C3C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24375"/>
            <a:ext cx="238125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7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...</a:t>
            </a:r>
          </a:p>
        </p:txBody>
      </p:sp>
      <p:sp>
        <p:nvSpPr>
          <p:cNvPr id="716" name="Таблицу заполняем реальными запусками, а не выдуманными баллами.">
            <a:extLst xmlns:a="http://schemas.openxmlformats.org/drawingml/2006/main">
              <a:ext uri="{FF2B5EF4-FFF2-40B4-BE49-F238E27FC236}">
                <a16:creationId xmlns:a16="http://schemas.microsoft.com/office/drawing/2014/main" id="{348F114C-F80C-4829-BDDC-43E14235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Таблицу заполняем реальными запусками, а не выдуманными баллами.</a:t>
            </a:r>
          </a:p>
        </p:txBody>
      </p:sp>
    </p:spTree>
    <p:extLst>
      <p:ext uri="{BB962C8B-B14F-4D97-AF65-F5344CB8AC3E}">
        <p14:creationId xmlns:p14="http://schemas.microsoft.com/office/powerpoint/2010/main" val="1230825239"/>
      </p:ext>
    </p:extLst>
  </p:cSld>
</p:sld>
</file>

<file path=ppt/slides/slide5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B25CEF-6679-4736-9192-042F1BA4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Как выбрать модель</a:t>
            </a:r>
          </a:p>
        </p:txBody>
      </p:sp>
      <p:sp>
        <p:nvSpPr>
          <p:cNvPr id="721" name="Линия">
            <a:extLst xmlns:a="http://schemas.openxmlformats.org/drawingml/2006/main">
              <a:ext uri="{FF2B5EF4-FFF2-40B4-BE49-F238E27FC236}">
                <a16:creationId xmlns:a16="http://schemas.microsoft.com/office/drawing/2014/main" id="{3B585DBA-38D3-4B61-9503-2704EA0A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EVALS И ВЫБОР МОДЕЛИ">
            <a:extLst xmlns:a="http://schemas.openxmlformats.org/drawingml/2006/main">
              <a:ext uri="{FF2B5EF4-FFF2-40B4-BE49-F238E27FC236}">
                <a16:creationId xmlns:a16="http://schemas.microsoft.com/office/drawing/2014/main" id="{FDA9407B-2729-4657-8AA1-C64C0695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EVALS И ВЫБОР МОДЕЛИ</a:t>
            </a:r>
          </a:p>
        </p:txBody>
      </p:sp>
      <p:sp>
        <p:nvSpPr>
          <p:cNvPr id="723" name="52">
            <a:extLst xmlns:a="http://schemas.openxmlformats.org/drawingml/2006/main">
              <a:ext uri="{FF2B5EF4-FFF2-40B4-BE49-F238E27FC236}">
                <a16:creationId xmlns:a16="http://schemas.microsoft.com/office/drawing/2014/main" id="{BCFA47E5-FA64-4F33-BE23-A43D087A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59</a:t>
            </a:r>
          </a:p>
        </p:txBody>
      </p:sp>
      <p:sp>
        <p:nvSpPr>
          <p:cNvPr id="724" name="Линия">
            <a:extLst xmlns:a="http://schemas.openxmlformats.org/drawingml/2006/main">
              <a:ext uri="{FF2B5EF4-FFF2-40B4-BE49-F238E27FC236}">
                <a16:creationId xmlns:a16="http://schemas.microsoft.com/office/drawing/2014/main" id="{A14C02EE-33A7-4ADC-A375-6B954068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5999" y="1809750"/>
            <a:ext cx="1" cy="352425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5" name="СЛОЖНЫЕ ЗАДАЧИ">
            <a:extLst xmlns:a="http://schemas.openxmlformats.org/drawingml/2006/main">
              <a:ext uri="{FF2B5EF4-FFF2-40B4-BE49-F238E27FC236}">
                <a16:creationId xmlns:a16="http://schemas.microsoft.com/office/drawing/2014/main" id="{2E900297-9CF7-4563-B7BA-CDCA78A0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СЛОЖНЫЕ ЗАДАЧИ</a:t>
            </a:r>
          </a:p>
        </p:txBody>
      </p:sp>
      <p:sp>
        <p:nvSpPr>
          <p:cNvPr id="726" name="сложный код-ревью…">
            <a:extLst xmlns:a="http://schemas.openxmlformats.org/drawingml/2006/main">
              <a:ext uri="{FF2B5EF4-FFF2-40B4-BE49-F238E27FC236}">
                <a16:creationId xmlns:a16="http://schemas.microsoft.com/office/drawing/2014/main" id="{7D47AEE6-AC77-49AC-86F9-FDFE0F4F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сложный код-ревью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важная архитектура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редкие тяжёлые задачи</a:t>
            </a:r>
          </a:p>
        </p:txBody>
      </p:sp>
      <p:sp>
        <p:nvSpPr>
          <p:cNvPr id="727" name="ПРОСТЫЕ ЗАДАЧИ">
            <a:extLst xmlns:a="http://schemas.openxmlformats.org/drawingml/2006/main">
              <a:ext uri="{FF2B5EF4-FFF2-40B4-BE49-F238E27FC236}">
                <a16:creationId xmlns:a16="http://schemas.microsoft.com/office/drawing/2014/main" id="{504CC697-894B-4B9A-A347-64235C87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ПРОСТЫЕ ЗАДАЧИ</a:t>
            </a:r>
          </a:p>
        </p:txBody>
      </p:sp>
      <p:sp>
        <p:nvSpPr>
          <p:cNvPr id="728" name="извлечение полей…">
            <a:extLst xmlns:a="http://schemas.openxmlformats.org/drawingml/2006/main">
              <a:ext uri="{FF2B5EF4-FFF2-40B4-BE49-F238E27FC236}">
                <a16:creationId xmlns:a16="http://schemas.microsoft.com/office/drawing/2014/main" id="{088D8389-2B65-4C70-A015-87E170DE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извлечение полей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классификация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массовые простые задачи</a:t>
            </a:r>
          </a:p>
        </p:txBody>
      </p:sp>
      <p:sp>
        <p:nvSpPr>
          <p:cNvPr id="729" name="Берём минимальную конфигурацию, которая стабильно проходит eval.">
            <a:extLst xmlns:a="http://schemas.openxmlformats.org/drawingml/2006/main">
              <a:ext uri="{FF2B5EF4-FFF2-40B4-BE49-F238E27FC236}">
                <a16:creationId xmlns:a16="http://schemas.microsoft.com/office/drawing/2014/main" id="{4B9E4EA0-3EB5-42F3-AAFC-1212139C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476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Берём минимальную конфигурацию, которая стабильно проходит eval.</a:t>
            </a:r>
          </a:p>
        </p:txBody>
      </p:sp>
    </p:spTree>
    <p:extLst>
      <p:ext uri="{BB962C8B-B14F-4D97-AF65-F5344CB8AC3E}">
        <p14:creationId xmlns:p14="http://schemas.microsoft.com/office/powerpoint/2010/main" val="1467792308"/>
      </p:ext>
    </p:extLst>
  </p:cSld>
</p:sld>
</file>

<file path=ppt/slides/slide6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3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B70B2A1A-65C1-4C12-BA7B-247819C3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D6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90F111-C0A0-410A-A781-4250691C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52550"/>
            <a:ext cx="9715500" cy="1619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4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Работа через API</a:t>
            </a:r>
          </a:p>
        </p:txBody>
      </p:sp>
      <p:sp>
        <p:nvSpPr>
          <p:cNvPr id="735" name="Здесь только общая схема. Детали и ошибки разберём в Python.">
            <a:extLst xmlns:a="http://schemas.openxmlformats.org/drawingml/2006/main">
              <a:ext uri="{FF2B5EF4-FFF2-40B4-BE49-F238E27FC236}">
                <a16:creationId xmlns:a16="http://schemas.microsoft.com/office/drawing/2014/main" id="{810C1139-3980-4EC7-9389-DC0AF639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8763000" cy="1238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5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Здесь только общая схема. Детали и ошибки разберём в Python.</a:t>
            </a:r>
          </a:p>
        </p:txBody>
      </p:sp>
      <p:sp>
        <p:nvSpPr>
          <p:cNvPr id="736" name="API">
            <a:extLst xmlns:a="http://schemas.openxmlformats.org/drawingml/2006/main">
              <a:ext uri="{FF2B5EF4-FFF2-40B4-BE49-F238E27FC236}">
                <a16:creationId xmlns:a16="http://schemas.microsoft.com/office/drawing/2014/main" id="{7E4618E6-C0B7-4253-A467-C5309BB8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API</a:t>
            </a:r>
          </a:p>
        </p:txBody>
      </p:sp>
      <p:sp>
        <p:nvSpPr>
          <p:cNvPr id="737" name="53">
            <a:extLst xmlns:a="http://schemas.openxmlformats.org/drawingml/2006/main">
              <a:ext uri="{FF2B5EF4-FFF2-40B4-BE49-F238E27FC236}">
                <a16:creationId xmlns:a16="http://schemas.microsoft.com/office/drawing/2014/main" id="{8C3D9203-E746-48B1-9762-F77D5CC4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54959793"/>
      </p:ext>
    </p:extLst>
  </p:cSld>
</p:sld>
</file>

<file path=ppt/slides/slide6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7E16F5-A9F4-4886-9ED8-0E5C0FB5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Chat Completions API</a:t>
            </a:r>
          </a:p>
        </p:txBody>
      </p:sp>
      <p:sp>
        <p:nvSpPr>
          <p:cNvPr id="742" name="Линия">
            <a:extLst xmlns:a="http://schemas.openxmlformats.org/drawingml/2006/main">
              <a:ext uri="{FF2B5EF4-FFF2-40B4-BE49-F238E27FC236}">
                <a16:creationId xmlns:a16="http://schemas.microsoft.com/office/drawing/2014/main" id="{37B95E06-862F-4E38-BE1C-0D1FA425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API">
            <a:extLst xmlns:a="http://schemas.openxmlformats.org/drawingml/2006/main">
              <a:ext uri="{FF2B5EF4-FFF2-40B4-BE49-F238E27FC236}">
                <a16:creationId xmlns:a16="http://schemas.microsoft.com/office/drawing/2014/main" id="{B4F7D404-1DE3-4F05-A787-B6CAB1BB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API</a:t>
            </a:r>
          </a:p>
        </p:txBody>
      </p:sp>
      <p:sp>
        <p:nvSpPr>
          <p:cNvPr id="744" name="54">
            <a:extLst xmlns:a="http://schemas.openxmlformats.org/drawingml/2006/main">
              <a:ext uri="{FF2B5EF4-FFF2-40B4-BE49-F238E27FC236}">
                <a16:creationId xmlns:a16="http://schemas.microsoft.com/office/drawing/2014/main" id="{E93B60CE-01CD-40F8-954C-33B32C7F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61</a:t>
            </a:r>
          </a:p>
        </p:txBody>
      </p:sp>
      <p:sp>
        <p:nvSpPr>
          <p:cNvPr id="745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5BD27AE5-D018-4C60-8D3A-E31412B1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095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9050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6" name="REQUEST">
            <a:extLst xmlns:a="http://schemas.openxmlformats.org/drawingml/2006/main">
              <a:ext uri="{FF2B5EF4-FFF2-40B4-BE49-F238E27FC236}">
                <a16:creationId xmlns:a16="http://schemas.microsoft.com/office/drawing/2014/main" id="{28063330-2FFE-4B6A-BD9F-76AD7918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19050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REQUEST</a:t>
            </a:r>
          </a:p>
        </p:txBody>
      </p:sp>
      <p:sp>
        <p:nvSpPr>
          <p:cNvPr id="747" name="model…">
            <a:extLst xmlns:a="http://schemas.openxmlformats.org/drawingml/2006/main">
              <a:ext uri="{FF2B5EF4-FFF2-40B4-BE49-F238E27FC236}">
                <a16:creationId xmlns:a16="http://schemas.microsoft.com/office/drawing/2014/main" id="{67451004-AE28-4D9F-B6A5-D43C13F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333375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client.chat.completions.create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messages[]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model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tools[]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response_format</a:t>
            </a:r>
          </a:p>
        </p:txBody>
      </p:sp>
      <p:sp>
        <p:nvSpPr>
          <p:cNvPr id="748" name="→">
            <a:extLst xmlns:a="http://schemas.openxmlformats.org/drawingml/2006/main">
              <a:ext uri="{FF2B5EF4-FFF2-40B4-BE49-F238E27FC236}">
                <a16:creationId xmlns:a16="http://schemas.microsoft.com/office/drawing/2014/main" id="{B6121096-CD73-42D7-81D0-923345F5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952500" cy="762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40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→</a:t>
            </a:r>
          </a:p>
        </p:txBody>
      </p:sp>
      <p:sp>
        <p:nvSpPr>
          <p:cNvPr id="749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4ACDDF74-15D2-4E15-9B06-DCFF694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4381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9050">
            <a:solidFill>
              <a:srgbClr val="1684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0" name="RESPONSE">
            <a:extLst xmlns:a="http://schemas.openxmlformats.org/drawingml/2006/main">
              <a:ext uri="{FF2B5EF4-FFF2-40B4-BE49-F238E27FC236}">
                <a16:creationId xmlns:a16="http://schemas.microsoft.com/office/drawing/2014/main" id="{51B75B37-9C8F-45DB-AC4A-D33A6CEA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2095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RESPONSE</a:t>
            </a:r>
          </a:p>
        </p:txBody>
      </p:sp>
      <p:sp>
        <p:nvSpPr>
          <p:cNvPr id="751" name="content items…">
            <a:extLst xmlns:a="http://schemas.openxmlformats.org/drawingml/2006/main">
              <a:ext uri="{FF2B5EF4-FFF2-40B4-BE49-F238E27FC236}">
                <a16:creationId xmlns:a16="http://schemas.microsoft.com/office/drawing/2014/main" id="{FA511E5B-F4EA-4D1E-BC32-1F97F2A1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52425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choices[]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message.content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tool_calls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finish_reason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usage</a:t>
            </a:r>
          </a:p>
        </p:txBody>
      </p:sp>
    </p:spTree>
    <p:extLst>
      <p:ext uri="{BB962C8B-B14F-4D97-AF65-F5344CB8AC3E}">
        <p14:creationId xmlns:p14="http://schemas.microsoft.com/office/powerpoint/2010/main" val="897428699"/>
      </p:ext>
    </p:extLst>
  </p:cSld>
</p:sld>
</file>

<file path=ppt/slides/slide6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4AD6B6-1730-4813-8DB0-C1AE336A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Chat Completions vs Responses API</a:t>
            </a:r>
          </a:p>
        </p:txBody>
      </p:sp>
      <p:sp>
        <p:nvSpPr>
          <p:cNvPr id="756" name="Линия">
            <a:extLst xmlns:a="http://schemas.openxmlformats.org/drawingml/2006/main">
              <a:ext uri="{FF2B5EF4-FFF2-40B4-BE49-F238E27FC236}">
                <a16:creationId xmlns:a16="http://schemas.microsoft.com/office/drawing/2014/main" id="{A536484A-5E9D-4671-893C-DB140FD6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7" name="API">
            <a:extLst xmlns:a="http://schemas.openxmlformats.org/drawingml/2006/main">
              <a:ext uri="{FF2B5EF4-FFF2-40B4-BE49-F238E27FC236}">
                <a16:creationId xmlns:a16="http://schemas.microsoft.com/office/drawing/2014/main" id="{CC1BC71D-97CF-407C-9D12-16A5B0D3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API</a:t>
            </a:r>
          </a:p>
        </p:txBody>
      </p:sp>
      <p:sp>
        <p:nvSpPr>
          <p:cNvPr id="758" name="55">
            <a:extLst xmlns:a="http://schemas.openxmlformats.org/drawingml/2006/main">
              <a:ext uri="{FF2B5EF4-FFF2-40B4-BE49-F238E27FC236}">
                <a16:creationId xmlns:a16="http://schemas.microsoft.com/office/drawing/2014/main" id="{911D6E08-CC37-4254-902F-E4313E52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62</a:t>
            </a:r>
          </a:p>
        </p:txBody>
      </p:sp>
      <p:sp>
        <p:nvSpPr>
          <p:cNvPr id="759" name="OPENAI">
            <a:extLst xmlns:a="http://schemas.openxmlformats.org/drawingml/2006/main">
              <a:ext uri="{FF2B5EF4-FFF2-40B4-BE49-F238E27FC236}">
                <a16:creationId xmlns:a16="http://schemas.microsoft.com/office/drawing/2014/main" id="{35BC95E2-2AB4-4A8A-B3C4-AD6F14FF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19250"/>
            <a:ext cx="238125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CHAT COMPLETIONS</a:t>
            </a:r>
          </a:p>
        </p:txBody>
      </p:sp>
      <p:sp>
        <p:nvSpPr>
          <p:cNvPr id="760" name="CLAUDE">
            <a:extLst xmlns:a="http://schemas.openxmlformats.org/drawingml/2006/main">
              <a:ext uri="{FF2B5EF4-FFF2-40B4-BE49-F238E27FC236}">
                <a16:creationId xmlns:a16="http://schemas.microsoft.com/office/drawing/2014/main" id="{1406D54B-00F5-4660-818A-FB3070C7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19250"/>
            <a:ext cx="247650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RESPONSES API</a:t>
            </a:r>
          </a:p>
        </p:txBody>
      </p:sp>
      <p:sp>
        <p:nvSpPr>
          <p:cNvPr id="761" name="GEMINI">
            <a:extLst xmlns:a="http://schemas.openxmlformats.org/drawingml/2006/main">
              <a:ext uri="{FF2B5EF4-FFF2-40B4-BE49-F238E27FC236}">
                <a16:creationId xmlns:a16="http://schemas.microsoft.com/office/drawing/2014/main" id="{9FD8D685-0153-4393-8719-565A95A9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76225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НА ПРАКТИКЕ</a:t>
            </a:r>
          </a:p>
        </p:txBody>
      </p:sp>
      <p:sp>
        <p:nvSpPr>
          <p:cNvPr id="762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F07F926D-0762-4673-850D-A87D26FF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63" name="Вызов">
            <a:extLst xmlns:a="http://schemas.openxmlformats.org/drawingml/2006/main">
              <a:ext uri="{FF2B5EF4-FFF2-40B4-BE49-F238E27FC236}">
                <a16:creationId xmlns:a16="http://schemas.microsoft.com/office/drawing/2014/main" id="{73FD577A-59BB-4985-9242-DCF19F72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000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Вызов</a:t>
            </a:r>
          </a:p>
        </p:txBody>
      </p:sp>
      <p:sp>
        <p:nvSpPr>
          <p:cNvPr id="764" name="responses.create">
            <a:extLst xmlns:a="http://schemas.openxmlformats.org/drawingml/2006/main">
              <a:ext uri="{FF2B5EF4-FFF2-40B4-BE49-F238E27FC236}">
                <a16:creationId xmlns:a16="http://schemas.microsoft.com/office/drawing/2014/main" id="{FC26ACAE-7558-4CA2-B1D2-F3B95E51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2381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chat.completions.create</a:t>
            </a:r>
          </a:p>
        </p:txBody>
      </p:sp>
      <p:sp>
        <p:nvSpPr>
          <p:cNvPr id="765" name="messages.create">
            <a:extLst xmlns:a="http://schemas.openxmlformats.org/drawingml/2006/main">
              <a:ext uri="{FF2B5EF4-FFF2-40B4-BE49-F238E27FC236}">
                <a16:creationId xmlns:a16="http://schemas.microsoft.com/office/drawing/2014/main" id="{18E4E77B-4070-4BF4-96F8-DC4A1671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145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responses.create</a:t>
            </a:r>
          </a:p>
        </p:txBody>
      </p:sp>
      <p:sp>
        <p:nvSpPr>
          <p:cNvPr id="766" name="interactions.create">
            <a:extLst xmlns:a="http://schemas.openxmlformats.org/drawingml/2006/main">
              <a:ext uri="{FF2B5EF4-FFF2-40B4-BE49-F238E27FC236}">
                <a16:creationId xmlns:a16="http://schemas.microsoft.com/office/drawing/2014/main" id="{22E72ABA-17EE-46F7-B210-E7DF0986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Responses — для нового кода</a:t>
            </a:r>
          </a:p>
        </p:txBody>
      </p:sp>
      <p:sp>
        <p:nvSpPr>
          <p:cNvPr id="767" name="Инструкции">
            <a:extLst xmlns:a="http://schemas.openxmlformats.org/drawingml/2006/main">
              <a:ext uri="{FF2B5EF4-FFF2-40B4-BE49-F238E27FC236}">
                <a16:creationId xmlns:a16="http://schemas.microsoft.com/office/drawing/2014/main" id="{086C73DF-6FBD-43B7-A6F2-374E1E66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000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Вход</a:t>
            </a:r>
          </a:p>
        </p:txBody>
      </p:sp>
      <p:sp>
        <p:nvSpPr>
          <p:cNvPr id="768" name="instructions / developer">
            <a:extLst xmlns:a="http://schemas.openxmlformats.org/drawingml/2006/main">
              <a:ext uri="{FF2B5EF4-FFF2-40B4-BE49-F238E27FC236}">
                <a16:creationId xmlns:a16="http://schemas.microsoft.com/office/drawing/2014/main" id="{B9E1CDF3-BB4F-49A0-9673-35A5A062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2381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messages[]</a:t>
            </a:r>
          </a:p>
        </p:txBody>
      </p:sp>
      <p:sp>
        <p:nvSpPr>
          <p:cNvPr id="769" name="system">
            <a:extLst xmlns:a="http://schemas.openxmlformats.org/drawingml/2006/main">
              <a:ext uri="{FF2B5EF4-FFF2-40B4-BE49-F238E27FC236}">
                <a16:creationId xmlns:a16="http://schemas.microsoft.com/office/drawing/2014/main" id="{6DB761D7-B19A-4A9A-B3E5-A8CE2918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003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input + instructions</a:t>
            </a:r>
          </a:p>
        </p:txBody>
      </p:sp>
      <p:sp>
        <p:nvSpPr>
          <p:cNvPr id="770" name="system instruction">
            <a:extLst xmlns:a="http://schemas.openxmlformats.org/drawingml/2006/main">
              <a:ext uri="{FF2B5EF4-FFF2-40B4-BE49-F238E27FC236}">
                <a16:creationId xmlns:a16="http://schemas.microsoft.com/office/drawing/2014/main" id="{81B9BF11-E494-4D01-BF0B-5CDFEE7F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message тоже Item</a:t>
            </a:r>
          </a:p>
        </p:txBody>
      </p:sp>
      <p:sp>
        <p:nvSpPr>
          <p:cNvPr id="771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2121713A-4323-4D34-A63E-38F21868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72" name="Вход">
            <a:extLst xmlns:a="http://schemas.openxmlformats.org/drawingml/2006/main">
              <a:ext uri="{FF2B5EF4-FFF2-40B4-BE49-F238E27FC236}">
                <a16:creationId xmlns:a16="http://schemas.microsoft.com/office/drawing/2014/main" id="{B41C9AB2-0013-4A05-91A2-A19243AC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2000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Выход</a:t>
            </a:r>
          </a:p>
        </p:txBody>
      </p:sp>
      <p:sp>
        <p:nvSpPr>
          <p:cNvPr id="773" name="input">
            <a:extLst xmlns:a="http://schemas.openxmlformats.org/drawingml/2006/main">
              <a:ext uri="{FF2B5EF4-FFF2-40B4-BE49-F238E27FC236}">
                <a16:creationId xmlns:a16="http://schemas.microsoft.com/office/drawing/2014/main" id="{FC793ED7-1A2E-4125-B872-723BFB74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86150"/>
            <a:ext cx="2381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choices[].message</a:t>
            </a:r>
          </a:p>
        </p:txBody>
      </p:sp>
      <p:sp>
        <p:nvSpPr>
          <p:cNvPr id="774" name="messages">
            <a:extLst xmlns:a="http://schemas.openxmlformats.org/drawingml/2006/main">
              <a:ext uri="{FF2B5EF4-FFF2-40B4-BE49-F238E27FC236}">
                <a16:creationId xmlns:a16="http://schemas.microsoft.com/office/drawing/2014/main" id="{1E03C8D8-6125-4315-A7ED-3F6972BF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861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output[] / output_text</a:t>
            </a:r>
          </a:p>
        </p:txBody>
      </p:sp>
      <p:sp>
        <p:nvSpPr>
          <p:cNvPr id="775" name="input / contents">
            <a:extLst xmlns:a="http://schemas.openxmlformats.org/drawingml/2006/main">
              <a:ext uri="{FF2B5EF4-FFF2-40B4-BE49-F238E27FC236}">
                <a16:creationId xmlns:a16="http://schemas.microsoft.com/office/drawing/2014/main" id="{48181B62-2C12-4C93-84BD-E90EACF6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output содержит разные Items</a:t>
            </a:r>
          </a:p>
        </p:txBody>
      </p:sp>
      <p:sp>
        <p:nvSpPr>
          <p:cNvPr id="776" name="Текст">
            <a:extLst xmlns:a="http://schemas.openxmlformats.org/drawingml/2006/main">
              <a:ext uri="{FF2B5EF4-FFF2-40B4-BE49-F238E27FC236}">
                <a16:creationId xmlns:a16="http://schemas.microsoft.com/office/drawing/2014/main" id="{EE369E96-2F81-4A93-B677-1E44466C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000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Контекст</a:t>
            </a:r>
          </a:p>
        </p:txBody>
      </p:sp>
      <p:sp>
        <p:nvSpPr>
          <p:cNvPr id="777" name="output_text">
            <a:extLst xmlns:a="http://schemas.openxmlformats.org/drawingml/2006/main">
              <a:ext uri="{FF2B5EF4-FFF2-40B4-BE49-F238E27FC236}">
                <a16:creationId xmlns:a16="http://schemas.microsoft.com/office/drawing/2014/main" id="{21923FE7-E9A8-4A05-9206-6F08C594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71950"/>
            <a:ext cx="2381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пересылаем messages</a:t>
            </a:r>
          </a:p>
        </p:txBody>
      </p:sp>
      <p:sp>
        <p:nvSpPr>
          <p:cNvPr id="778" name="content blocks">
            <a:extLst xmlns:a="http://schemas.openxmlformats.org/drawingml/2006/main">
              <a:ext uri="{FF2B5EF4-FFF2-40B4-BE49-F238E27FC236}">
                <a16:creationId xmlns:a16="http://schemas.microsoft.com/office/drawing/2014/main" id="{CFC693F0-D35C-44EA-A5D0-8FCA5A82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719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previous_response_id</a:t>
            </a:r>
          </a:p>
        </p:txBody>
      </p:sp>
      <p:sp>
        <p:nvSpPr>
          <p:cNvPr id="779" name="response / event text">
            <a:extLst xmlns:a="http://schemas.openxmlformats.org/drawingml/2006/main">
              <a:ext uri="{FF2B5EF4-FFF2-40B4-BE49-F238E27FC236}">
                <a16:creationId xmlns:a16="http://schemas.microsoft.com/office/drawing/2014/main" id="{A84D3408-4891-498C-B455-3AE51F2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или передаём Items сами</a:t>
            </a:r>
          </a:p>
        </p:txBody>
      </p:sp>
      <p:sp>
        <p:nvSpPr>
          <p:cNvPr id="780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9EC142FE-C91A-43FA-8018-6EFC1671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81" name="Stream">
            <a:extLst xmlns:a="http://schemas.openxmlformats.org/drawingml/2006/main">
              <a:ext uri="{FF2B5EF4-FFF2-40B4-BE49-F238E27FC236}">
                <a16:creationId xmlns:a16="http://schemas.microsoft.com/office/drawing/2014/main" id="{9F70ECB6-5E35-423D-A229-E3DA9ABF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000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Tools</a:t>
            </a:r>
          </a:p>
        </p:txBody>
      </p:sp>
      <p:sp>
        <p:nvSpPr>
          <p:cNvPr id="782" name="SSE events">
            <a:extLst xmlns:a="http://schemas.openxmlformats.org/drawingml/2006/main">
              <a:ext uri="{FF2B5EF4-FFF2-40B4-BE49-F238E27FC236}">
                <a16:creationId xmlns:a16="http://schemas.microsoft.com/office/drawing/2014/main" id="{6A893633-BD07-4178-9C8D-1F9ECD95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2381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custom functions</a:t>
            </a:r>
          </a:p>
        </p:txBody>
      </p:sp>
      <p:sp>
        <p:nvSpPr>
          <p:cNvPr id="783" name="message events">
            <a:extLst xmlns:a="http://schemas.openxmlformats.org/drawingml/2006/main">
              <a:ext uri="{FF2B5EF4-FFF2-40B4-BE49-F238E27FC236}">
                <a16:creationId xmlns:a16="http://schemas.microsoft.com/office/drawing/2014/main" id="{43AD8592-D8B3-4D5A-8BA0-6FF8DEA4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577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built-in + custom</a:t>
            </a:r>
          </a:p>
        </p:txBody>
      </p:sp>
      <p:sp>
        <p:nvSpPr>
          <p:cNvPr id="784" name="SSE events">
            <a:extLst xmlns:a="http://schemas.openxmlformats.org/drawingml/2006/main">
              <a:ext uri="{FF2B5EF4-FFF2-40B4-BE49-F238E27FC236}">
                <a16:creationId xmlns:a16="http://schemas.microsoft.com/office/drawing/2014/main" id="{FFC45956-B7DA-4F17-B9A6-DD568DCD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web, files, MCP</a:t>
            </a:r>
          </a:p>
        </p:txBody>
      </p:sp>
    </p:spTree>
    <p:extLst>
      <p:ext uri="{BB962C8B-B14F-4D97-AF65-F5344CB8AC3E}">
        <p14:creationId xmlns:p14="http://schemas.microsoft.com/office/powerpoint/2010/main" val="1570969926"/>
      </p:ext>
    </p:extLst>
  </p:cSld>
</p:sld>
</file>

<file path=ppt/slides/slide6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8006F5-2694-4E67-B602-BF39EE5D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Responses API</a:t>
            </a:r>
          </a:p>
        </p:txBody>
      </p:sp>
      <p:sp>
        <p:nvSpPr>
          <p:cNvPr id="789" name="Линия">
            <a:extLst xmlns:a="http://schemas.openxmlformats.org/drawingml/2006/main">
              <a:ext uri="{FF2B5EF4-FFF2-40B4-BE49-F238E27FC236}">
                <a16:creationId xmlns:a16="http://schemas.microsoft.com/office/drawing/2014/main" id="{515D4401-1E52-46CD-B045-FF1D0C88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0" name="API">
            <a:extLst xmlns:a="http://schemas.openxmlformats.org/drawingml/2006/main">
              <a:ext uri="{FF2B5EF4-FFF2-40B4-BE49-F238E27FC236}">
                <a16:creationId xmlns:a16="http://schemas.microsoft.com/office/drawing/2014/main" id="{053D6F6F-A41A-4893-8F90-4EAE1FAB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API</a:t>
            </a:r>
          </a:p>
        </p:txBody>
      </p:sp>
      <p:sp>
        <p:nvSpPr>
          <p:cNvPr id="791" name="56">
            <a:extLst xmlns:a="http://schemas.openxmlformats.org/drawingml/2006/main">
              <a:ext uri="{FF2B5EF4-FFF2-40B4-BE49-F238E27FC236}">
                <a16:creationId xmlns:a16="http://schemas.microsoft.com/office/drawing/2014/main" id="{5374FC11-30B2-4EE3-A71D-59B3AB7F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63</a:t>
            </a:r>
          </a:p>
        </p:txBody>
      </p:sp>
      <p:sp>
        <p:nvSpPr>
          <p:cNvPr id="792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8B846754-AAD0-4CC4-A011-C33F6578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24288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3" name="text">
            <a:extLst xmlns:a="http://schemas.openxmlformats.org/drawingml/2006/main">
              <a:ext uri="{FF2B5EF4-FFF2-40B4-BE49-F238E27FC236}">
                <a16:creationId xmlns:a16="http://schemas.microsoft.com/office/drawing/2014/main" id="{EAA73E66-F4B5-45D0-B7B8-C7D16518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76450"/>
            <a:ext cx="2200275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message</a:t>
            </a:r>
          </a:p>
        </p:txBody>
      </p:sp>
      <p:sp>
        <p:nvSpPr>
          <p:cNvPr id="794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8D9CF6CE-46AC-42B1-B3D2-5C3799CA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24288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5" name="reasoning item">
            <a:extLst xmlns:a="http://schemas.openxmlformats.org/drawingml/2006/main">
              <a:ext uri="{FF2B5EF4-FFF2-40B4-BE49-F238E27FC236}">
                <a16:creationId xmlns:a16="http://schemas.microsoft.com/office/drawing/2014/main" id="{AC4A42D2-4245-4121-B728-9034F13B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76450"/>
            <a:ext cx="2200275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reasoning</a:t>
            </a:r>
          </a:p>
        </p:txBody>
      </p:sp>
      <p:sp>
        <p:nvSpPr>
          <p:cNvPr id="796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2AED525C-8594-48ED-93FC-8DFB9ADE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24288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7" name="tool call">
            <a:extLst xmlns:a="http://schemas.openxmlformats.org/drawingml/2006/main">
              <a:ext uri="{FF2B5EF4-FFF2-40B4-BE49-F238E27FC236}">
                <a16:creationId xmlns:a16="http://schemas.microsoft.com/office/drawing/2014/main" id="{EE532D32-5074-4314-BFF5-57B9B5A8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76450"/>
            <a:ext cx="2200275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function_call</a:t>
            </a:r>
          </a:p>
        </p:txBody>
      </p:sp>
      <p:sp>
        <p:nvSpPr>
          <p:cNvPr id="798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E9E2D48C-825A-4713-B0D0-9A888128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05000"/>
            <a:ext cx="24288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9" name="structured data">
            <a:extLst xmlns:a="http://schemas.openxmlformats.org/drawingml/2006/main">
              <a:ext uri="{FF2B5EF4-FFF2-40B4-BE49-F238E27FC236}">
                <a16:creationId xmlns:a16="http://schemas.microsoft.com/office/drawing/2014/main" id="{CAAE485C-5EE7-4DB4-B848-BF419A03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76450"/>
            <a:ext cx="2200275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другие Items</a:t>
            </a:r>
          </a:p>
        </p:txBody>
      </p:sp>
      <p:sp>
        <p:nvSpPr>
          <p:cNvPr id="800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8301425F-A53E-4695-8B0B-5125079A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24288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01" name="refusal">
            <a:extLst xmlns:a="http://schemas.openxmlformats.org/drawingml/2006/main">
              <a:ext uri="{FF2B5EF4-FFF2-40B4-BE49-F238E27FC236}">
                <a16:creationId xmlns:a16="http://schemas.microsoft.com/office/drawing/2014/main" id="{32171E36-0EFC-4E3D-A74D-A3679C37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57575"/>
            <a:ext cx="2200275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output_text</a:t>
            </a:r>
          </a:p>
        </p:txBody>
      </p:sp>
      <p:sp>
        <p:nvSpPr>
          <p:cNvPr id="802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0EEA48F0-A2E2-4961-86B3-21B54E89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24288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03" name="usage">
            <a:extLst xmlns:a="http://schemas.openxmlformats.org/drawingml/2006/main">
              <a:ext uri="{FF2B5EF4-FFF2-40B4-BE49-F238E27FC236}">
                <a16:creationId xmlns:a16="http://schemas.microsoft.com/office/drawing/2014/main" id="{298F35FC-99CA-4B68-8E55-A3E40DFA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57575"/>
            <a:ext cx="2200275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previous_response_id</a:t>
            </a:r>
          </a:p>
        </p:txBody>
      </p:sp>
      <p:sp>
        <p:nvSpPr>
          <p:cNvPr id="804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94B17152-7CE8-4BC6-B945-E48B8146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86125"/>
            <a:ext cx="24288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05" name="incomplete / error">
            <a:extLst xmlns:a="http://schemas.openxmlformats.org/drawingml/2006/main">
              <a:ext uri="{FF2B5EF4-FFF2-40B4-BE49-F238E27FC236}">
                <a16:creationId xmlns:a16="http://schemas.microsoft.com/office/drawing/2014/main" id="{F5428060-0D78-4B9E-A0D7-B78B71B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57575"/>
            <a:ext cx="2200275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built-in tools</a:t>
            </a:r>
          </a:p>
        </p:txBody>
      </p:sp>
      <p:sp>
        <p:nvSpPr>
          <p:cNvPr id="806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3C87CA12-7736-4473-9BE2-2EB9AFEF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07" name="response.output[0].content[0].text  # хрупко…">
            <a:extLst xmlns:a="http://schemas.openxmlformats.org/drawingml/2006/main">
              <a:ext uri="{FF2B5EF4-FFF2-40B4-BE49-F238E27FC236}">
                <a16:creationId xmlns:a16="http://schemas.microsoft.com/office/drawing/2014/main" id="{55A2BD08-2C54-4EE9-9217-A02D53AA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72050"/>
            <a:ext cx="86868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1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response.output       # все Items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1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response.output_text  # итоговый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1943194214"/>
      </p:ext>
    </p:extLst>
  </p:cSld>
</p:sld>
</file>

<file path=ppt/slides/slide6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7E16F5-A9F4-4886-9ED8-0E5C0FB5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Claude Messages API</a:t>
            </a:r>
          </a:p>
        </p:txBody>
      </p:sp>
      <p:sp>
        <p:nvSpPr>
          <p:cNvPr id="742" name="Линия">
            <a:extLst xmlns:a="http://schemas.openxmlformats.org/drawingml/2006/main">
              <a:ext uri="{FF2B5EF4-FFF2-40B4-BE49-F238E27FC236}">
                <a16:creationId xmlns:a16="http://schemas.microsoft.com/office/drawing/2014/main" id="{37B95E06-862F-4E38-BE1C-0D1FA425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API">
            <a:extLst xmlns:a="http://schemas.openxmlformats.org/drawingml/2006/main">
              <a:ext uri="{FF2B5EF4-FFF2-40B4-BE49-F238E27FC236}">
                <a16:creationId xmlns:a16="http://schemas.microsoft.com/office/drawing/2014/main" id="{B4F7D404-1DE3-4F05-A787-B6CAB1BB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API</a:t>
            </a:r>
          </a:p>
        </p:txBody>
      </p:sp>
      <p:sp>
        <p:nvSpPr>
          <p:cNvPr id="744" name="54">
            <a:extLst xmlns:a="http://schemas.openxmlformats.org/drawingml/2006/main">
              <a:ext uri="{FF2B5EF4-FFF2-40B4-BE49-F238E27FC236}">
                <a16:creationId xmlns:a16="http://schemas.microsoft.com/office/drawing/2014/main" id="{E93B60CE-01CD-40F8-954C-33B32C7F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64</a:t>
            </a:r>
          </a:p>
        </p:txBody>
      </p:sp>
      <p:sp>
        <p:nvSpPr>
          <p:cNvPr id="745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5BD27AE5-D018-4C60-8D3A-E31412B1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095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9050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6" name="REQUEST">
            <a:extLst xmlns:a="http://schemas.openxmlformats.org/drawingml/2006/main">
              <a:ext uri="{FF2B5EF4-FFF2-40B4-BE49-F238E27FC236}">
                <a16:creationId xmlns:a16="http://schemas.microsoft.com/office/drawing/2014/main" id="{28063330-2FFE-4B6A-BD9F-76AD7918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19050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REQUEST</a:t>
            </a:r>
          </a:p>
        </p:txBody>
      </p:sp>
      <p:sp>
        <p:nvSpPr>
          <p:cNvPr id="747" name="model…">
            <a:extLst xmlns:a="http://schemas.openxmlformats.org/drawingml/2006/main">
              <a:ext uri="{FF2B5EF4-FFF2-40B4-BE49-F238E27FC236}">
                <a16:creationId xmlns:a16="http://schemas.microsoft.com/office/drawing/2014/main" id="{67451004-AE28-4D9F-B6A5-D43C13F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333375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client.messages.create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model + max_tokens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system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messages[]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tools[]</a:t>
            </a:r>
          </a:p>
        </p:txBody>
      </p:sp>
      <p:sp>
        <p:nvSpPr>
          <p:cNvPr id="748" name="→">
            <a:extLst xmlns:a="http://schemas.openxmlformats.org/drawingml/2006/main">
              <a:ext uri="{FF2B5EF4-FFF2-40B4-BE49-F238E27FC236}">
                <a16:creationId xmlns:a16="http://schemas.microsoft.com/office/drawing/2014/main" id="{B6121096-CD73-42D7-81D0-923345F5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952500" cy="762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40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→</a:t>
            </a:r>
          </a:p>
        </p:txBody>
      </p:sp>
      <p:sp>
        <p:nvSpPr>
          <p:cNvPr id="749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4ACDDF74-15D2-4E15-9B06-DCFF694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4381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9050">
            <a:solidFill>
              <a:srgbClr val="1684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0" name="RESPONSE">
            <a:extLst xmlns:a="http://schemas.openxmlformats.org/drawingml/2006/main">
              <a:ext uri="{FF2B5EF4-FFF2-40B4-BE49-F238E27FC236}">
                <a16:creationId xmlns:a16="http://schemas.microsoft.com/office/drawing/2014/main" id="{51B75B37-9C8F-45DB-AC4A-D33A6CEA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2095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RESPONSE</a:t>
            </a:r>
          </a:p>
        </p:txBody>
      </p:sp>
      <p:sp>
        <p:nvSpPr>
          <p:cNvPr id="751" name="content items…">
            <a:extLst xmlns:a="http://schemas.openxmlformats.org/drawingml/2006/main">
              <a:ext uri="{FF2B5EF4-FFF2-40B4-BE49-F238E27FC236}">
                <a16:creationId xmlns:a16="http://schemas.microsoft.com/office/drawing/2014/main" id="{FA511E5B-F4EA-4D1E-BC32-1F97F2A1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52425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content[] blocks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text / tool_use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stop_reason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usage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897428699"/>
      </p:ext>
    </p:extLst>
  </p:cSld>
</p:sld>
</file>

<file path=ppt/slides/slide6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7E16F5-A9F4-4886-9ED8-0E5C0FB5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Gemini GenerateContent API</a:t>
            </a:r>
          </a:p>
        </p:txBody>
      </p:sp>
      <p:sp>
        <p:nvSpPr>
          <p:cNvPr id="742" name="Линия">
            <a:extLst xmlns:a="http://schemas.openxmlformats.org/drawingml/2006/main">
              <a:ext uri="{FF2B5EF4-FFF2-40B4-BE49-F238E27FC236}">
                <a16:creationId xmlns:a16="http://schemas.microsoft.com/office/drawing/2014/main" id="{37B95E06-862F-4E38-BE1C-0D1FA425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API">
            <a:extLst xmlns:a="http://schemas.openxmlformats.org/drawingml/2006/main">
              <a:ext uri="{FF2B5EF4-FFF2-40B4-BE49-F238E27FC236}">
                <a16:creationId xmlns:a16="http://schemas.microsoft.com/office/drawing/2014/main" id="{B4F7D404-1DE3-4F05-A787-B6CAB1BB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API</a:t>
            </a:r>
          </a:p>
        </p:txBody>
      </p:sp>
      <p:sp>
        <p:nvSpPr>
          <p:cNvPr id="744" name="54">
            <a:extLst xmlns:a="http://schemas.openxmlformats.org/drawingml/2006/main">
              <a:ext uri="{FF2B5EF4-FFF2-40B4-BE49-F238E27FC236}">
                <a16:creationId xmlns:a16="http://schemas.microsoft.com/office/drawing/2014/main" id="{E93B60CE-01CD-40F8-954C-33B32C7F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65</a:t>
            </a:r>
          </a:p>
        </p:txBody>
      </p:sp>
      <p:sp>
        <p:nvSpPr>
          <p:cNvPr id="745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5BD27AE5-D018-4C60-8D3A-E31412B1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095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9050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6" name="REQUEST">
            <a:extLst xmlns:a="http://schemas.openxmlformats.org/drawingml/2006/main">
              <a:ext uri="{FF2B5EF4-FFF2-40B4-BE49-F238E27FC236}">
                <a16:creationId xmlns:a16="http://schemas.microsoft.com/office/drawing/2014/main" id="{28063330-2FFE-4B6A-BD9F-76AD7918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19050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REQUEST</a:t>
            </a:r>
          </a:p>
        </p:txBody>
      </p:sp>
      <p:sp>
        <p:nvSpPr>
          <p:cNvPr id="747" name="model…">
            <a:extLst xmlns:a="http://schemas.openxmlformats.org/drawingml/2006/main">
              <a:ext uri="{FF2B5EF4-FFF2-40B4-BE49-F238E27FC236}">
                <a16:creationId xmlns:a16="http://schemas.microsoft.com/office/drawing/2014/main" id="{67451004-AE28-4D9F-B6A5-D43C13F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333375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client.models.generate_content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model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contents / parts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config.tools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config.system_instruction</a:t>
            </a:r>
          </a:p>
        </p:txBody>
      </p:sp>
      <p:sp>
        <p:nvSpPr>
          <p:cNvPr id="748" name="→">
            <a:extLst xmlns:a="http://schemas.openxmlformats.org/drawingml/2006/main">
              <a:ext uri="{FF2B5EF4-FFF2-40B4-BE49-F238E27FC236}">
                <a16:creationId xmlns:a16="http://schemas.microsoft.com/office/drawing/2014/main" id="{B6121096-CD73-42D7-81D0-923345F5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952500" cy="762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40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→</a:t>
            </a:r>
          </a:p>
        </p:txBody>
      </p:sp>
      <p:sp>
        <p:nvSpPr>
          <p:cNvPr id="749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4ACDDF74-15D2-4E15-9B06-DCFF694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4381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9050">
            <a:solidFill>
              <a:srgbClr val="1684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0" name="RESPONSE">
            <a:extLst xmlns:a="http://schemas.openxmlformats.org/drawingml/2006/main">
              <a:ext uri="{FF2B5EF4-FFF2-40B4-BE49-F238E27FC236}">
                <a16:creationId xmlns:a16="http://schemas.microsoft.com/office/drawing/2014/main" id="{51B75B37-9C8F-45DB-AC4A-D33A6CEA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2095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RESPONSE</a:t>
            </a:r>
          </a:p>
        </p:txBody>
      </p:sp>
      <p:sp>
        <p:nvSpPr>
          <p:cNvPr id="751" name="content items…">
            <a:extLst xmlns:a="http://schemas.openxmlformats.org/drawingml/2006/main">
              <a:ext uri="{FF2B5EF4-FFF2-40B4-BE49-F238E27FC236}">
                <a16:creationId xmlns:a16="http://schemas.microsoft.com/office/drawing/2014/main" id="{FA511E5B-F4EA-4D1E-BC32-1F97F2A1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52425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candidates[]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content.parts[]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finish_reason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usage_metadata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response.text</a:t>
            </a:r>
          </a:p>
        </p:txBody>
      </p:sp>
    </p:spTree>
    <p:extLst>
      <p:ext uri="{BB962C8B-B14F-4D97-AF65-F5344CB8AC3E}">
        <p14:creationId xmlns:p14="http://schemas.microsoft.com/office/powerpoint/2010/main" val="897428699"/>
      </p:ext>
    </p:extLst>
  </p:cSld>
</p:sld>
</file>

<file path=ppt/slides/slide6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7E16F5-A9F4-4886-9ED8-0E5C0FB5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OpenAI-compatible</a:t>
            </a:r>
          </a:p>
        </p:txBody>
      </p:sp>
      <p:sp>
        <p:nvSpPr>
          <p:cNvPr id="742" name="Линия">
            <a:extLst xmlns:a="http://schemas.openxmlformats.org/drawingml/2006/main">
              <a:ext uri="{FF2B5EF4-FFF2-40B4-BE49-F238E27FC236}">
                <a16:creationId xmlns:a16="http://schemas.microsoft.com/office/drawing/2014/main" id="{37B95E06-862F-4E38-BE1C-0D1FA425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API">
            <a:extLst xmlns:a="http://schemas.openxmlformats.org/drawingml/2006/main">
              <a:ext uri="{FF2B5EF4-FFF2-40B4-BE49-F238E27FC236}">
                <a16:creationId xmlns:a16="http://schemas.microsoft.com/office/drawing/2014/main" id="{B4F7D404-1DE3-4F05-A787-B6CAB1BB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API</a:t>
            </a:r>
          </a:p>
        </p:txBody>
      </p:sp>
      <p:sp>
        <p:nvSpPr>
          <p:cNvPr id="744" name="54">
            <a:extLst xmlns:a="http://schemas.openxmlformats.org/drawingml/2006/main">
              <a:ext uri="{FF2B5EF4-FFF2-40B4-BE49-F238E27FC236}">
                <a16:creationId xmlns:a16="http://schemas.microsoft.com/office/drawing/2014/main" id="{E93B60CE-01CD-40F8-954C-33B32C7F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66</a:t>
            </a:r>
          </a:p>
        </p:txBody>
      </p:sp>
      <p:sp>
        <p:nvSpPr>
          <p:cNvPr id="745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5BD27AE5-D018-4C60-8D3A-E31412B1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095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9050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6" name="REQUEST">
            <a:extLst xmlns:a="http://schemas.openxmlformats.org/drawingml/2006/main">
              <a:ext uri="{FF2B5EF4-FFF2-40B4-BE49-F238E27FC236}">
                <a16:creationId xmlns:a16="http://schemas.microsoft.com/office/drawing/2014/main" id="{28063330-2FFE-4B6A-BD9F-76AD7918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19050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ПОХОЖЕ</a:t>
            </a:r>
          </a:p>
        </p:txBody>
      </p:sp>
      <p:sp>
        <p:nvSpPr>
          <p:cNvPr id="747" name="model…">
            <a:extLst xmlns:a="http://schemas.openxmlformats.org/drawingml/2006/main">
              <a:ext uri="{FF2B5EF4-FFF2-40B4-BE49-F238E27FC236}">
                <a16:creationId xmlns:a16="http://schemas.microsoft.com/office/drawing/2014/main" id="{67451004-AE28-4D9F-B6A5-D43C13F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333375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меняем base_url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chat.completions.create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messages[] / choices[]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SDK и Bearer auth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знакомый JSON</a:t>
            </a:r>
          </a:p>
        </p:txBody>
      </p:sp>
      <p:sp>
        <p:nvSpPr>
          <p:cNvPr id="748" name="→">
            <a:extLst xmlns:a="http://schemas.openxmlformats.org/drawingml/2006/main">
              <a:ext uri="{FF2B5EF4-FFF2-40B4-BE49-F238E27FC236}">
                <a16:creationId xmlns:a16="http://schemas.microsoft.com/office/drawing/2014/main" id="{B6121096-CD73-42D7-81D0-923345F5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952500" cy="762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40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≠</a:t>
            </a:r>
          </a:p>
        </p:txBody>
      </p:sp>
      <p:sp>
        <p:nvSpPr>
          <p:cNvPr id="749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4ACDDF74-15D2-4E15-9B06-DCFF694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4381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19050">
            <a:solidFill>
              <a:srgbClr val="16845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0" name="RESPONSE">
            <a:extLst xmlns:a="http://schemas.openxmlformats.org/drawingml/2006/main">
              <a:ext uri="{FF2B5EF4-FFF2-40B4-BE49-F238E27FC236}">
                <a16:creationId xmlns:a16="http://schemas.microsoft.com/office/drawing/2014/main" id="{51B75B37-9C8F-45DB-AC4A-D33A6CEA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2095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НО НЕ РАВНО</a:t>
            </a:r>
          </a:p>
        </p:txBody>
      </p:sp>
      <p:sp>
        <p:nvSpPr>
          <p:cNvPr id="751" name="content items…">
            <a:extLst xmlns:a="http://schemas.openxmlformats.org/drawingml/2006/main">
              <a:ext uri="{FF2B5EF4-FFF2-40B4-BE49-F238E27FC236}">
                <a16:creationId xmlns:a16="http://schemas.microsoft.com/office/drawing/2014/main" id="{FA511E5B-F4EA-4D1E-BC32-1F97F2A1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52425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model names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tools / reasoning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structured outputs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stream events</a:t>
            </a:r>
          </a:p>
          <a:p xmlns:a="http://schemas.openxmlformats.org/drawingml/2006/main">
            <a:pPr>
              <a:lnSpc>
                <a:spcPct val="117999"/>
              </a:lnSpc>
              <a:buNone/>
              <a:defRPr sz="15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errors / limits</a:t>
            </a:r>
          </a:p>
        </p:txBody>
      </p:sp>
    </p:spTree>
    <p:extLst>
      <p:ext uri="{BB962C8B-B14F-4D97-AF65-F5344CB8AC3E}">
        <p14:creationId xmlns:p14="http://schemas.microsoft.com/office/powerpoint/2010/main" val="897428699"/>
      </p:ext>
    </p:extLst>
  </p:cSld>
</p:sld>
</file>

<file path=ppt/slides/slide6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4AD6B6-1730-4813-8DB0-C1AE336A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Универсальный контракт</a:t>
            </a:r>
          </a:p>
        </p:txBody>
      </p:sp>
      <p:sp>
        <p:nvSpPr>
          <p:cNvPr id="756" name="Линия">
            <a:extLst xmlns:a="http://schemas.openxmlformats.org/drawingml/2006/main">
              <a:ext uri="{FF2B5EF4-FFF2-40B4-BE49-F238E27FC236}">
                <a16:creationId xmlns:a16="http://schemas.microsoft.com/office/drawing/2014/main" id="{A536484A-5E9D-4671-893C-DB140FD6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7" name="API">
            <a:extLst xmlns:a="http://schemas.openxmlformats.org/drawingml/2006/main">
              <a:ext uri="{FF2B5EF4-FFF2-40B4-BE49-F238E27FC236}">
                <a16:creationId xmlns:a16="http://schemas.microsoft.com/office/drawing/2014/main" id="{CC1BC71D-97CF-407C-9D12-16A5B0D3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API</a:t>
            </a:r>
          </a:p>
        </p:txBody>
      </p:sp>
      <p:sp>
        <p:nvSpPr>
          <p:cNvPr id="758" name="55">
            <a:extLst xmlns:a="http://schemas.openxmlformats.org/drawingml/2006/main">
              <a:ext uri="{FF2B5EF4-FFF2-40B4-BE49-F238E27FC236}">
                <a16:creationId xmlns:a16="http://schemas.microsoft.com/office/drawing/2014/main" id="{911D6E08-CC37-4254-902F-E4313E52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67</a:t>
            </a:r>
          </a:p>
        </p:txBody>
      </p:sp>
      <p:sp>
        <p:nvSpPr>
          <p:cNvPr id="759" name="OPENAI">
            <a:extLst xmlns:a="http://schemas.openxmlformats.org/drawingml/2006/main">
              <a:ext uri="{FF2B5EF4-FFF2-40B4-BE49-F238E27FC236}">
                <a16:creationId xmlns:a16="http://schemas.microsoft.com/office/drawing/2014/main" id="{35BC95E2-2AB4-4A8A-B3C4-AD6F14FF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19250"/>
            <a:ext cx="238125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ПРИЛОЖЕНИЕ</a:t>
            </a:r>
          </a:p>
        </p:txBody>
      </p:sp>
      <p:sp>
        <p:nvSpPr>
          <p:cNvPr id="760" name="CLAUDE">
            <a:extLst xmlns:a="http://schemas.openxmlformats.org/drawingml/2006/main">
              <a:ext uri="{FF2B5EF4-FFF2-40B4-BE49-F238E27FC236}">
                <a16:creationId xmlns:a16="http://schemas.microsoft.com/office/drawing/2014/main" id="{1406D54B-00F5-4660-818A-FB3070C7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19250"/>
            <a:ext cx="247650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АДАПТЕР</a:t>
            </a:r>
          </a:p>
        </p:txBody>
      </p:sp>
      <p:sp>
        <p:nvSpPr>
          <p:cNvPr id="761" name="GEMINI">
            <a:extLst xmlns:a="http://schemas.openxmlformats.org/drawingml/2006/main">
              <a:ext uri="{FF2B5EF4-FFF2-40B4-BE49-F238E27FC236}">
                <a16:creationId xmlns:a16="http://schemas.microsoft.com/office/drawing/2014/main" id="{9FD8D685-0153-4393-8719-565A95A9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76225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ПРОВАЙДЕР</a:t>
            </a:r>
          </a:p>
        </p:txBody>
      </p:sp>
      <p:sp>
        <p:nvSpPr>
          <p:cNvPr id="762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F07F926D-0762-4673-850D-A87D26FF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63" name="Вызов">
            <a:extLst xmlns:a="http://schemas.openxmlformats.org/drawingml/2006/main">
              <a:ext uri="{FF2B5EF4-FFF2-40B4-BE49-F238E27FC236}">
                <a16:creationId xmlns:a16="http://schemas.microsoft.com/office/drawing/2014/main" id="{73FD577A-59BB-4985-9242-DCF19F72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000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Запрос</a:t>
            </a:r>
          </a:p>
        </p:txBody>
      </p:sp>
      <p:sp>
        <p:nvSpPr>
          <p:cNvPr id="764" name="responses.create">
            <a:extLst xmlns:a="http://schemas.openxmlformats.org/drawingml/2006/main">
              <a:ext uri="{FF2B5EF4-FFF2-40B4-BE49-F238E27FC236}">
                <a16:creationId xmlns:a16="http://schemas.microsoft.com/office/drawing/2014/main" id="{FC26ACAE-7558-4CA2-B1D2-F3B95E51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2381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messages + instructions</a:t>
            </a:r>
          </a:p>
        </p:txBody>
      </p:sp>
      <p:sp>
        <p:nvSpPr>
          <p:cNvPr id="765" name="messages.create">
            <a:extLst xmlns:a="http://schemas.openxmlformats.org/drawingml/2006/main">
              <a:ext uri="{FF2B5EF4-FFF2-40B4-BE49-F238E27FC236}">
                <a16:creationId xmlns:a16="http://schemas.microsoft.com/office/drawing/2014/main" id="{18E4E77B-4070-4BF4-96F8-DC4A1671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145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map fields</a:t>
            </a:r>
          </a:p>
        </p:txBody>
      </p:sp>
      <p:sp>
        <p:nvSpPr>
          <p:cNvPr id="766" name="interactions.create">
            <a:extLst xmlns:a="http://schemas.openxmlformats.org/drawingml/2006/main">
              <a:ext uri="{FF2B5EF4-FFF2-40B4-BE49-F238E27FC236}">
                <a16:creationId xmlns:a16="http://schemas.microsoft.com/office/drawing/2014/main" id="{22E72ABA-17EE-46F7-B210-E7DF0986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native request</a:t>
            </a:r>
          </a:p>
        </p:txBody>
      </p:sp>
      <p:sp>
        <p:nvSpPr>
          <p:cNvPr id="767" name="Инструкции">
            <a:extLst xmlns:a="http://schemas.openxmlformats.org/drawingml/2006/main">
              <a:ext uri="{FF2B5EF4-FFF2-40B4-BE49-F238E27FC236}">
                <a16:creationId xmlns:a16="http://schemas.microsoft.com/office/drawing/2014/main" id="{086C73DF-6FBD-43B7-A6F2-374E1E66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000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Tools</a:t>
            </a:r>
          </a:p>
        </p:txBody>
      </p:sp>
      <p:sp>
        <p:nvSpPr>
          <p:cNvPr id="768" name="instructions / developer">
            <a:extLst xmlns:a="http://schemas.openxmlformats.org/drawingml/2006/main">
              <a:ext uri="{FF2B5EF4-FFF2-40B4-BE49-F238E27FC236}">
                <a16:creationId xmlns:a16="http://schemas.microsoft.com/office/drawing/2014/main" id="{B9E1CDF3-BB4F-49A0-9673-35A5A062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2381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ToolSpec[]</a:t>
            </a:r>
          </a:p>
        </p:txBody>
      </p:sp>
      <p:sp>
        <p:nvSpPr>
          <p:cNvPr id="769" name="system">
            <a:extLst xmlns:a="http://schemas.openxmlformats.org/drawingml/2006/main">
              <a:ext uri="{FF2B5EF4-FFF2-40B4-BE49-F238E27FC236}">
                <a16:creationId xmlns:a16="http://schemas.microsoft.com/office/drawing/2014/main" id="{6DB761D7-B19A-4A9A-B3E5-A8CE2918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003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convert schema</a:t>
            </a:r>
          </a:p>
        </p:txBody>
      </p:sp>
      <p:sp>
        <p:nvSpPr>
          <p:cNvPr id="770" name="system instruction">
            <a:extLst xmlns:a="http://schemas.openxmlformats.org/drawingml/2006/main">
              <a:ext uri="{FF2B5EF4-FFF2-40B4-BE49-F238E27FC236}">
                <a16:creationId xmlns:a16="http://schemas.microsoft.com/office/drawing/2014/main" id="{81B9BF11-E494-4D01-BF0B-5CDFEE7F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provider tools</a:t>
            </a:r>
          </a:p>
        </p:txBody>
      </p:sp>
      <p:sp>
        <p:nvSpPr>
          <p:cNvPr id="771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2121713A-4323-4D34-A63E-38F21868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72" name="Вход">
            <a:extLst xmlns:a="http://schemas.openxmlformats.org/drawingml/2006/main">
              <a:ext uri="{FF2B5EF4-FFF2-40B4-BE49-F238E27FC236}">
                <a16:creationId xmlns:a16="http://schemas.microsoft.com/office/drawing/2014/main" id="{B41C9AB2-0013-4A05-91A2-A19243AC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2000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Выход</a:t>
            </a:r>
          </a:p>
        </p:txBody>
      </p:sp>
      <p:sp>
        <p:nvSpPr>
          <p:cNvPr id="773" name="input">
            <a:extLst xmlns:a="http://schemas.openxmlformats.org/drawingml/2006/main">
              <a:ext uri="{FF2B5EF4-FFF2-40B4-BE49-F238E27FC236}">
                <a16:creationId xmlns:a16="http://schemas.microsoft.com/office/drawing/2014/main" id="{FC793ED7-1A2E-4125-B872-723BFB74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86150"/>
            <a:ext cx="2381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text + tool calls</a:t>
            </a:r>
          </a:p>
        </p:txBody>
      </p:sp>
      <p:sp>
        <p:nvSpPr>
          <p:cNvPr id="774" name="messages">
            <a:extLst xmlns:a="http://schemas.openxmlformats.org/drawingml/2006/main">
              <a:ext uri="{FF2B5EF4-FFF2-40B4-BE49-F238E27FC236}">
                <a16:creationId xmlns:a16="http://schemas.microsoft.com/office/drawing/2014/main" id="{1E03C8D8-6125-4315-A7ED-3F6972BF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861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normalize blocks</a:t>
            </a:r>
          </a:p>
        </p:txBody>
      </p:sp>
      <p:sp>
        <p:nvSpPr>
          <p:cNvPr id="775" name="input / contents">
            <a:extLst xmlns:a="http://schemas.openxmlformats.org/drawingml/2006/main">
              <a:ext uri="{FF2B5EF4-FFF2-40B4-BE49-F238E27FC236}">
                <a16:creationId xmlns:a16="http://schemas.microsoft.com/office/drawing/2014/main" id="{48181B62-2C12-4C93-84BD-E90EACF6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native response</a:t>
            </a:r>
          </a:p>
        </p:txBody>
      </p:sp>
      <p:sp>
        <p:nvSpPr>
          <p:cNvPr id="776" name="Текст">
            <a:extLst xmlns:a="http://schemas.openxmlformats.org/drawingml/2006/main">
              <a:ext uri="{FF2B5EF4-FFF2-40B4-BE49-F238E27FC236}">
                <a16:creationId xmlns:a16="http://schemas.microsoft.com/office/drawing/2014/main" id="{EE369E96-2F81-4A93-B677-1E44466C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000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Ошибки</a:t>
            </a:r>
          </a:p>
        </p:txBody>
      </p:sp>
      <p:sp>
        <p:nvSpPr>
          <p:cNvPr id="777" name="output_text">
            <a:extLst xmlns:a="http://schemas.openxmlformats.org/drawingml/2006/main">
              <a:ext uri="{FF2B5EF4-FFF2-40B4-BE49-F238E27FC236}">
                <a16:creationId xmlns:a16="http://schemas.microsoft.com/office/drawing/2014/main" id="{21923FE7-E9A8-4A05-9206-6F08C594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71950"/>
            <a:ext cx="2381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timeout / rate_limit</a:t>
            </a:r>
          </a:p>
        </p:txBody>
      </p:sp>
      <p:sp>
        <p:nvSpPr>
          <p:cNvPr id="778" name="content blocks">
            <a:extLst xmlns:a="http://schemas.openxmlformats.org/drawingml/2006/main">
              <a:ext uri="{FF2B5EF4-FFF2-40B4-BE49-F238E27FC236}">
                <a16:creationId xmlns:a16="http://schemas.microsoft.com/office/drawing/2014/main" id="{CFC693F0-D35C-44EA-A5D0-8FCA5A82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719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map provider errors</a:t>
            </a:r>
          </a:p>
        </p:txBody>
      </p:sp>
      <p:sp>
        <p:nvSpPr>
          <p:cNvPr id="779" name="response / event text">
            <a:extLst xmlns:a="http://schemas.openxmlformats.org/drawingml/2006/main">
              <a:ext uri="{FF2B5EF4-FFF2-40B4-BE49-F238E27FC236}">
                <a16:creationId xmlns:a16="http://schemas.microsoft.com/office/drawing/2014/main" id="{A84D3408-4891-498C-B455-3AE51F2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native codes</a:t>
            </a:r>
          </a:p>
        </p:txBody>
      </p:sp>
      <p:sp>
        <p:nvSpPr>
          <p:cNvPr id="780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9EC142FE-C91A-43FA-8018-6EFC1671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81" name="Stream">
            <a:extLst xmlns:a="http://schemas.openxmlformats.org/drawingml/2006/main">
              <a:ext uri="{FF2B5EF4-FFF2-40B4-BE49-F238E27FC236}">
                <a16:creationId xmlns:a16="http://schemas.microsoft.com/office/drawing/2014/main" id="{9F70ECB6-5E35-423D-A229-E3DA9ABF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000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Метаданные</a:t>
            </a:r>
          </a:p>
        </p:txBody>
      </p:sp>
      <p:sp>
        <p:nvSpPr>
          <p:cNvPr id="782" name="SSE events">
            <a:extLst xmlns:a="http://schemas.openxmlformats.org/drawingml/2006/main">
              <a:ext uri="{FF2B5EF4-FFF2-40B4-BE49-F238E27FC236}">
                <a16:creationId xmlns:a16="http://schemas.microsoft.com/office/drawing/2014/main" id="{6A893633-BD07-4178-9C8D-1F9ECD95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2381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usage + raw</a:t>
            </a:r>
          </a:p>
        </p:txBody>
      </p:sp>
      <p:sp>
        <p:nvSpPr>
          <p:cNvPr id="783" name="message events">
            <a:extLst xmlns:a="http://schemas.openxmlformats.org/drawingml/2006/main">
              <a:ext uri="{FF2B5EF4-FFF2-40B4-BE49-F238E27FC236}">
                <a16:creationId xmlns:a16="http://schemas.microsoft.com/office/drawing/2014/main" id="{43AD8592-D8B3-4D5A-8BA0-6FF8DEA4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577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keep provider fields</a:t>
            </a:r>
          </a:p>
        </p:txBody>
      </p:sp>
      <p:sp>
        <p:nvSpPr>
          <p:cNvPr id="784" name="SSE events">
            <a:extLst xmlns:a="http://schemas.openxmlformats.org/drawingml/2006/main">
              <a:ext uri="{FF2B5EF4-FFF2-40B4-BE49-F238E27FC236}">
                <a16:creationId xmlns:a16="http://schemas.microsoft.com/office/drawing/2014/main" id="{FFC45956-B7DA-4F17-B9A6-DD568DCD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sz="130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raw payload</a:t>
            </a:r>
          </a:p>
        </p:txBody>
      </p:sp>
    </p:spTree>
    <p:extLst>
      <p:ext uri="{BB962C8B-B14F-4D97-AF65-F5344CB8AC3E}">
        <p14:creationId xmlns:p14="http://schemas.microsoft.com/office/powerpoint/2010/main" val="1570969926"/>
      </p:ext>
    </p:extLst>
  </p:cSld>
</p:sld>
</file>

<file path=ppt/slides/slide6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BF8808-0CF0-4360-8079-18B53DA3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Долгие запросы</a:t>
            </a:r>
          </a:p>
        </p:txBody>
      </p:sp>
      <p:sp>
        <p:nvSpPr>
          <p:cNvPr id="812" name="Линия">
            <a:extLst xmlns:a="http://schemas.openxmlformats.org/drawingml/2006/main">
              <a:ext uri="{FF2B5EF4-FFF2-40B4-BE49-F238E27FC236}">
                <a16:creationId xmlns:a16="http://schemas.microsoft.com/office/drawing/2014/main" id="{A3C1D1A5-08D3-439D-A161-320594FA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3" name="API">
            <a:extLst xmlns:a="http://schemas.openxmlformats.org/drawingml/2006/main">
              <a:ext uri="{FF2B5EF4-FFF2-40B4-BE49-F238E27FC236}">
                <a16:creationId xmlns:a16="http://schemas.microsoft.com/office/drawing/2014/main" id="{6CB5EB76-1CE2-4706-B6FD-0C501D05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API</a:t>
            </a:r>
          </a:p>
        </p:txBody>
      </p:sp>
      <p:sp>
        <p:nvSpPr>
          <p:cNvPr id="814" name="57">
            <a:extLst xmlns:a="http://schemas.openxmlformats.org/drawingml/2006/main">
              <a:ext uri="{FF2B5EF4-FFF2-40B4-BE49-F238E27FC236}">
                <a16:creationId xmlns:a16="http://schemas.microsoft.com/office/drawing/2014/main" id="{113DB1A6-9C36-4156-B9A3-AEFC71A5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68</a:t>
            </a:r>
          </a:p>
        </p:txBody>
      </p:sp>
      <p:sp>
        <p:nvSpPr>
          <p:cNvPr id="815" name="SYNC">
            <a:extLst xmlns:a="http://schemas.openxmlformats.org/drawingml/2006/main">
              <a:ext uri="{FF2B5EF4-FFF2-40B4-BE49-F238E27FC236}">
                <a16:creationId xmlns:a16="http://schemas.microsoft.com/office/drawing/2014/main" id="{CBB2E5C6-61A2-4BF4-BE8F-A7567E8C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21907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SYNC</a:t>
            </a:r>
          </a:p>
        </p:txBody>
      </p:sp>
      <p:sp>
        <p:nvSpPr>
          <p:cNvPr id="816" name="Линия">
            <a:extLst xmlns:a="http://schemas.openxmlformats.org/drawingml/2006/main">
              <a:ext uri="{FF2B5EF4-FFF2-40B4-BE49-F238E27FC236}">
                <a16:creationId xmlns:a16="http://schemas.microsoft.com/office/drawing/2014/main" id="{8BB05308-B00A-4066-832B-4F9376F7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38325"/>
            <a:ext cx="1047751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7" name="ждём весь ответ">
            <a:extLst xmlns:a="http://schemas.openxmlformats.org/drawingml/2006/main">
              <a:ext uri="{FF2B5EF4-FFF2-40B4-BE49-F238E27FC236}">
                <a16:creationId xmlns:a16="http://schemas.microsoft.com/office/drawing/2014/main" id="{B7BF3FC6-0F0D-4E67-BC3B-F790FFE8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61912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ждём весь ответ</a:t>
            </a:r>
          </a:p>
        </p:txBody>
      </p:sp>
      <p:sp>
        <p:nvSpPr>
          <p:cNvPr id="818" name="STREAM / SSE">
            <a:extLst xmlns:a="http://schemas.openxmlformats.org/drawingml/2006/main">
              <a:ext uri="{FF2B5EF4-FFF2-40B4-BE49-F238E27FC236}">
                <a16:creationId xmlns:a16="http://schemas.microsoft.com/office/drawing/2014/main" id="{135B4FA7-34E8-4CD0-B8F7-453D57C1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21907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STREAM / SSE</a:t>
            </a:r>
          </a:p>
        </p:txBody>
      </p:sp>
      <p:sp>
        <p:nvSpPr>
          <p:cNvPr id="819" name="Линия">
            <a:extLst xmlns:a="http://schemas.openxmlformats.org/drawingml/2006/main">
              <a:ext uri="{FF2B5EF4-FFF2-40B4-BE49-F238E27FC236}">
                <a16:creationId xmlns:a16="http://schemas.microsoft.com/office/drawing/2014/main" id="{D7AE8854-956E-4CBD-9F31-112E0F64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19375"/>
            <a:ext cx="1047751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0" name="показываем delta">
            <a:extLst xmlns:a="http://schemas.openxmlformats.org/drawingml/2006/main">
              <a:ext uri="{FF2B5EF4-FFF2-40B4-BE49-F238E27FC236}">
                <a16:creationId xmlns:a16="http://schemas.microsoft.com/office/drawing/2014/main" id="{FCB5B612-09C1-42F7-A305-CE7A6268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47925"/>
            <a:ext cx="61912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показываем delta</a:t>
            </a:r>
          </a:p>
        </p:txBody>
      </p:sp>
      <p:sp>
        <p:nvSpPr>
          <p:cNvPr id="821" name="ASYNC">
            <a:extLst xmlns:a="http://schemas.openxmlformats.org/drawingml/2006/main">
              <a:ext uri="{FF2B5EF4-FFF2-40B4-BE49-F238E27FC236}">
                <a16:creationId xmlns:a16="http://schemas.microsoft.com/office/drawing/2014/main" id="{2D58EC7F-B5C8-485C-A973-A42D1BC7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28975"/>
            <a:ext cx="21907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ASYNC</a:t>
            </a:r>
          </a:p>
        </p:txBody>
      </p:sp>
      <p:sp>
        <p:nvSpPr>
          <p:cNvPr id="822" name="Линия">
            <a:extLst xmlns:a="http://schemas.openxmlformats.org/drawingml/2006/main">
              <a:ext uri="{FF2B5EF4-FFF2-40B4-BE49-F238E27FC236}">
                <a16:creationId xmlns:a16="http://schemas.microsoft.com/office/drawing/2014/main" id="{F5D4C5A7-6861-4FAD-856F-538AE612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00425"/>
            <a:ext cx="1047751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3" name="не блокируем worker">
            <a:extLst xmlns:a="http://schemas.openxmlformats.org/drawingml/2006/main">
              <a:ext uri="{FF2B5EF4-FFF2-40B4-BE49-F238E27FC236}">
                <a16:creationId xmlns:a16="http://schemas.microsoft.com/office/drawing/2014/main" id="{6154F08C-7D7A-4487-9294-60EF4E3F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28975"/>
            <a:ext cx="61912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не блокируем worker</a:t>
            </a:r>
          </a:p>
        </p:txBody>
      </p:sp>
      <p:sp>
        <p:nvSpPr>
          <p:cNvPr id="824" name="BACKGROUND">
            <a:extLst xmlns:a="http://schemas.openxmlformats.org/drawingml/2006/main">
              <a:ext uri="{FF2B5EF4-FFF2-40B4-BE49-F238E27FC236}">
                <a16:creationId xmlns:a16="http://schemas.microsoft.com/office/drawing/2014/main" id="{D36B6437-10C3-433E-95D8-A47E14B6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0025"/>
            <a:ext cx="21907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BACKGROUND</a:t>
            </a:r>
          </a:p>
        </p:txBody>
      </p:sp>
      <p:sp>
        <p:nvSpPr>
          <p:cNvPr id="825" name="Линия">
            <a:extLst xmlns:a="http://schemas.openxmlformats.org/drawingml/2006/main">
              <a:ext uri="{FF2B5EF4-FFF2-40B4-BE49-F238E27FC236}">
                <a16:creationId xmlns:a16="http://schemas.microsoft.com/office/drawing/2014/main" id="{E4F0EC01-13B1-4210-94CC-F596DFB5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81475"/>
            <a:ext cx="1047751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6" name="poll / webhook">
            <a:extLst xmlns:a="http://schemas.openxmlformats.org/drawingml/2006/main">
              <a:ext uri="{FF2B5EF4-FFF2-40B4-BE49-F238E27FC236}">
                <a16:creationId xmlns:a16="http://schemas.microsoft.com/office/drawing/2014/main" id="{86A3FE38-35CE-440B-B99B-D65ED23A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0025"/>
            <a:ext cx="61912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poll / webhook</a:t>
            </a:r>
          </a:p>
        </p:txBody>
      </p:sp>
      <p:sp>
        <p:nvSpPr>
          <p:cNvPr id="827" name="BATCH">
            <a:extLst xmlns:a="http://schemas.openxmlformats.org/drawingml/2006/main">
              <a:ext uri="{FF2B5EF4-FFF2-40B4-BE49-F238E27FC236}">
                <a16:creationId xmlns:a16="http://schemas.microsoft.com/office/drawing/2014/main" id="{F1D32144-61AF-48B2-B588-64124204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91075"/>
            <a:ext cx="21907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5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BATCH</a:t>
            </a:r>
          </a:p>
        </p:txBody>
      </p:sp>
      <p:sp>
        <p:nvSpPr>
          <p:cNvPr id="828" name="Линия">
            <a:extLst xmlns:a="http://schemas.openxmlformats.org/drawingml/2006/main">
              <a:ext uri="{FF2B5EF4-FFF2-40B4-BE49-F238E27FC236}">
                <a16:creationId xmlns:a16="http://schemas.microsoft.com/office/drawing/2014/main" id="{6C0E2408-9E0A-4691-ABC7-2617CDFB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62525"/>
            <a:ext cx="1047751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9" name="много независимых задач">
            <a:extLst xmlns:a="http://schemas.openxmlformats.org/drawingml/2006/main">
              <a:ext uri="{FF2B5EF4-FFF2-40B4-BE49-F238E27FC236}">
                <a16:creationId xmlns:a16="http://schemas.microsoft.com/office/drawing/2014/main" id="{430292FD-858C-4E82-9DAC-DB8279A7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91075"/>
            <a:ext cx="61912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много независимых задач</a:t>
            </a:r>
          </a:p>
        </p:txBody>
      </p:sp>
    </p:spTree>
    <p:extLst>
      <p:ext uri="{BB962C8B-B14F-4D97-AF65-F5344CB8AC3E}">
        <p14:creationId xmlns:p14="http://schemas.microsoft.com/office/powerpoint/2010/main" val="379045120"/>
      </p:ext>
    </p:extLst>
  </p:cSld>
</p:sld>
</file>

<file path=ppt/slides/slide6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656D47-BED7-4AB5-A73E-646FE5AB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Structured Output</a:t>
            </a:r>
          </a:p>
        </p:txBody>
      </p:sp>
      <p:sp>
        <p:nvSpPr>
          <p:cNvPr id="834" name="Линия">
            <a:extLst xmlns:a="http://schemas.openxmlformats.org/drawingml/2006/main">
              <a:ext uri="{FF2B5EF4-FFF2-40B4-BE49-F238E27FC236}">
                <a16:creationId xmlns:a16="http://schemas.microsoft.com/office/drawing/2014/main" id="{5240DAC9-BBE3-498F-8EA4-CC745BF6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5" name="API">
            <a:extLst xmlns:a="http://schemas.openxmlformats.org/drawingml/2006/main">
              <a:ext uri="{FF2B5EF4-FFF2-40B4-BE49-F238E27FC236}">
                <a16:creationId xmlns:a16="http://schemas.microsoft.com/office/drawing/2014/main" id="{78962D1A-C268-4506-A701-07B00EFC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API</a:t>
            </a:r>
          </a:p>
        </p:txBody>
      </p:sp>
      <p:sp>
        <p:nvSpPr>
          <p:cNvPr id="836" name="58">
            <a:extLst xmlns:a="http://schemas.openxmlformats.org/drawingml/2006/main">
              <a:ext uri="{FF2B5EF4-FFF2-40B4-BE49-F238E27FC236}">
                <a16:creationId xmlns:a16="http://schemas.microsoft.com/office/drawing/2014/main" id="{2F98C917-C07A-4710-901A-173095DE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69</a:t>
            </a:r>
          </a:p>
        </p:txBody>
      </p:sp>
      <p:sp>
        <p:nvSpPr>
          <p:cNvPr id="837" name="Закругленный 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14E618B6-BAA0-42DD-88B4-9E94AD7C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457D6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8" name="class ActionItem(BaseModel):…">
            <a:extLst xmlns:a="http://schemas.openxmlformats.org/drawingml/2006/main">
              <a:ext uri="{FF2B5EF4-FFF2-40B4-BE49-F238E27FC236}">
                <a16:creationId xmlns:a16="http://schemas.microsoft.com/office/drawing/2014/main" id="{E0474691-65CC-461D-B469-2F9A7633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4495800" cy="1962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class ActionItem(BaseModel):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    owner: str | None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    action: str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0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t>    status: Literal["confirmed", "uncertain"]</a:t>
            </a:r>
          </a:p>
        </p:txBody>
      </p:sp>
      <p:sp>
        <p:nvSpPr>
          <p:cNvPr id="839" name="✓ поля есть…">
            <a:extLst xmlns:a="http://schemas.openxmlformats.org/drawingml/2006/main">
              <a:ext uri="{FF2B5EF4-FFF2-40B4-BE49-F238E27FC236}">
                <a16:creationId xmlns:a16="http://schemas.microsoft.com/office/drawing/2014/main" id="{C37B7A5A-0125-4B9A-8605-43501282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3714750" cy="1238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9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pPr>
            <a:r>
              <a:t>✓ поля есть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9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pPr>
            <a:r>
              <a:t>✓ типы совпадают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9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pPr>
            <a:r>
              <a:t>✓ enum валиден</a:t>
            </a:r>
          </a:p>
        </p:txBody>
      </p:sp>
      <p:sp>
        <p:nvSpPr>
          <p:cNvPr id="840" name="✕ факт может быть выдуман">
            <a:extLst xmlns:a="http://schemas.openxmlformats.org/drawingml/2006/main">
              <a:ext uri="{FF2B5EF4-FFF2-40B4-BE49-F238E27FC236}">
                <a16:creationId xmlns:a16="http://schemas.microsoft.com/office/drawing/2014/main" id="{97347A57-24E7-449D-9A98-370EFEEF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3714750" cy="476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900" b="1">
                <a:solidFill>
                  <a:srgbClr val="D94C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✕ факт может быть выдуман</a:t>
            </a:r>
          </a:p>
        </p:txBody>
      </p:sp>
      <p:sp>
        <p:nvSpPr>
          <p:cNvPr id="841" name="Схема проверяет формат. Факты проверяем отдельно.">
            <a:extLst xmlns:a="http://schemas.openxmlformats.org/drawingml/2006/main">
              <a:ext uri="{FF2B5EF4-FFF2-40B4-BE49-F238E27FC236}">
                <a16:creationId xmlns:a16="http://schemas.microsoft.com/office/drawing/2014/main" id="{31BAB41C-6791-4833-9667-6685B48C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9715500" cy="438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lnSpc>
                <a:spcPct val="108000"/>
              </a:lnSpc>
              <a:buNone/>
              <a:defRPr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Схема проверяет формат. Факты проверяем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793934648"/>
      </p:ext>
    </p:extLst>
  </p:cSld>
</p:sld>
</file>

<file path=ppt/slides/slide7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678776-71A4-4F29-80C9-E2A69888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SDK и HTTP</a:t>
            </a:r>
          </a:p>
        </p:txBody>
      </p:sp>
      <p:sp>
        <p:nvSpPr>
          <p:cNvPr id="846" name="Линия">
            <a:extLst xmlns:a="http://schemas.openxmlformats.org/drawingml/2006/main">
              <a:ext uri="{FF2B5EF4-FFF2-40B4-BE49-F238E27FC236}">
                <a16:creationId xmlns:a16="http://schemas.microsoft.com/office/drawing/2014/main" id="{43D29941-C9BB-41A5-966E-B6612326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7" name="API">
            <a:extLst xmlns:a="http://schemas.openxmlformats.org/drawingml/2006/main">
              <a:ext uri="{FF2B5EF4-FFF2-40B4-BE49-F238E27FC236}">
                <a16:creationId xmlns:a16="http://schemas.microsoft.com/office/drawing/2014/main" id="{46877904-2B96-4432-8ECB-97A6DC47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API</a:t>
            </a:r>
          </a:p>
        </p:txBody>
      </p:sp>
      <p:sp>
        <p:nvSpPr>
          <p:cNvPr id="848" name="59">
            <a:extLst xmlns:a="http://schemas.openxmlformats.org/drawingml/2006/main">
              <a:ext uri="{FF2B5EF4-FFF2-40B4-BE49-F238E27FC236}">
                <a16:creationId xmlns:a16="http://schemas.microsoft.com/office/drawing/2014/main" id="{B7D19B57-4B60-4200-A83B-31ED7896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70</a:t>
            </a:r>
          </a:p>
        </p:txBody>
      </p:sp>
      <p:sp>
        <p:nvSpPr>
          <p:cNvPr id="849" name="Линия">
            <a:extLst xmlns:a="http://schemas.openxmlformats.org/drawingml/2006/main">
              <a:ext uri="{FF2B5EF4-FFF2-40B4-BE49-F238E27FC236}">
                <a16:creationId xmlns:a16="http://schemas.microsoft.com/office/drawing/2014/main" id="{1D124892-3E66-46B1-B231-363917FF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5999" y="1809750"/>
            <a:ext cx="1" cy="352425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0" name="SDK ДАЁТ">
            <a:extLst xmlns:a="http://schemas.openxmlformats.org/drawingml/2006/main">
              <a:ext uri="{FF2B5EF4-FFF2-40B4-BE49-F238E27FC236}">
                <a16:creationId xmlns:a16="http://schemas.microsoft.com/office/drawing/2014/main" id="{CF2B7219-FDFC-42D9-ABA7-4C649B2C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SDK ДАЁТ</a:t>
            </a:r>
          </a:p>
        </p:txBody>
      </p:sp>
      <p:sp>
        <p:nvSpPr>
          <p:cNvPr id="851" name="auth из env…">
            <a:extLst xmlns:a="http://schemas.openxmlformats.org/drawingml/2006/main">
              <a:ext uri="{FF2B5EF4-FFF2-40B4-BE49-F238E27FC236}">
                <a16:creationId xmlns:a16="http://schemas.microsoft.com/office/drawing/2014/main" id="{CA781D8A-4836-45A5-AC0F-AD955C3C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auth из env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typed objects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stream helpers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часть retries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удобные errors</a:t>
            </a:r>
          </a:p>
        </p:txBody>
      </p:sp>
      <p:sp>
        <p:nvSpPr>
          <p:cNvPr id="852" name="МЫ ПРОЕКТИРУЕМ">
            <a:extLst xmlns:a="http://schemas.openxmlformats.org/drawingml/2006/main">
              <a:ext uri="{FF2B5EF4-FFF2-40B4-BE49-F238E27FC236}">
                <a16:creationId xmlns:a16="http://schemas.microsoft.com/office/drawing/2014/main" id="{A158151F-B3B9-427B-94C5-8855C25B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62125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6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МЫ ПРОЕКТИРУЕМ</a:t>
            </a:r>
          </a:p>
        </p:txBody>
      </p:sp>
      <p:sp>
        <p:nvSpPr>
          <p:cNvPr id="853" name="timeouts…">
            <a:extLst xmlns:a="http://schemas.openxmlformats.org/drawingml/2006/main">
              <a:ext uri="{FF2B5EF4-FFF2-40B4-BE49-F238E27FC236}">
                <a16:creationId xmlns:a16="http://schemas.microsoft.com/office/drawing/2014/main" id="{3A8BDCD0-48D4-4EB2-B5B6-5A0791D0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762500" cy="2714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timeouts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retry policy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limits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cancellation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logging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secret handling</a:t>
            </a:r>
          </a:p>
        </p:txBody>
      </p:sp>
    </p:spTree>
    <p:extLst>
      <p:ext uri="{BB962C8B-B14F-4D97-AF65-F5344CB8AC3E}">
        <p14:creationId xmlns:p14="http://schemas.microsoft.com/office/powerpoint/2010/main" val="1856684074"/>
      </p:ext>
    </p:extLst>
  </p:cSld>
</p:sld>
</file>

<file path=ppt/slides/slide7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7" name="Прямоугольник">
            <a:extLst xmlns:a="http://schemas.openxmlformats.org/drawingml/2006/main">
              <a:ext uri="{FF2B5EF4-FFF2-40B4-BE49-F238E27FC236}">
                <a16:creationId xmlns:a16="http://schemas.microsoft.com/office/drawing/2014/main" id="{2C5CE0A9-F16F-4A24-9B1F-CCAF0619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D6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3A0B25-E4B3-46AE-B04B-0DBEA427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52550"/>
            <a:ext cx="9715500" cy="1619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46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Практика в Python</a:t>
            </a:r>
          </a:p>
        </p:txBody>
      </p:sp>
      <p:sp>
        <p:nvSpPr>
          <p:cNvPr id="859" name="Запускаем реальные запросы, разбираем ответы и ошибки.">
            <a:extLst xmlns:a="http://schemas.openxmlformats.org/drawingml/2006/main">
              <a:ext uri="{FF2B5EF4-FFF2-40B4-BE49-F238E27FC236}">
                <a16:creationId xmlns:a16="http://schemas.microsoft.com/office/drawing/2014/main" id="{B7102DC5-3948-4C6F-B545-461096AA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8763000" cy="1238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5000"/>
              </a:lnSpc>
              <a:buNone/>
              <a:defRPr sz="21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Запускаем реальные запросы, разбираем ответы и ошибки.</a:t>
            </a:r>
          </a:p>
        </p:txBody>
      </p:sp>
      <p:sp>
        <p:nvSpPr>
          <p:cNvPr id="860" name="ПРАКТИКА">
            <a:extLst xmlns:a="http://schemas.openxmlformats.org/drawingml/2006/main">
              <a:ext uri="{FF2B5EF4-FFF2-40B4-BE49-F238E27FC236}">
                <a16:creationId xmlns:a16="http://schemas.microsoft.com/office/drawing/2014/main" id="{C87B97E1-96F3-43B6-9211-5FE3B384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ПРАКТИКА</a:t>
            </a:r>
          </a:p>
        </p:txBody>
      </p:sp>
      <p:sp>
        <p:nvSpPr>
          <p:cNvPr id="861" name="60">
            <a:extLst xmlns:a="http://schemas.openxmlformats.org/drawingml/2006/main">
              <a:ext uri="{FF2B5EF4-FFF2-40B4-BE49-F238E27FC236}">
                <a16:creationId xmlns:a16="http://schemas.microsoft.com/office/drawing/2014/main" id="{2576D8DA-B3DA-4DFD-821C-F8A398AB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231355795"/>
      </p:ext>
    </p:extLst>
  </p:cSld>
</p:sld>
</file>

<file path=ppt/slides/slide7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F726A5-A344-4610-B9B9-8E6A6C2B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Что запустим</a:t>
            </a:r>
          </a:p>
        </p:txBody>
      </p:sp>
      <p:sp>
        <p:nvSpPr>
          <p:cNvPr id="866" name="Линия">
            <a:extLst xmlns:a="http://schemas.openxmlformats.org/drawingml/2006/main">
              <a:ext uri="{FF2B5EF4-FFF2-40B4-BE49-F238E27FC236}">
                <a16:creationId xmlns:a16="http://schemas.microsoft.com/office/drawing/2014/main" id="{2EED7C1E-51A6-4C30-ACCE-677095ED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7" name="ПРАКТИКА">
            <a:extLst xmlns:a="http://schemas.openxmlformats.org/drawingml/2006/main">
              <a:ext uri="{FF2B5EF4-FFF2-40B4-BE49-F238E27FC236}">
                <a16:creationId xmlns:a16="http://schemas.microsoft.com/office/drawing/2014/main" id="{71EBC234-4602-4C83-A4D7-9D10D554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ПРАКТИКА</a:t>
            </a:r>
          </a:p>
        </p:txBody>
      </p:sp>
      <p:sp>
        <p:nvSpPr>
          <p:cNvPr id="868" name="61">
            <a:extLst xmlns:a="http://schemas.openxmlformats.org/drawingml/2006/main">
              <a:ext uri="{FF2B5EF4-FFF2-40B4-BE49-F238E27FC236}">
                <a16:creationId xmlns:a16="http://schemas.microsoft.com/office/drawing/2014/main" id="{AC2E23AA-3797-4A5C-A051-2060E79F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72</a:t>
            </a:r>
          </a:p>
        </p:txBody>
      </p:sp>
      <p:sp>
        <p:nvSpPr>
          <p:cNvPr id="869" name="01">
            <a:extLst xmlns:a="http://schemas.openxmlformats.org/drawingml/2006/main">
              <a:ext uri="{FF2B5EF4-FFF2-40B4-BE49-F238E27FC236}">
                <a16:creationId xmlns:a16="http://schemas.microsoft.com/office/drawing/2014/main" id="{F5A0766B-CE6B-466A-93C8-9608377B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571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870" name="минимальный request и разбор response">
            <a:extLst xmlns:a="http://schemas.openxmlformats.org/drawingml/2006/main">
              <a:ext uri="{FF2B5EF4-FFF2-40B4-BE49-F238E27FC236}">
                <a16:creationId xmlns:a16="http://schemas.microsoft.com/office/drawing/2014/main" id="{91C53438-FE8B-467A-92B1-6040719B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8953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минимальный request и разбор response</a:t>
            </a:r>
          </a:p>
        </p:txBody>
      </p:sp>
      <p:sp>
        <p:nvSpPr>
          <p:cNvPr id="871" name="02">
            <a:extLst xmlns:a="http://schemas.openxmlformats.org/drawingml/2006/main">
              <a:ext uri="{FF2B5EF4-FFF2-40B4-BE49-F238E27FC236}">
                <a16:creationId xmlns:a16="http://schemas.microsoft.com/office/drawing/2014/main" id="{CEC599B1-55FD-4FA0-B022-CE525944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571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872" name="русский и английский prompt на одной задаче">
            <a:extLst xmlns:a="http://schemas.openxmlformats.org/drawingml/2006/main">
              <a:ext uri="{FF2B5EF4-FFF2-40B4-BE49-F238E27FC236}">
                <a16:creationId xmlns:a16="http://schemas.microsoft.com/office/drawing/2014/main" id="{AD4FF8A8-A5D4-4680-8168-71EFC200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14575"/>
            <a:ext cx="8953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русский и английский prompt на одной задаче</a:t>
            </a:r>
          </a:p>
        </p:txBody>
      </p:sp>
      <p:sp>
        <p:nvSpPr>
          <p:cNvPr id="873" name="03">
            <a:extLst xmlns:a="http://schemas.openxmlformats.org/drawingml/2006/main">
              <a:ext uri="{FF2B5EF4-FFF2-40B4-BE49-F238E27FC236}">
                <a16:creationId xmlns:a16="http://schemas.microsoft.com/office/drawing/2014/main" id="{F9E0EECD-BBC2-4C7F-96DA-4A6FB2CD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571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874" name="обычный ответ и SSE streaming">
            <a:extLst xmlns:a="http://schemas.openxmlformats.org/drawingml/2006/main">
              <a:ext uri="{FF2B5EF4-FFF2-40B4-BE49-F238E27FC236}">
                <a16:creationId xmlns:a16="http://schemas.microsoft.com/office/drawing/2014/main" id="{6B72C996-1DB6-4202-91B4-8847FA92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62275"/>
            <a:ext cx="8953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обычный ответ и SSE streaming</a:t>
            </a:r>
          </a:p>
        </p:txBody>
      </p:sp>
      <p:sp>
        <p:nvSpPr>
          <p:cNvPr id="875" name="04">
            <a:extLst xmlns:a="http://schemas.openxmlformats.org/drawingml/2006/main">
              <a:ext uri="{FF2B5EF4-FFF2-40B4-BE49-F238E27FC236}">
                <a16:creationId xmlns:a16="http://schemas.microsoft.com/office/drawing/2014/main" id="{AA75446C-5F18-4845-AF5B-F655B52E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571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876" name="Pydantic / Structured Outputs">
            <a:extLst xmlns:a="http://schemas.openxmlformats.org/drawingml/2006/main">
              <a:ext uri="{FF2B5EF4-FFF2-40B4-BE49-F238E27FC236}">
                <a16:creationId xmlns:a16="http://schemas.microsoft.com/office/drawing/2014/main" id="{FCF893B3-27DF-4D79-A158-2641F098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09975"/>
            <a:ext cx="8953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Pydantic / Structured Outputs</a:t>
            </a:r>
          </a:p>
        </p:txBody>
      </p:sp>
      <p:sp>
        <p:nvSpPr>
          <p:cNvPr id="877" name="05">
            <a:extLst xmlns:a="http://schemas.openxmlformats.org/drawingml/2006/main">
              <a:ext uri="{FF2B5EF4-FFF2-40B4-BE49-F238E27FC236}">
                <a16:creationId xmlns:a16="http://schemas.microsoft.com/office/drawing/2014/main" id="{CBE0EB33-5D09-4E01-8274-75552742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571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05</a:t>
            </a:r>
          </a:p>
        </p:txBody>
      </p:sp>
      <p:sp>
        <p:nvSpPr>
          <p:cNvPr id="878" name="sync и async batch">
            <a:extLst xmlns:a="http://schemas.openxmlformats.org/drawingml/2006/main">
              <a:ext uri="{FF2B5EF4-FFF2-40B4-BE49-F238E27FC236}">
                <a16:creationId xmlns:a16="http://schemas.microsoft.com/office/drawing/2014/main" id="{BB41AA53-BCA2-4302-A50F-A3DEB81B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57675"/>
            <a:ext cx="8953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sync и async batch</a:t>
            </a:r>
          </a:p>
        </p:txBody>
      </p:sp>
      <p:sp>
        <p:nvSpPr>
          <p:cNvPr id="879" name="06">
            <a:extLst xmlns:a="http://schemas.openxmlformats.org/drawingml/2006/main">
              <a:ext uri="{FF2B5EF4-FFF2-40B4-BE49-F238E27FC236}">
                <a16:creationId xmlns:a16="http://schemas.microsoft.com/office/drawing/2014/main" id="{685BE8B3-777E-409F-A35E-EFE6F08C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571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06</a:t>
            </a:r>
          </a:p>
        </p:txBody>
      </p:sp>
      <p:sp>
        <p:nvSpPr>
          <p:cNvPr id="880" name="первый безопасный LLM-coder">
            <a:extLst xmlns:a="http://schemas.openxmlformats.org/drawingml/2006/main">
              <a:ext uri="{FF2B5EF4-FFF2-40B4-BE49-F238E27FC236}">
                <a16:creationId xmlns:a16="http://schemas.microsoft.com/office/drawing/2014/main" id="{56326AB3-0179-4CA1-B7D6-3A6869D1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05375"/>
            <a:ext cx="8953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первый безопасный LLM-coder</a:t>
            </a:r>
          </a:p>
        </p:txBody>
      </p:sp>
    </p:spTree>
    <p:extLst>
      <p:ext uri="{BB962C8B-B14F-4D97-AF65-F5344CB8AC3E}">
        <p14:creationId xmlns:p14="http://schemas.microsoft.com/office/powerpoint/2010/main" val="1943521841"/>
      </p:ext>
    </p:extLst>
  </p:cSld>
</p:sld>
</file>

<file path=ppt/slides/slide7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C4DAE0-66D7-4F4A-B44D-61EEF250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3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Домашка: первый безопасный LLM-coder</a:t>
            </a:r>
          </a:p>
        </p:txBody>
      </p:sp>
      <p:sp>
        <p:nvSpPr>
          <p:cNvPr id="885" name="Линия">
            <a:extLst xmlns:a="http://schemas.openxmlformats.org/drawingml/2006/main">
              <a:ext uri="{FF2B5EF4-FFF2-40B4-BE49-F238E27FC236}">
                <a16:creationId xmlns:a16="http://schemas.microsoft.com/office/drawing/2014/main" id="{EBED6F4C-8AD3-42E2-B588-198B113C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1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8E8E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6" name="ФИНАЛ">
            <a:extLst xmlns:a="http://schemas.openxmlformats.org/drawingml/2006/main">
              <a:ext uri="{FF2B5EF4-FFF2-40B4-BE49-F238E27FC236}">
                <a16:creationId xmlns:a16="http://schemas.microsoft.com/office/drawing/2014/main" id="{49BC231D-1B57-490F-8377-9CBFB4EE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900" b="1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ФИНАЛ</a:t>
            </a:r>
          </a:p>
        </p:txBody>
      </p:sp>
      <p:sp>
        <p:nvSpPr>
          <p:cNvPr id="887" name="62">
            <a:extLst xmlns:a="http://schemas.openxmlformats.org/drawingml/2006/main">
              <a:ext uri="{FF2B5EF4-FFF2-40B4-BE49-F238E27FC236}">
                <a16:creationId xmlns:a16="http://schemas.microsoft.com/office/drawing/2014/main" id="{E818EAF0-7EEA-48C7-B7A0-B4BD38F6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lnSpc>
                <a:spcPct val="108000"/>
              </a:lnSpc>
              <a:buNone/>
              <a:defRPr sz="9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73</a:t>
            </a:r>
          </a:p>
        </p:txBody>
      </p:sp>
      <p:sp>
        <p:nvSpPr>
          <p:cNvPr id="888" name="МИНИМУМ">
            <a:extLst xmlns:a="http://schemas.openxmlformats.org/drawingml/2006/main">
              <a:ext uri="{FF2B5EF4-FFF2-40B4-BE49-F238E27FC236}">
                <a16:creationId xmlns:a16="http://schemas.microsoft.com/office/drawing/2014/main" id="{D84BF8B1-22A2-4171-8C30-F9B45E3C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095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МИНИМУМ</a:t>
            </a:r>
          </a:p>
        </p:txBody>
      </p:sp>
      <p:sp>
        <p:nvSpPr>
          <p:cNvPr id="889" name="CLI принимает задачу и файлы, возвращает plan + patch + tests и ничего не применяет автоматически.">
            <a:extLst xmlns:a="http://schemas.openxmlformats.org/drawingml/2006/main">
              <a:ext uri="{FF2B5EF4-FFF2-40B4-BE49-F238E27FC236}">
                <a16:creationId xmlns:a16="http://schemas.microsoft.com/office/drawing/2014/main" id="{740C8E2A-B58A-4F04-B713-FA32DBB1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096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15000"/>
              </a:lnSpc>
              <a:buNone/>
              <a:defRPr sz="2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CLI принимает задачу и файлы, возвращает plan + patch + tests и ничего не применяет автоматически.</a:t>
            </a:r>
          </a:p>
        </p:txBody>
      </p:sp>
      <p:sp>
        <p:nvSpPr>
          <p:cNvPr id="890" name="ПЛЮС">
            <a:extLst xmlns:a="http://schemas.openxmlformats.org/drawingml/2006/main">
              <a:ext uri="{FF2B5EF4-FFF2-40B4-BE49-F238E27FC236}">
                <a16:creationId xmlns:a16="http://schemas.microsoft.com/office/drawing/2014/main" id="{6AE9FDFA-D551-46E0-A30E-B33CDE2B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095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40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ПЛЮС</a:t>
            </a:r>
          </a:p>
        </p:txBody>
      </p:sp>
      <p:sp>
        <p:nvSpPr>
          <p:cNvPr id="891" name="5 проверочных задач и логирование tokens, latency и cost.">
            <a:extLst xmlns:a="http://schemas.openxmlformats.org/drawingml/2006/main">
              <a:ext uri="{FF2B5EF4-FFF2-40B4-BE49-F238E27FC236}">
                <a16:creationId xmlns:a16="http://schemas.microsoft.com/office/drawing/2014/main" id="{700F54B9-84C3-4B00-95F3-A89268FC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95250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 проверочных задач и логирование tokens, latency и cost.</a:t>
            </a:r>
          </a:p>
        </p:txBody>
      </p:sp>
      <p:sp>
        <p:nvSpPr>
          <p:cNvPr id="892" name="Следующий урок: structured outputs, tools, agent loop и память.">
            <a:extLst xmlns:a="http://schemas.openxmlformats.org/drawingml/2006/main">
              <a:ext uri="{FF2B5EF4-FFF2-40B4-BE49-F238E27FC236}">
                <a16:creationId xmlns:a16="http://schemas.microsoft.com/office/drawing/2014/main" id="{66A26A2D-6964-46C4-8926-4E1C1E53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096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lnSpc>
                <a:spcPct val="108000"/>
              </a:lnSpc>
              <a:buNone/>
              <a:defRPr sz="170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Следующий урок: structured outputs, tools, agent loop и память.</a:t>
            </a:r>
          </a:p>
        </p:txBody>
      </p:sp>
    </p:spTree>
    <p:extLst>
      <p:ext uri="{BB962C8B-B14F-4D97-AF65-F5344CB8AC3E}">
        <p14:creationId xmlns:p14="http://schemas.microsoft.com/office/powerpoint/2010/main" val="634676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2026-08-06T13:13:53.1350000Z</dcterms:created>
  <dcterms:modified xsi:type="dcterms:W3CDTF">2026-08-06T13:13:53.1350000Z</dcterms:modified>
</coreProperties>
</file>