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59f766288442e1" /><Relationship Type="http://schemas.openxmlformats.org/officeDocument/2006/relationships/extended-properties" Target="/docProps/app.xml" Id="Re0c04c70fca64095" /><Relationship Type="http://schemas.openxmlformats.org/officeDocument/2006/relationships/officeDocument" Target="/ppt/presentation.xml" Id="Rb18943cc3a5b4d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3d40f070a44eb0"/>
  </p:sldMasterIdLst>
  <p:notesMasterIdLst>
    <p:notesMasterId xmlns:r="http://schemas.openxmlformats.org/officeDocument/2006/relationships" r:id="Re95d61c357b5464d"/>
  </p:notesMasterIdLst>
  <p:sldIdLst>
    <p:sldId xmlns:r="http://schemas.openxmlformats.org/officeDocument/2006/relationships" id="256" r:id="Rff92725aec354167"/>
    <p:sldId xmlns:r="http://schemas.openxmlformats.org/officeDocument/2006/relationships" id="257" r:id="R1cc687b3816c4bda"/>
    <p:sldId xmlns:r="http://schemas.openxmlformats.org/officeDocument/2006/relationships" id="258" r:id="R375c82d7f368468a"/>
    <p:sldId xmlns:r="http://schemas.openxmlformats.org/officeDocument/2006/relationships" id="259" r:id="Rdb0267bed5b4459f"/>
    <p:sldId xmlns:r="http://schemas.openxmlformats.org/officeDocument/2006/relationships" id="260" r:id="R9f5f8478b83a4ff3"/>
    <p:sldId xmlns:r="http://schemas.openxmlformats.org/officeDocument/2006/relationships" id="261" r:id="Rbc77c165299e4844"/>
    <p:sldId xmlns:r="http://schemas.openxmlformats.org/officeDocument/2006/relationships" id="262" r:id="Ra89c06f1b8f14546"/>
    <p:sldId xmlns:r="http://schemas.openxmlformats.org/officeDocument/2006/relationships" id="263" r:id="R88276ac47cc94eed"/>
    <p:sldId xmlns:r="http://schemas.openxmlformats.org/officeDocument/2006/relationships" id="264" r:id="R5903da22863c4f3a"/>
    <p:sldId xmlns:r="http://schemas.openxmlformats.org/officeDocument/2006/relationships" id="265" r:id="R731b418c8bb044f9"/>
    <p:sldId xmlns:r="http://schemas.openxmlformats.org/officeDocument/2006/relationships" id="266" r:id="Ra1df01c310f64378"/>
    <p:sldId xmlns:r="http://schemas.openxmlformats.org/officeDocument/2006/relationships" id="267" r:id="R68b801cdf8ed44cb"/>
    <p:sldId xmlns:r="http://schemas.openxmlformats.org/officeDocument/2006/relationships" id="268" r:id="R22c326c44b5f4ca8"/>
    <p:sldId xmlns:r="http://schemas.openxmlformats.org/officeDocument/2006/relationships" id="269" r:id="R1d4f6d22384b4557"/>
    <p:sldId xmlns:r="http://schemas.openxmlformats.org/officeDocument/2006/relationships" id="270" r:id="R7e699c5ddb1346ee"/>
    <p:sldId xmlns:r="http://schemas.openxmlformats.org/officeDocument/2006/relationships" id="271" r:id="R92bf4dff59644e57"/>
    <p:sldId xmlns:r="http://schemas.openxmlformats.org/officeDocument/2006/relationships" id="272" r:id="R92b8a665690b4bfa"/>
    <p:sldId xmlns:r="http://schemas.openxmlformats.org/officeDocument/2006/relationships" id="273" r:id="R2c153008c28b410d"/>
    <p:sldId xmlns:r="http://schemas.openxmlformats.org/officeDocument/2006/relationships" id="274" r:id="Rcdbf0d569a5243d3"/>
    <p:sldId xmlns:r="http://schemas.openxmlformats.org/officeDocument/2006/relationships" id="275" r:id="R246fd08abd024811"/>
    <p:sldId xmlns:r="http://schemas.openxmlformats.org/officeDocument/2006/relationships" id="276" r:id="R380a4f61a00944ea"/>
    <p:sldId xmlns:r="http://schemas.openxmlformats.org/officeDocument/2006/relationships" id="277" r:id="Rafa412d5d5ec4739"/>
    <p:sldId xmlns:r="http://schemas.openxmlformats.org/officeDocument/2006/relationships" id="278" r:id="Rffad2cf0d7d14609"/>
    <p:sldId xmlns:r="http://schemas.openxmlformats.org/officeDocument/2006/relationships" id="279" r:id="Rbcc13c8cda9e4cfa"/>
    <p:sldId xmlns:r="http://schemas.openxmlformats.org/officeDocument/2006/relationships" id="280" r:id="R602770e92b4343e9"/>
    <p:sldId xmlns:r="http://schemas.openxmlformats.org/officeDocument/2006/relationships" id="281" r:id="Rb6309dadd1ff4110"/>
    <p:sldId xmlns:r="http://schemas.openxmlformats.org/officeDocument/2006/relationships" id="282" r:id="Rd88a7dc21baf4d77"/>
    <p:sldId xmlns:r="http://schemas.openxmlformats.org/officeDocument/2006/relationships" id="283" r:id="R587ea7c2b0834b79"/>
    <p:sldId xmlns:r="http://schemas.openxmlformats.org/officeDocument/2006/relationships" id="284" r:id="Rea7dc63e5a7e44e3"/>
    <p:sldId xmlns:r="http://schemas.openxmlformats.org/officeDocument/2006/relationships" id="285" r:id="R0f899cb5f1e04a0d"/>
    <p:sldId xmlns:r="http://schemas.openxmlformats.org/officeDocument/2006/relationships" id="286" r:id="Rb8f59891243145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7d175055c04847" /><Relationship Type="http://schemas.openxmlformats.org/officeDocument/2006/relationships/slideMaster" Target="/ppt/slideMasters/slideMaster1.xml" Id="R9d3d40f070a44eb0" /><Relationship Type="http://schemas.openxmlformats.org/officeDocument/2006/relationships/notesMaster" Target="/ppt/notesMasters/notesMaster1.xml" Id="Re95d61c357b5464d" /><Relationship Type="http://schemas.openxmlformats.org/officeDocument/2006/relationships/presProps" Target="/ppt/presProps.xml" Id="Ra10c18a4195d469d" /><Relationship Type="http://schemas.openxmlformats.org/officeDocument/2006/relationships/tableStyles" Target="/ppt/tableStyles.xml" Id="R169e88ba71444c18" /><Relationship Type="http://schemas.openxmlformats.org/officeDocument/2006/relationships/slide" Target="/ppt/slides/slide1.xml" Id="Rff92725aec354167" /><Relationship Type="http://schemas.openxmlformats.org/officeDocument/2006/relationships/slide" Target="/ppt/slides/slide2.xml" Id="R1cc687b3816c4bda" /><Relationship Type="http://schemas.openxmlformats.org/officeDocument/2006/relationships/slide" Target="/ppt/slides/slide3.xml" Id="R375c82d7f368468a" /><Relationship Type="http://schemas.openxmlformats.org/officeDocument/2006/relationships/slide" Target="/ppt/slides/slide4.xml" Id="Rdb0267bed5b4459f" /><Relationship Type="http://schemas.openxmlformats.org/officeDocument/2006/relationships/slide" Target="/ppt/slides/slide5.xml" Id="R9f5f8478b83a4ff3" /><Relationship Type="http://schemas.openxmlformats.org/officeDocument/2006/relationships/slide" Target="/ppt/slides/slide6.xml" Id="Rbc77c165299e4844" /><Relationship Type="http://schemas.openxmlformats.org/officeDocument/2006/relationships/slide" Target="/ppt/slides/slide7.xml" Id="Ra89c06f1b8f14546" /><Relationship Type="http://schemas.openxmlformats.org/officeDocument/2006/relationships/slide" Target="/ppt/slides/slide8.xml" Id="R88276ac47cc94eed" /><Relationship Type="http://schemas.openxmlformats.org/officeDocument/2006/relationships/slide" Target="/ppt/slides/slide9.xml" Id="R5903da22863c4f3a" /><Relationship Type="http://schemas.openxmlformats.org/officeDocument/2006/relationships/slide" Target="/ppt/slides/slide10.xml" Id="R731b418c8bb044f9" /><Relationship Type="http://schemas.openxmlformats.org/officeDocument/2006/relationships/slide" Target="/ppt/slides/slide11.xml" Id="Ra1df01c310f64378" /><Relationship Type="http://schemas.openxmlformats.org/officeDocument/2006/relationships/slide" Target="/ppt/slides/slide12.xml" Id="R68b801cdf8ed44cb" /><Relationship Type="http://schemas.openxmlformats.org/officeDocument/2006/relationships/slide" Target="/ppt/slides/slide13.xml" Id="R22c326c44b5f4ca8" /><Relationship Type="http://schemas.openxmlformats.org/officeDocument/2006/relationships/slide" Target="/ppt/slides/slide14.xml" Id="R1d4f6d22384b4557" /><Relationship Type="http://schemas.openxmlformats.org/officeDocument/2006/relationships/slide" Target="/ppt/slides/slide15.xml" Id="R7e699c5ddb1346ee" /><Relationship Type="http://schemas.openxmlformats.org/officeDocument/2006/relationships/slide" Target="/ppt/slides/slide16.xml" Id="R92bf4dff59644e57" /><Relationship Type="http://schemas.openxmlformats.org/officeDocument/2006/relationships/slide" Target="/ppt/slides/slide17.xml" Id="R92b8a665690b4bfa" /><Relationship Type="http://schemas.openxmlformats.org/officeDocument/2006/relationships/slide" Target="/ppt/slides/slide18.xml" Id="R2c153008c28b410d" /><Relationship Type="http://schemas.openxmlformats.org/officeDocument/2006/relationships/slide" Target="/ppt/slides/slide19.xml" Id="Rcdbf0d569a5243d3" /><Relationship Type="http://schemas.openxmlformats.org/officeDocument/2006/relationships/slide" Target="/ppt/slides/slide20.xml" Id="R246fd08abd024811" /><Relationship Type="http://schemas.openxmlformats.org/officeDocument/2006/relationships/slide" Target="/ppt/slides/slide21.xml" Id="R380a4f61a00944ea" /><Relationship Type="http://schemas.openxmlformats.org/officeDocument/2006/relationships/slide" Target="/ppt/slides/slide22.xml" Id="Rafa412d5d5ec4739" /><Relationship Type="http://schemas.openxmlformats.org/officeDocument/2006/relationships/slide" Target="/ppt/slides/slide23.xml" Id="Rffad2cf0d7d14609" /><Relationship Type="http://schemas.openxmlformats.org/officeDocument/2006/relationships/slide" Target="/ppt/slides/slide24.xml" Id="Rbcc13c8cda9e4cfa" /><Relationship Type="http://schemas.openxmlformats.org/officeDocument/2006/relationships/slide" Target="/ppt/slides/slide25.xml" Id="R602770e92b4343e9" /><Relationship Type="http://schemas.openxmlformats.org/officeDocument/2006/relationships/slide" Target="/ppt/slides/slide26.xml" Id="Rb6309dadd1ff4110" /><Relationship Type="http://schemas.openxmlformats.org/officeDocument/2006/relationships/slide" Target="/ppt/slides/slide27.xml" Id="Rd88a7dc21baf4d77" /><Relationship Type="http://schemas.openxmlformats.org/officeDocument/2006/relationships/slide" Target="/ppt/slides/slide28.xml" Id="R587ea7c2b0834b79" /><Relationship Type="http://schemas.openxmlformats.org/officeDocument/2006/relationships/slide" Target="/ppt/slides/slide29.xml" Id="Rea7dc63e5a7e44e3" /><Relationship Type="http://schemas.openxmlformats.org/officeDocument/2006/relationships/slide" Target="/ppt/slides/slide30.xml" Id="R0f899cb5f1e04a0d" /><Relationship Type="http://schemas.openxmlformats.org/officeDocument/2006/relationships/slide" Target="/ppt/slides/slide31.xml" Id="Rb8f59891243145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139463f8cb4d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eac633e2ce43c2" /><Relationship Type="http://schemas.openxmlformats.org/officeDocument/2006/relationships/notesMaster" Target="/ppt/notesMasters/notesMaster1.xml" Id="R44255aea7dcc4d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bb166845e64471" /><Relationship Type="http://schemas.openxmlformats.org/officeDocument/2006/relationships/notesMaster" Target="/ppt/notesMasters/notesMaster1.xml" Id="Rc672dce97d594e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9575424cf6427b" /><Relationship Type="http://schemas.openxmlformats.org/officeDocument/2006/relationships/notesMaster" Target="/ppt/notesMasters/notesMaster1.xml" Id="R12dc7ba15b6e41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57e6410a224bf1" /><Relationship Type="http://schemas.openxmlformats.org/officeDocument/2006/relationships/notesMaster" Target="/ppt/notesMasters/notesMaster1.xml" Id="R5b4e907edd4540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fa954ff73d4298" /><Relationship Type="http://schemas.openxmlformats.org/officeDocument/2006/relationships/notesMaster" Target="/ppt/notesMasters/notesMaster1.xml" Id="Ra7b7eaec7c5449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8ce71889114182" /><Relationship Type="http://schemas.openxmlformats.org/officeDocument/2006/relationships/notesMaster" Target="/ppt/notesMasters/notesMaster1.xml" Id="Rc84564c6f7de48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0f8ee203ac4c61" /><Relationship Type="http://schemas.openxmlformats.org/officeDocument/2006/relationships/notesMaster" Target="/ppt/notesMasters/notesMaster1.xml" Id="Ra35c8f85847b42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50e31067fd4d39" /><Relationship Type="http://schemas.openxmlformats.org/officeDocument/2006/relationships/notesMaster" Target="/ppt/notesMasters/notesMaster1.xml" Id="R5fcd500fdf2b4b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0e7a92db6e4bf4" /><Relationship Type="http://schemas.openxmlformats.org/officeDocument/2006/relationships/notesMaster" Target="/ppt/notesMasters/notesMaster1.xml" Id="R4c72fb58446945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4abe73dc2e4c74" /><Relationship Type="http://schemas.openxmlformats.org/officeDocument/2006/relationships/notesMaster" Target="/ppt/notesMasters/notesMaster1.xml" Id="Rf512815c845548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690c7950ec4327" /><Relationship Type="http://schemas.openxmlformats.org/officeDocument/2006/relationships/notesMaster" Target="/ppt/notesMasters/notesMaster1.xml" Id="Rd8a992f42e6f45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480b2fdefa4619" /><Relationship Type="http://schemas.openxmlformats.org/officeDocument/2006/relationships/notesMaster" Target="/ppt/notesMasters/notesMaster1.xml" Id="R841cf383beb741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92b091a35d47c3" /><Relationship Type="http://schemas.openxmlformats.org/officeDocument/2006/relationships/notesMaster" Target="/ppt/notesMasters/notesMaster1.xml" Id="Rbd9f70fc02fe40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9883bbc2f74ae7" /><Relationship Type="http://schemas.openxmlformats.org/officeDocument/2006/relationships/notesMaster" Target="/ppt/notesMasters/notesMaster1.xml" Id="R650e7814b2a541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0fa358e3654f29" /><Relationship Type="http://schemas.openxmlformats.org/officeDocument/2006/relationships/notesMaster" Target="/ppt/notesMasters/notesMaster1.xml" Id="R8fe0b2f57c534a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dfe90644544d4b" /><Relationship Type="http://schemas.openxmlformats.org/officeDocument/2006/relationships/notesMaster" Target="/ppt/notesMasters/notesMaster1.xml" Id="R035d9c011a5342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33bd958fc24e9a" /><Relationship Type="http://schemas.openxmlformats.org/officeDocument/2006/relationships/notesMaster" Target="/ppt/notesMasters/notesMaster1.xml" Id="Rbcfc649026b349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91db6a79c5409d" /><Relationship Type="http://schemas.openxmlformats.org/officeDocument/2006/relationships/notesMaster" Target="/ppt/notesMasters/notesMaster1.xml" Id="Re698ddccd7754d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bc3e97371c4319" /><Relationship Type="http://schemas.openxmlformats.org/officeDocument/2006/relationships/notesMaster" Target="/ppt/notesMasters/notesMaster1.xml" Id="R7417101f9b1e4c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7f3a7c220f4ed9" /><Relationship Type="http://schemas.openxmlformats.org/officeDocument/2006/relationships/notesMaster" Target="/ppt/notesMasters/notesMaster1.xml" Id="R852f0725ef814b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23e6a1292c41f7" /><Relationship Type="http://schemas.openxmlformats.org/officeDocument/2006/relationships/notesMaster" Target="/ppt/notesMasters/notesMaster1.xml" Id="R215bf4ad930d41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1fd0ef663d4c6e" /><Relationship Type="http://schemas.openxmlformats.org/officeDocument/2006/relationships/notesMaster" Target="/ppt/notesMasters/notesMaster1.xml" Id="Rad30499974af49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ab4373b2d747bf" /><Relationship Type="http://schemas.openxmlformats.org/officeDocument/2006/relationships/notesMaster" Target="/ppt/notesMasters/notesMaster1.xml" Id="Rc16aa4633108405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8224e46b992449a" /><Relationship Type="http://schemas.openxmlformats.org/officeDocument/2006/relationships/notesMaster" Target="/ppt/notesMasters/notesMaster1.xml" Id="Re652db6478414c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69920f334e349d5" /><Relationship Type="http://schemas.openxmlformats.org/officeDocument/2006/relationships/notesMaster" Target="/ppt/notesMasters/notesMaster1.xml" Id="R4d6467165ed0475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d65a96b314e40a5" /><Relationship Type="http://schemas.openxmlformats.org/officeDocument/2006/relationships/notesMaster" Target="/ppt/notesMasters/notesMaster1.xml" Id="R6b2add8323ce4ca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947b1fc24a94344" /><Relationship Type="http://schemas.openxmlformats.org/officeDocument/2006/relationships/notesMaster" Target="/ppt/notesMasters/notesMaster1.xml" Id="Rf657f96eb625458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54469a69e6d4597" /><Relationship Type="http://schemas.openxmlformats.org/officeDocument/2006/relationships/notesMaster" Target="/ppt/notesMasters/notesMaster1.xml" Id="Rb757c34f6511401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a674b795b034918" /><Relationship Type="http://schemas.openxmlformats.org/officeDocument/2006/relationships/notesMaster" Target="/ppt/notesMasters/notesMaster1.xml" Id="R2d98899ff6e94ac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6bd49b5663f4eb5" /><Relationship Type="http://schemas.openxmlformats.org/officeDocument/2006/relationships/notesMaster" Target="/ppt/notesMasters/notesMaster1.xml" Id="Rdd0f974057b64c5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ae25ab390e74dd6" /><Relationship Type="http://schemas.openxmlformats.org/officeDocument/2006/relationships/notesMaster" Target="/ppt/notesMasters/notesMaster1.xml" Id="Rdf18e9c09ec7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0–2 мин. Главная тема занятия — не ещё одна модель, а управляемый цикл работы.</a:t>
            </a:r>
          </a:p>
          <a:p xmlns:a="http://schemas.openxmlformats.org/drawingml/2006/main">
            <a:r>
              <a:t>В конце подключим локальную модель через тот же интерфейс провайдера.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2–5 мин. Это план занятия и критерий готовности демо.</a:t>
            </a:r>
          </a:p>
          <a:p xmlns:a="http://schemas.openxmlformats.org/drawingml/2006/main">
            <a:r>
              <a:t>Не обсуждать все возможные архитектуры заранее — каждый пункт появится в одном 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5–8 мин. Коротко восстановить технический контекст предыдущих занятий.</a:t>
            </a:r>
          </a:p>
          <a:p xmlns:a="http://schemas.openxmlformats.org/drawingml/2006/main">
            <a:r>
              <a:t>Новая тема здесь одна: как программа управляет повторяющейся работой агента.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8–10 мин. Дать аудитории карту занятия перед первой новой концепцией.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10–13 мин. Harness — программная обвязка вокруг модели, а не особый тип LLM.</a:t>
            </a:r>
          </a:p>
          <a:p xmlns:a="http://schemas.openxmlformats.org/drawingml/2006/main">
            <a:r>
              <a:t>Под 'действием' здесь понимается конкретный вызов инструмента: прочитать файл, запустить тест, изменить код.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Cloudflare Agents, Harnesses: https://developers.cloudflare.com/agents/harnesses/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13–16 мин. Пройти слева направо на примере read_file → observation → run_tests.</a:t>
            </a:r>
          </a:p>
          <a:p xmlns:a="http://schemas.openxmlformats.org/drawingml/2006/main">
            <a:r>
              <a:t>Нижняя линия возвращает именно результат действия в состояние; это и создаёт повторение.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Anthropic, Building effective agents: https://www.anthropic.com/engineering/building-effective-agents</a:t>
            </a:r>
          </a:p>
          <a:p xmlns:a="http://schemas.openxmlformats.org/drawingml/2006/main">
            <a:r>
              <a:t>Anthropic, Trustworthy agents: https://www.anthropic.com/research/trustworthy-agents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16–18 мин. Прочитать короткую дословную цитату и не связывать её с human-in-the-loop.</a:t>
            </a:r>
          </a:p>
          <a:p xmlns:a="http://schemas.openxmlformats.org/drawingml/2006/main">
            <a:r>
              <a:t>В полном фрагменте Борис говорит, что уже не промптит Claude вручную: запущенные циклы сами вызывают Claude и определяют следующую работу.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Acquired Unplugged, Claude Code: What Happens After Coding Is Solved? · 11:47: https://www.youtube.com/watch?v=RkQQ7WEor7w&amp;t=707s</a:t>
            </a:r>
          </a:p>
          <a:p xmlns:a="http://schemas.openxmlformats.org/drawingml/2006/main">
            <a:r>
              <a:t>Timestamped transcript: https://www.usetranscribe.io/yt/RkQQ7WEor7w/claude-code-engineering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18–21 мин. Снять неоднозначность слова loop тремя конкретными механизмами.</a:t>
            </a:r>
          </a:p>
          <a:p xmlns:a="http://schemas.openxmlformats.org/drawingml/2006/main">
            <a:r>
              <a:t>Agentic loop — повтор действий и наблюдений внутри одного запуска. /goal повторяет ходы до оценки yes. /loop запускает задачу по расписанию.</a:t>
            </a:r>
          </a:p>
          <a:p xmlns:a="http://schemas.openxmlformats.org/drawingml/2006/main">
            <a:r>
              <a:t>Публичные примеры Бориса — проверки PR, CI, ребейза и flaky-тестов по расписанию; внутри каждого запуска агент всё равно действует итеративно.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Claude Code docs, How Claude Code works: https://code.claude.com/docs/en/how-claude-code-works</a:t>
            </a:r>
          </a:p>
          <a:p xmlns:a="http://schemas.openxmlformats.org/drawingml/2006/main">
            <a:r>
              <a:t>Claude Code docs, Goal command: https://code.claude.com/docs/en/goal</a:t>
            </a:r>
          </a:p>
          <a:p xmlns:a="http://schemas.openxmlformats.org/drawingml/2006/main">
            <a:r>
              <a:t>Claude Code docs, Scheduled tasks: https://code.claude.com/docs/en/scheduled-tasks</a:t>
            </a:r>
          </a:p>
          <a:p xmlns:a="http://schemas.openxmlformats.org/drawingml/2006/main">
            <a:r>
              <a:t>Sequoia Capital, Claude Code and the evolution of software engineering · 07:52: https://www.youtube.com/watch?v=SlGRN8jh2RI&amp;t=472s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21–24 мин. Это практический шаблон для собственного цикла.</a:t>
            </a:r>
          </a:p>
          <a:p xmlns:a="http://schemas.openxmlformats.org/drawingml/2006/main">
            <a:r>
              <a:t>Триггером может быть предыдущий ход, время или событие. Обратной связью — tool result, тест, CI, evaluator или новое состояние системы.</a:t>
            </a:r>
          </a:p>
          <a:p xmlns:a="http://schemas.openxmlformats.org/drawingml/2006/main">
            <a:r>
              <a:t>Условие остановки должно включать не только успех, но и лимит шагов, времени или стоимости.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Claude Code docs, Agent loop: https://code.claude.com/docs/en/agent-sdk/agent-loop</a:t>
            </a:r>
          </a:p>
          <a:p xmlns:a="http://schemas.openxmlformats.org/drawingml/2006/main">
            <a:r>
              <a:t>Claude Code docs, Goal command: https://code.claude.com/docs/en/goal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24–27 мин. Human-in-the-loop — не определение loop, а отдельный механизм остановки и получения человеческого решения.</a:t>
            </a:r>
          </a:p>
          <a:p xmlns:a="http://schemas.openxmlformats.org/drawingml/2006/main">
            <a:r>
              <a:t>Он не означает подтверждение каждого шага. Агент эскалирует только те решения, для которых по протоколу нужен человеческий input.</a:t>
            </a:r>
          </a:p>
          <a:p xmlns:a="http://schemas.openxmlformats.org/drawingml/2006/main">
            <a:r>
              <a:t>Примеры: неоднозначная цель, дорогое или необратимое действие, оценка качества, исключительная ситуация.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Anthropic, Trustworthy agents: https://www.anthropic.com/research/trustworthy-agents</a:t>
            </a:r>
          </a:p>
          <a:p xmlns:a="http://schemas.openxmlformats.org/drawingml/2006/main">
            <a:r>
              <a:t>Anthropic, Measuring agent autonomy: https://www.anthropic.com/research/measuring-agent-autonomy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27–29 мин. Развести три ситуации, которые часто смешивают.</a:t>
            </a:r>
          </a:p>
          <a:p xmlns:a="http://schemas.openxmlformats.org/drawingml/2006/main">
            <a:r>
              <a:t>Тест или evaluator может решить, продолжать ли цикл, без человека. HITL нужен только там, где решение действительно должен принять человек.</a:t>
            </a:r>
          </a:p>
          <a:p xmlns:a="http://schemas.openxmlformats.org/drawingml/2006/main">
            <a:r>
              <a:t>Если человек просто ревьюит готовый PR после выполнения, это полезный контроль, но не human-in-the-loop этого запуска.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Anthropic, Trustworthy agents: https://www.anthropic.com/research/trustworthy-agents</a:t>
            </a:r>
          </a:p>
          <a:p xmlns:a="http://schemas.openxmlformats.org/drawingml/2006/main">
            <a:r>
              <a:t>Claude Code docs, Goal command: https://code.claude.com/docs/en/goal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29–31 мин. Перед запуском назвать бизнес-риск: повторный POST с новым ключом может стать второй операцией.</a:t>
            </a:r>
          </a:p>
          <a:p xmlns:a="http://schemas.openxmlformats.org/drawingml/2006/main">
            <a:r>
              <a:t>Открыть sample_repo и показать один корневой дефект: uuid создаётся внутри retry-loop.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Stripe API Reference, Idempotent requests: https://docs.stripe.com/api/idempotent_requests?lang=curl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31–38 мин. Live demo: сначала показать красный тест, затем approval и повторный запуск suite.</a:t>
            </a:r>
          </a:p>
          <a:p xmlns:a="http://schemas.openxmlformats.org/drawingml/2006/main">
            <a:r>
              <a:t>Если suite снова красный, harness не принимает финальный ответ и возвращает агента в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38–41 мин. Прочитать две ключевые проверки: одинаковый key внутри retry и разные keys между операциями.</a:t>
            </a:r>
          </a:p>
          <a:p xmlns:a="http://schemas.openxmlformats.org/drawingml/2006/main">
            <a:r>
              <a:t>Важно: тест фиксирует контракт поведения, а не конкретную строку реализации.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Stripe API Reference, Idempotent requests: https://docs.stripe.com/api/idempotent_requests?lang=curl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41–44 мин. Открыть Pydantic-схему аргументов, _safe_path и approval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44–47 мин. В live demo ConsoleApproval блокирует write_file и показывает полный новый текст файла.</a:t>
            </a:r>
          </a:p>
          <a:p xmlns:a="http://schemas.openxmlformats.org/drawingml/2006/main">
            <a:r>
              <a:t>После ответа пользователя tool возвращает written или rejected_by_human, и loop получает это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47–50 мин. Отделить заявление модели от evidence.</a:t>
            </a:r>
          </a:p>
          <a:p xmlns:a="http://schemas.openxmlformats.org/drawingml/2006/main">
            <a:r>
              <a:t>VerificationState хранит номер последней записи и принимает только тест, выполненный после неё.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50–53 мин. Разобрать trace после live demo.</a:t>
            </a:r>
          </a:p>
          <a:p xmlns:a="http://schemas.openxmlformats.org/drawingml/2006/main">
            <a:r>
              <a:t>Показать, что наблюдаемость нужна и для отладки, и для будущих evals.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53–56 мин. Открыть OpenAICompatibleProvider и ScriptedProvider.</a:t>
            </a:r>
          </a:p>
          <a:p xmlns:a="http://schemas.openxmlformats.org/drawingml/2006/main">
            <a:r>
              <a:t>Остальные части агента — tools, approvals, verifier, trace — не меняются.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56–59 мин. Показать домашний endpoint как замену provider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Ollama, Tool calling: https://docs.ollama.com/capabilities/tool-calling</a:t>
            </a:r>
          </a:p>
          <a:p xmlns:a="http://schemas.openxmlformats.org/drawingml/2006/main">
            <a:r>
              <a:t>Google, Function calling with Gemma: https://ai.google.dev/gemma/docs/capabilities/text/function-calling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59–62 мин. Подготовить аудиторию к local demo: безопасный stop — тоже полезный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OpenHands, Run Local LLMs: https://docs.openhands.dev/openhands/usage/llms/local-llms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62–66 мин. Не объявлять одну модель победителем; выбирать модель под роль и доступное железо.</a:t>
            </a:r>
          </a:p>
          <a:p xmlns:a="http://schemas.openxmlformats.org/drawingml/2006/main">
            <a:r>
              <a:t>FunctionGemma — специальный пример: это база под узкий function-calling, не готовый 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FunctionGemma model card: https://huggingface.co/google/functiongemma-270m-it</a:t>
            </a:r>
          </a:p>
          <a:p xmlns:a="http://schemas.openxmlformats.org/drawingml/2006/main">
            <a:r>
              <a:t>Google Gemma 4 12B model card: https://huggingface.co/google/gemma-4-12B-it</a:t>
            </a:r>
          </a:p>
          <a:p xmlns:a="http://schemas.openxmlformats.org/drawingml/2006/main">
            <a:r>
              <a:t>OpenAI gpt-oss model card: https://huggingface.co/openai/gpt-oss-20b</a:t>
            </a:r>
          </a:p>
          <a:p xmlns:a="http://schemas.openxmlformats.org/drawingml/2006/main">
            <a:r>
              <a:t>Qwen3-Coder model card: https://huggingface.co/Qwen/Qwen3-Coder-30B-A3B-Instruct</a:t>
            </a:r>
          </a:p>
          <a:p xmlns:a="http://schemas.openxmlformats.org/drawingml/2006/main">
            <a:r>
              <a:t>Qwen3.6 model card: https://huggingface.co/Qwen/Qwen3.6-35B-A3B</a:t>
            </a:r>
          </a:p>
          <a:p xmlns:a="http://schemas.openxmlformats.org/drawingml/2006/main">
            <a:r>
              <a:t>OpenHands local LLM recommendations: https://docs.openhands.dev/openhands/usage/llms/local-llms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66–69 мин. Перед local demo назвать контекст, quantization и доступные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OpenHands, Run Local LLMs: https://docs.openhands.dev/openhands/usage/llms/local-llms</a:t>
            </a:r>
          </a:p>
          <a:p xmlns:a="http://schemas.openxmlformats.org/drawingml/2006/main">
            <a:r>
              <a:t>Berkeley Function Calling Leaderboard: https://gorilla.cs.berkeley.edu/leaderboard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69–72 мин. Обзор нужен как карта продуктов, не как сравнительный тест.</a:t>
            </a:r>
          </a:p>
          <a:p xmlns:a="http://schemas.openxmlformats.org/drawingml/2006/main">
            <a:r>
              <a:t>Обзор ограничен четырьмя сценариями, которые нужны для логики занятия.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OpenCode docs: https://opencode.ai/docs</a:t>
            </a:r>
          </a:p>
          <a:p xmlns:a="http://schemas.openxmlformats.org/drawingml/2006/main">
            <a:r>
              <a:t>OpenHands docs: https://docs.openhands.dev/openhands/usage/llms/local-llms</a:t>
            </a:r>
          </a:p>
          <a:p xmlns:a="http://schemas.openxmlformats.org/drawingml/2006/main">
            <a:r>
              <a:t>Open Design quickstart: https://github.com/Wallstreetrenegade/opendesign/blob/main/QUICKSTART.md</a:t>
            </a:r>
          </a:p>
          <a:p xmlns:a="http://schemas.openxmlformats.org/drawingml/2006/main">
            <a:r>
              <a:t>OpenClaw repository: https://github.com/openclaw/openclaw</a:t>
            </a:r>
          </a:p>
          <a:p xmlns:a="http://schemas.openxmlformats.org/drawingml/2006/main">
            <a:r>
              <a:t>NanoClaw repository: https://github.com/nanocoai/nanoclaw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72–75 мин. Коротко показать plan и build, не устраивать второй live-coding.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OpenCode introduction: https://opencode.ai/docs</a:t>
            </a:r>
          </a:p>
          <a:p xmlns:a="http://schemas.openxmlformats.org/drawingml/2006/main">
            <a:r>
              <a:t>OpenCode agents: https://opencode.ai/docs/agents/</a:t>
            </a:r>
          </a:p>
          <a:p xmlns:a="http://schemas.openxmlformats.org/drawingml/2006/main">
            <a:r>
              <a:t>OpenCode providers: https://opencode.ai/docs/providers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75–78 мин. Подчеркнуть различие: автономная coding-среда против специализированного UI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OpenHands, Run Local LLMs: https://docs.openhands.dev/openhands/usage/llms/local-llms</a:t>
            </a:r>
          </a:p>
          <a:p xmlns:a="http://schemas.openxmlformats.org/drawingml/2006/main">
            <a:r>
              <a:t>Open Design quickstart: https://github.com/Wallstreetrenegade/opendesign/blob/main/QUICKSTART.md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78–81 мин. Ввести уровни оценки перед примерами названий.</a:t>
            </a:r>
          </a:p>
          <a:p xmlns:a="http://schemas.openxmlformats.org/drawingml/2006/main">
            <a:r>
              <a:t>Harness comparison — контролируемый эксперимент: фиксируем модель, задачи, инструменты и лимиты.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Anthropic, Infrastructure noise in agentic coding evals: https://www.anthropic.com/engineering/infrastructure-noise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81–84 мин. Не разбирать leaderboard; показать соответствие вопроса и бенчмарка.</a:t>
            </a:r>
          </a:p>
          <a:p xmlns:a="http://schemas.openxmlformats.org/drawingml/2006/main">
            <a:r>
              <a:t>Production evals дополняют публичные бенчи, потому что отражают ваши задачи и ограничения.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LiveCodeBench official repository: https://github.com/LiveCodeBench/LiveCodeBench</a:t>
            </a:r>
          </a:p>
          <a:p xmlns:a="http://schemas.openxmlformats.org/drawingml/2006/main">
            <a:r>
              <a:t>Berkeley Function Calling Leaderboard: https://gorilla.cs.berkeley.edu/leaderboard</a:t>
            </a:r>
          </a:p>
          <a:p xmlns:a="http://schemas.openxmlformats.org/drawingml/2006/main">
            <a:r>
              <a:t>SWE-bench official leaderboard: https://www.swebench.com/</a:t>
            </a:r>
          </a:p>
          <a:p xmlns:a="http://schemas.openxmlformats.org/drawingml/2006/main">
            <a:r>
              <a:t>Terminal-Bench via Harbor: https://www.harborframework.com/docs/tutorials/running-terminal-bench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84–86 мин. Явно вынести полноценные evals и benchmark methodology в следующие лекции.</a:t>
            </a:r>
          </a:p>
          <a:p xmlns:a="http://schemas.openxmlformats.org/drawingml/2006/main">
            <a:r>
              <a:t>Сегодняшний local run — демонстрация интеграции, не честное сравнение качества.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Anthropic, Infrastructure noise in agentic coding evals: https://www.anthropic.com/engineering/infrastructure-noise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86–89 мин. Применить пять вопросов к OpenCode или учебному coder.</a:t>
            </a:r>
          </a:p>
          <a:p xmlns:a="http://schemas.openxmlformats.org/drawingml/2006/main">
            <a:r>
              <a:t>Если на вопрос нет ответа, это конкретный пробел в конструкции агента.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89–90 мин. Закрыть блок формулой и мостом к evals.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fbe605b7245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26b8568f02474f" /><Relationship Type="http://schemas.openxmlformats.org/officeDocument/2006/relationships/slideLayout" Target="/ppt/slideLayouts/slideLayout1.xml" Id="R46736ccdddb943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736ccdddb943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3bdbfa83f48ef" /><Relationship Type="http://schemas.openxmlformats.org/officeDocument/2006/relationships/notesSlide" Target="/ppt/notesSlides/notesSlide1.xml" Id="R2bb2e947fc4347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780fea9c64d12" /><Relationship Type="http://schemas.openxmlformats.org/officeDocument/2006/relationships/notesSlide" Target="/ppt/notesSlides/notesSlide2.xml" Id="R97273089a2054f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3b402c8b5466b" /><Relationship Type="http://schemas.openxmlformats.org/officeDocument/2006/relationships/notesSlide" Target="/ppt/notesSlides/notesSlide3.xml" Id="Rc23728964a4440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413cf269f40de" /><Relationship Type="http://schemas.openxmlformats.org/officeDocument/2006/relationships/notesSlide" Target="/ppt/notesSlides/notesSlide4.xml" Id="R65fc250cc9774f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394e3a97842c6" /><Relationship Type="http://schemas.openxmlformats.org/officeDocument/2006/relationships/notesSlide" Target="/ppt/notesSlides/notesSlide5.xml" Id="R1183cd35fc304e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b6fd74d524fbc" /><Relationship Type="http://schemas.openxmlformats.org/officeDocument/2006/relationships/notesSlide" Target="/ppt/notesSlides/notesSlide6.xml" Id="R168941d97abb44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3b4a155dd4671" /><Relationship Type="http://schemas.openxmlformats.org/officeDocument/2006/relationships/notesSlide" Target="/ppt/notesSlides/notesSlide7.xml" Id="Rc69d3424d65b4c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3074b589646ad" /><Relationship Type="http://schemas.openxmlformats.org/officeDocument/2006/relationships/notesSlide" Target="/ppt/notesSlides/notesSlide8.xml" Id="R6832ccdf130e4a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c7b6d464a4018" /><Relationship Type="http://schemas.openxmlformats.org/officeDocument/2006/relationships/notesSlide" Target="/ppt/notesSlides/notesSlide9.xml" Id="R6bf44508457b46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0be6c3fc349ce" /><Relationship Type="http://schemas.openxmlformats.org/officeDocument/2006/relationships/notesSlide" Target="/ppt/notesSlides/notesSlide10.xml" Id="Rd6c5b9ba3cfa40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6a2d2c8544230" /><Relationship Type="http://schemas.openxmlformats.org/officeDocument/2006/relationships/notesSlide" Target="/ppt/notesSlides/notesSlide11.xml" Id="Rb1eac2b1e08d4a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10a874f0a415f" /><Relationship Type="http://schemas.openxmlformats.org/officeDocument/2006/relationships/notesSlide" Target="/ppt/notesSlides/notesSlide12.xml" Id="R56c75ff6a2ad4d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57f527a114a38" /><Relationship Type="http://schemas.openxmlformats.org/officeDocument/2006/relationships/notesSlide" Target="/ppt/notesSlides/notesSlide13.xml" Id="R57162fa9cc7245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5bfb45f244c26" /><Relationship Type="http://schemas.openxmlformats.org/officeDocument/2006/relationships/notesSlide" Target="/ppt/notesSlides/notesSlide14.xml" Id="R1505daa440b94c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cb0bd64454756" /><Relationship Type="http://schemas.openxmlformats.org/officeDocument/2006/relationships/notesSlide" Target="/ppt/notesSlides/notesSlide15.xml" Id="R2b13fed0588f4b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43119027843b7" /><Relationship Type="http://schemas.openxmlformats.org/officeDocument/2006/relationships/notesSlide" Target="/ppt/notesSlides/notesSlide16.xml" Id="R6df476256f2749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d54286f2d4661" /><Relationship Type="http://schemas.openxmlformats.org/officeDocument/2006/relationships/notesSlide" Target="/ppt/notesSlides/notesSlide17.xml" Id="R7a4f82bec8a84e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637786da846f3" /><Relationship Type="http://schemas.openxmlformats.org/officeDocument/2006/relationships/notesSlide" Target="/ppt/notesSlides/notesSlide18.xml" Id="R06df4f39cb7041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9470421dd4496" /><Relationship Type="http://schemas.openxmlformats.org/officeDocument/2006/relationships/notesSlide" Target="/ppt/notesSlides/notesSlide19.xml" Id="Rf541df00690e46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8bc588667478e" /><Relationship Type="http://schemas.openxmlformats.org/officeDocument/2006/relationships/notesSlide" Target="/ppt/notesSlides/notesSlide20.xml" Id="Re546f54f826748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4c53a02ac4edc" /><Relationship Type="http://schemas.openxmlformats.org/officeDocument/2006/relationships/notesSlide" Target="/ppt/notesSlides/notesSlide21.xml" Id="Rae86a57b0a0448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4f7c349d74564" /><Relationship Type="http://schemas.openxmlformats.org/officeDocument/2006/relationships/notesSlide" Target="/ppt/notesSlides/notesSlide22.xml" Id="R8428fa508cf1429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ae53a329440db" /><Relationship Type="http://schemas.openxmlformats.org/officeDocument/2006/relationships/notesSlide" Target="/ppt/notesSlides/notesSlide23.xml" Id="R78d90c31d4864f5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7f46cf4d34f21" /><Relationship Type="http://schemas.openxmlformats.org/officeDocument/2006/relationships/notesSlide" Target="/ppt/notesSlides/notesSlide24.xml" Id="R6d87593907de47b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a088b67e34a21" /><Relationship Type="http://schemas.openxmlformats.org/officeDocument/2006/relationships/notesSlide" Target="/ppt/notesSlides/notesSlide25.xml" Id="Rc1238f7b91db420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96ba416664ee4" /><Relationship Type="http://schemas.openxmlformats.org/officeDocument/2006/relationships/notesSlide" Target="/ppt/notesSlides/notesSlide26.xml" Id="R4d71b4c4f2ab483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3f850c2804b91" /><Relationship Type="http://schemas.openxmlformats.org/officeDocument/2006/relationships/notesSlide" Target="/ppt/notesSlides/notesSlide27.xml" Id="Rd50154874fe349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922488428456d" /><Relationship Type="http://schemas.openxmlformats.org/officeDocument/2006/relationships/notesSlide" Target="/ppt/notesSlides/notesSlide28.xml" Id="Rcb899ec8beb94d3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1163a7fb8434d" /><Relationship Type="http://schemas.openxmlformats.org/officeDocument/2006/relationships/notesSlide" Target="/ppt/notesSlides/notesSlide29.xml" Id="R18c09a3f839449b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5681b49c049b0" /><Relationship Type="http://schemas.openxmlformats.org/officeDocument/2006/relationships/notesSlide" Target="/ppt/notesSlides/notesSlide30.xml" Id="Rf4f384eee2de41b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bfb66188b4a9e" /><Relationship Type="http://schemas.openxmlformats.org/officeDocument/2006/relationships/notesSlide" Target="/ppt/notesSlides/notesSlide31.xml" Id="Rfc9e60e22ab945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41-41">
            <a:extLst xmlns:a="http://schemas.openxmlformats.org/drawingml/2006/main">
              <a:ext uri="{FF2B5EF4-FFF2-40B4-BE49-F238E27FC236}">
                <a16:creationId xmlns:a16="http://schemas.microsoft.com/office/drawing/2014/main" id="{B912252E-F31C-486E-B3AB-37F3C185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000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ЛЕКЦИЯ 04</a:t>
            </a:r>
          </a:p>
        </p:txBody>
      </p:sp>
      <p:sp>
        <p:nvSpPr>
          <p:cNvPr id="2" name="text-41-158">
            <a:extLst xmlns:a="http://schemas.openxmlformats.org/drawingml/2006/main">
              <a:ext uri="{FF2B5EF4-FFF2-40B4-BE49-F238E27FC236}">
                <a16:creationId xmlns:a16="http://schemas.microsoft.com/office/drawing/2014/main" id="{DAFDF6A7-6C32-4D18-9DFF-E5273193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9715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Циклы агента, контроль
и локальные модели</a:t>
            </a:r>
          </a:p>
        </p:txBody>
      </p:sp>
      <p:sp>
        <p:nvSpPr>
          <p:cNvPr id="3" name="text-41-500">
            <a:extLst xmlns:a="http://schemas.openxmlformats.org/drawingml/2006/main">
              <a:ext uri="{FF2B5EF4-FFF2-40B4-BE49-F238E27FC236}">
                <a16:creationId xmlns:a16="http://schemas.microsoft.com/office/drawing/2014/main" id="{B504DBF5-B530-4837-AC39-217E6A29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8191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Доделываем кодер-агента и разбираем, из чего состоят готовые инструменты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5D8BB-6E06-4A6D-9398-F7D07901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21717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038-492">
            <a:extLst xmlns:a="http://schemas.openxmlformats.org/drawingml/2006/main">
              <a:ext uri="{FF2B5EF4-FFF2-40B4-BE49-F238E27FC236}">
                <a16:creationId xmlns:a16="http://schemas.microsoft.com/office/drawing/2014/main" id="{7069B2C0-D9A0-4E05-82EC-73C58DF2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8630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</a:t>
            </a:r>
          </a:p>
        </p:txBody>
      </p:sp>
      <p:sp>
        <p:nvSpPr>
          <p:cNvPr id="6" name="text-1086-527">
            <a:extLst xmlns:a="http://schemas.openxmlformats.org/drawingml/2006/main">
              <a:ext uri="{FF2B5EF4-FFF2-40B4-BE49-F238E27FC236}">
                <a16:creationId xmlns:a16="http://schemas.microsoft.com/office/drawing/2014/main" id="{BCBD54CD-B6A5-46E9-AAE6-3F813631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019675"/>
            <a:ext cx="72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+</a:t>
            </a:r>
          </a:p>
        </p:txBody>
      </p:sp>
      <p:sp>
        <p:nvSpPr>
          <p:cNvPr id="7" name="text-1038-560">
            <a:extLst xmlns:a="http://schemas.openxmlformats.org/drawingml/2006/main">
              <a:ext uri="{FF2B5EF4-FFF2-40B4-BE49-F238E27FC236}">
                <a16:creationId xmlns:a16="http://schemas.microsoft.com/office/drawing/2014/main" id="{FEC54BB0-FC4F-4EE1-84B6-088D1401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33400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</a:t>
            </a:r>
          </a:p>
        </p:txBody>
      </p:sp>
    </p:spTree>
    <p:extLst>
      <p:ext uri="{BB962C8B-B14F-4D97-AF65-F5344CB8AC3E}">
        <p14:creationId xmlns:p14="http://schemas.microsoft.com/office/powerpoint/2010/main" val="822556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41-34">
            <a:extLst xmlns:a="http://schemas.openxmlformats.org/drawingml/2006/main">
              <a:ext uri="{FF2B5EF4-FFF2-40B4-BE49-F238E27FC236}">
                <a16:creationId xmlns:a16="http://schemas.microsoft.com/office/drawing/2014/main" id="{627659B2-20B3-488D-B474-56F97C3A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ОТКРЫТИЕ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F71F9D45-A3A6-43F7-9F89-2130F55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должно заработать к концу занятия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1B9BD-46BE-4FCB-B3D4-D4595CA7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B90B4-F4D9-41D3-8F37-45ACCA2F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76-185">
            <a:extLst xmlns:a="http://schemas.openxmlformats.org/drawingml/2006/main">
              <a:ext uri="{FF2B5EF4-FFF2-40B4-BE49-F238E27FC236}">
                <a16:creationId xmlns:a16="http://schemas.microsoft.com/office/drawing/2014/main" id="{4CE5CFB0-C625-4E18-B7B8-43E94448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32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6" name="text-142-182">
            <a:extLst xmlns:a="http://schemas.openxmlformats.org/drawingml/2006/main">
              <a:ext uri="{FF2B5EF4-FFF2-40B4-BE49-F238E27FC236}">
                <a16:creationId xmlns:a16="http://schemas.microsoft.com/office/drawing/2014/main" id="{E081600F-7E44-4173-BE5A-B07058EC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952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Агент воспроизводит баг и понимает, что считать успехом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B3DD3-F580-4DF3-AAA5-F731DD39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6-267">
            <a:extLst xmlns:a="http://schemas.openxmlformats.org/drawingml/2006/main">
              <a:ext uri="{FF2B5EF4-FFF2-40B4-BE49-F238E27FC236}">
                <a16:creationId xmlns:a16="http://schemas.microsoft.com/office/drawing/2014/main" id="{3115814A-C135-4A98-B6D5-F50DE4C7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32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9" name="text-142-264">
            <a:extLst xmlns:a="http://schemas.openxmlformats.org/drawingml/2006/main">
              <a:ext uri="{FF2B5EF4-FFF2-40B4-BE49-F238E27FC236}">
                <a16:creationId xmlns:a16="http://schemas.microsoft.com/office/drawing/2014/main" id="{8B726435-65E6-4846-8BC8-73C7BAB8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52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Опасное действие требует явного разрешения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07728-F6DD-4CAC-9B5A-15976E0F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76-349">
            <a:extLst xmlns:a="http://schemas.openxmlformats.org/drawingml/2006/main">
              <a:ext uri="{FF2B5EF4-FFF2-40B4-BE49-F238E27FC236}">
                <a16:creationId xmlns:a16="http://schemas.microsoft.com/office/drawing/2014/main" id="{0E1BD053-2497-4F58-BF35-468059A3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32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2" name="text-142-346">
            <a:extLst xmlns:a="http://schemas.openxmlformats.org/drawingml/2006/main">
              <a:ext uri="{FF2B5EF4-FFF2-40B4-BE49-F238E27FC236}">
                <a16:creationId xmlns:a16="http://schemas.microsoft.com/office/drawing/2014/main" id="{A25947B8-7444-42E2-BBF7-078D5511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952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После правки агент сам проверяет 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F623C-D649-4FF3-A08F-6DAC677B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76-431">
            <a:extLst xmlns:a="http://schemas.openxmlformats.org/drawingml/2006/main">
              <a:ext uri="{FF2B5EF4-FFF2-40B4-BE49-F238E27FC236}">
                <a16:creationId xmlns:a16="http://schemas.microsoft.com/office/drawing/2014/main" id="{F04E172E-78D6-4692-AFA0-17357335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2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5" name="text-142-428">
            <a:extLst xmlns:a="http://schemas.openxmlformats.org/drawingml/2006/main">
              <a:ext uri="{FF2B5EF4-FFF2-40B4-BE49-F238E27FC236}">
                <a16:creationId xmlns:a16="http://schemas.microsoft.com/office/drawing/2014/main" id="{BFCF84DA-979A-4027-88C0-F578C41A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76700"/>
            <a:ext cx="952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Каждый шаг сохраняется в журнале запуска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E120D-1824-450F-BA26-86CEC068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76-513">
            <a:extLst xmlns:a="http://schemas.openxmlformats.org/drawingml/2006/main">
              <a:ext uri="{FF2B5EF4-FFF2-40B4-BE49-F238E27FC236}">
                <a16:creationId xmlns:a16="http://schemas.microsoft.com/office/drawing/2014/main" id="{09B76A61-A8B4-4ED1-B1A1-2688146B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32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8" name="text-142-510">
            <a:extLst xmlns:a="http://schemas.openxmlformats.org/drawingml/2006/main">
              <a:ext uri="{FF2B5EF4-FFF2-40B4-BE49-F238E27FC236}">
                <a16:creationId xmlns:a16="http://schemas.microsoft.com/office/drawing/2014/main" id="{BBAC132B-AE99-4654-8122-E91D02B6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57750"/>
            <a:ext cx="952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Облачную модель можно заменить локальной через API</a:t>
            </a:r>
          </a:p>
        </p:txBody>
      </p:sp>
      <p:sp>
        <p:nvSpPr>
          <p:cNvPr id="19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24306520-0605-4E90-9590-E335B9A6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3818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41-34">
            <a:extLst xmlns:a="http://schemas.openxmlformats.org/drawingml/2006/main">
              <a:ext uri="{FF2B5EF4-FFF2-40B4-BE49-F238E27FC236}">
                <a16:creationId xmlns:a16="http://schemas.microsoft.com/office/drawing/2014/main" id="{DD519432-5690-4576-AABF-63516236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ИТОГ БЛОКА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F84FEA22-9563-4EAD-BA2C-D62B303F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Как устроен блок из четырёх лекций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2AD52-07D4-47EC-B9CB-4F7B2808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A5DDC-A6B5-4649-A263-3798798E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DC36E-281D-4E30-AE9D-EE9AF459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text-100-246">
            <a:extLst xmlns:a="http://schemas.openxmlformats.org/drawingml/2006/main">
              <a:ext uri="{FF2B5EF4-FFF2-40B4-BE49-F238E27FC236}">
                <a16:creationId xmlns:a16="http://schemas.microsoft.com/office/drawing/2014/main" id="{92646241-1AB5-4CB0-8DA7-D706FA65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7" name="text-100-398">
            <a:extLst xmlns:a="http://schemas.openxmlformats.org/drawingml/2006/main">
              <a:ext uri="{FF2B5EF4-FFF2-40B4-BE49-F238E27FC236}">
                <a16:creationId xmlns:a16="http://schemas.microsoft.com/office/drawing/2014/main" id="{C4B096E6-EC25-4F5D-9A04-A186C18A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Запрос к модели</a:t>
            </a:r>
          </a:p>
        </p:txBody>
      </p:sp>
      <p:sp>
        <p:nvSpPr>
          <p:cNvPr id="8" name="text-100-447">
            <a:extLst xmlns:a="http://schemas.openxmlformats.org/drawingml/2006/main">
              <a:ext uri="{FF2B5EF4-FFF2-40B4-BE49-F238E27FC236}">
                <a16:creationId xmlns:a16="http://schemas.microsoft.com/office/drawing/2014/main" id="{D144B837-C2F5-44BD-9FDD-989BDD95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промпт и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BED31-E5C3-4DDE-805F-F0068666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text-380-246">
            <a:extLst xmlns:a="http://schemas.openxmlformats.org/drawingml/2006/main">
              <a:ext uri="{FF2B5EF4-FFF2-40B4-BE49-F238E27FC236}">
                <a16:creationId xmlns:a16="http://schemas.microsoft.com/office/drawing/2014/main" id="{DB61AB53-E8ED-49A4-947B-44043985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4315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1" name="text-380-398">
            <a:extLst xmlns:a="http://schemas.openxmlformats.org/drawingml/2006/main">
              <a:ext uri="{FF2B5EF4-FFF2-40B4-BE49-F238E27FC236}">
                <a16:creationId xmlns:a16="http://schemas.microsoft.com/office/drawing/2014/main" id="{2C227826-0F85-42CC-BACE-B72F57E2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Действия</a:t>
            </a:r>
          </a:p>
        </p:txBody>
      </p:sp>
      <p:sp>
        <p:nvSpPr>
          <p:cNvPr id="12" name="text-380-447">
            <a:extLst xmlns:a="http://schemas.openxmlformats.org/drawingml/2006/main">
              <a:ext uri="{FF2B5EF4-FFF2-40B4-BE49-F238E27FC236}">
                <a16:creationId xmlns:a16="http://schemas.microsoft.com/office/drawing/2014/main" id="{06549FE6-9D66-4622-B3C9-ACF61892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57675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tools и ReAct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17EC0-2824-4571-97D3-7A9FA5BC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4" name="text-660-246">
            <a:extLst xmlns:a="http://schemas.openxmlformats.org/drawingml/2006/main">
              <a:ext uri="{FF2B5EF4-FFF2-40B4-BE49-F238E27FC236}">
                <a16:creationId xmlns:a16="http://schemas.microsoft.com/office/drawing/2014/main" id="{793603DA-D2A1-47E0-8BC7-6BFF1688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5" name="text-660-398">
            <a:extLst xmlns:a="http://schemas.openxmlformats.org/drawingml/2006/main">
              <a:ext uri="{FF2B5EF4-FFF2-40B4-BE49-F238E27FC236}">
                <a16:creationId xmlns:a16="http://schemas.microsoft.com/office/drawing/2014/main" id="{6EFB1E5F-128F-407A-B1AA-E31E28B9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Контекст</a:t>
            </a:r>
          </a:p>
        </p:txBody>
      </p:sp>
      <p:sp>
        <p:nvSpPr>
          <p:cNvPr id="16" name="text-660-447">
            <a:extLst xmlns:a="http://schemas.openxmlformats.org/drawingml/2006/main">
              <a:ext uri="{FF2B5EF4-FFF2-40B4-BE49-F238E27FC236}">
                <a16:creationId xmlns:a16="http://schemas.microsoft.com/office/drawing/2014/main" id="{A217D541-38FB-4BA4-9DB9-A8561FC8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57675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RAG и память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4F060-4F0B-4F5D-839C-62CC3A2F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8" name="text-940-246">
            <a:extLst xmlns:a="http://schemas.openxmlformats.org/drawingml/2006/main">
              <a:ext uri="{FF2B5EF4-FFF2-40B4-BE49-F238E27FC236}">
                <a16:creationId xmlns:a16="http://schemas.microsoft.com/office/drawing/2014/main" id="{C73DFC44-19AD-49AA-9C23-925E230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9" name="text-940-398">
            <a:extLst xmlns:a="http://schemas.openxmlformats.org/drawingml/2006/main">
              <a:ext uri="{FF2B5EF4-FFF2-40B4-BE49-F238E27FC236}">
                <a16:creationId xmlns:a16="http://schemas.microsoft.com/office/drawing/2014/main" id="{0E0F2FEF-4166-402A-B4F6-74E3D2FC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Контроль</a:t>
            </a:r>
          </a:p>
        </p:txBody>
      </p:sp>
      <p:sp>
        <p:nvSpPr>
          <p:cNvPr id="20" name="text-940-447">
            <a:extLst xmlns:a="http://schemas.openxmlformats.org/drawingml/2006/main">
              <a:ext uri="{FF2B5EF4-FFF2-40B4-BE49-F238E27FC236}">
                <a16:creationId xmlns:a16="http://schemas.microsoft.com/office/drawing/2014/main" id="{2C58CDCE-6589-48FE-AA36-52A06B14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57675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цикл, права, проверка</a:t>
            </a:r>
          </a:p>
        </p:txBody>
      </p:sp>
      <p:sp>
        <p:nvSpPr>
          <p:cNvPr id="21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7A5FA6A8-D4C5-417B-BDD0-9A985706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8693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1-34">
            <a:extLst xmlns:a="http://schemas.openxmlformats.org/drawingml/2006/main">
              <a:ext uri="{FF2B5EF4-FFF2-40B4-BE49-F238E27FC236}">
                <a16:creationId xmlns:a16="http://schemas.microsoft.com/office/drawing/2014/main" id="{A1CCCD93-8336-4710-A6D3-B80B688A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МАРШРУТ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CE602852-767E-4C26-8FC6-6E39E46E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План на 90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19762-16E8-4CA9-8C07-F94EC80F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831AC-8EDF-4486-BF48-CB4A633D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23336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76-220">
            <a:extLst xmlns:a="http://schemas.openxmlformats.org/drawingml/2006/main">
              <a:ext uri="{FF2B5EF4-FFF2-40B4-BE49-F238E27FC236}">
                <a16:creationId xmlns:a16="http://schemas.microsoft.com/office/drawing/2014/main" id="{37AD7128-7F29-46FA-BDBA-85A01F12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57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0–15</a:t>
            </a:r>
          </a:p>
        </p:txBody>
      </p:sp>
      <p:sp>
        <p:nvSpPr>
          <p:cNvPr id="6" name="text-76-283">
            <a:extLst xmlns:a="http://schemas.openxmlformats.org/drawingml/2006/main">
              <a:ext uri="{FF2B5EF4-FFF2-40B4-BE49-F238E27FC236}">
                <a16:creationId xmlns:a16="http://schemas.microsoft.com/office/drawing/2014/main" id="{236A65EA-CB9F-42FE-81F4-980422CC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85737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58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Собираем понятие цикла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FD608-A074-4DF3-AFB1-09A654C6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6-410">
            <a:extLst xmlns:a="http://schemas.openxmlformats.org/drawingml/2006/main">
              <a:ext uri="{FF2B5EF4-FFF2-40B4-BE49-F238E27FC236}">
                <a16:creationId xmlns:a16="http://schemas.microsoft.com/office/drawing/2014/main" id="{5AF51B79-97B2-4CEB-9731-C823DBE2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harness, loop, остановка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978BB-89FA-43B3-B728-73EAE6B9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57375"/>
            <a:ext cx="23336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356-220">
            <a:extLst xmlns:a="http://schemas.openxmlformats.org/drawingml/2006/main">
              <a:ext uri="{FF2B5EF4-FFF2-40B4-BE49-F238E27FC236}">
                <a16:creationId xmlns:a16="http://schemas.microsoft.com/office/drawing/2014/main" id="{E431D4B6-D354-4015-90E8-1A7D8641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1857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15–50</a:t>
            </a:r>
          </a:p>
        </p:txBody>
      </p:sp>
      <p:sp>
        <p:nvSpPr>
          <p:cNvPr id="11" name="text-356-283">
            <a:extLst xmlns:a="http://schemas.openxmlformats.org/drawingml/2006/main">
              <a:ext uri="{FF2B5EF4-FFF2-40B4-BE49-F238E27FC236}">
                <a16:creationId xmlns:a16="http://schemas.microsoft.com/office/drawing/2014/main" id="{373606CE-8A87-4CFC-BA28-0674694D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95575"/>
            <a:ext cx="185737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Доделываем 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C3C00-2D55-4A0A-81AF-7876D647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6712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356-410">
            <a:extLst xmlns:a="http://schemas.openxmlformats.org/drawingml/2006/main">
              <a:ext uri="{FF2B5EF4-FFF2-40B4-BE49-F238E27FC236}">
                <a16:creationId xmlns:a16="http://schemas.microsoft.com/office/drawing/2014/main" id="{F90A143F-B0DA-40C7-A335-B60E6BE6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права, проверка,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FAD47-7E09-4137-886E-8FB2ACC7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57375"/>
            <a:ext cx="23336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36-220">
            <a:extLst xmlns:a="http://schemas.openxmlformats.org/drawingml/2006/main">
              <a:ext uri="{FF2B5EF4-FFF2-40B4-BE49-F238E27FC236}">
                <a16:creationId xmlns:a16="http://schemas.microsoft.com/office/drawing/2014/main" id="{67D27DF1-31D5-4DDB-A241-81F8642F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857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50–70</a:t>
            </a:r>
          </a:p>
        </p:txBody>
      </p:sp>
      <p:sp>
        <p:nvSpPr>
          <p:cNvPr id="16" name="text-636-283">
            <a:extLst xmlns:a="http://schemas.openxmlformats.org/drawingml/2006/main">
              <a:ext uri="{FF2B5EF4-FFF2-40B4-BE49-F238E27FC236}">
                <a16:creationId xmlns:a16="http://schemas.microsoft.com/office/drawing/2014/main" id="{147CEE4F-F6E9-4F67-8BF1-06064FC5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95575"/>
            <a:ext cx="185737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567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Смотрим готовые агенты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F8635-84FC-4561-811D-4A11AE73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6712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36-410">
            <a:extLst xmlns:a="http://schemas.openxmlformats.org/drawingml/2006/main">
              <a:ext uri="{FF2B5EF4-FFF2-40B4-BE49-F238E27FC236}">
                <a16:creationId xmlns:a16="http://schemas.microsoft.com/office/drawing/2014/main" id="{89C0D85F-C8AF-4FE6-B85F-63B453A9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8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OpenCode, OpenHands, Open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1B66A-2CAC-42B9-97A5-348FCB54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57375"/>
            <a:ext cx="23336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916-220">
            <a:extLst xmlns:a="http://schemas.openxmlformats.org/drawingml/2006/main">
              <a:ext uri="{FF2B5EF4-FFF2-40B4-BE49-F238E27FC236}">
                <a16:creationId xmlns:a16="http://schemas.microsoft.com/office/drawing/2014/main" id="{399EB1B4-6812-4166-8A56-034D0CE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1857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70–90</a:t>
            </a:r>
          </a:p>
        </p:txBody>
      </p:sp>
      <p:sp>
        <p:nvSpPr>
          <p:cNvPr id="21" name="text-916-283">
            <a:extLst xmlns:a="http://schemas.openxmlformats.org/drawingml/2006/main">
              <a:ext uri="{FF2B5EF4-FFF2-40B4-BE49-F238E27FC236}">
                <a16:creationId xmlns:a16="http://schemas.microsoft.com/office/drawing/2014/main" id="{B00FAC3B-1804-41A3-BD51-027E6890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95575"/>
            <a:ext cx="1857375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Локальная LLM и бенчи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2F099-61B4-44CC-BA51-DAB86BAD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6712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916-410">
            <a:extLst xmlns:a="http://schemas.openxmlformats.org/drawingml/2006/main">
              <a:ext uri="{FF2B5EF4-FFF2-40B4-BE49-F238E27FC236}">
                <a16:creationId xmlns:a16="http://schemas.microsoft.com/office/drawing/2014/main" id="{4276B602-FCF7-4F70-93F6-D606A9D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33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модели, ограничения, сравнение</a:t>
            </a:r>
          </a:p>
        </p:txBody>
      </p:sp>
      <p:sp>
        <p:nvSpPr>
          <p:cNvPr id="24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FEA4CA19-8050-48AA-A5F8-B7C42D4C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9320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1-34">
            <a:extLst xmlns:a="http://schemas.openxmlformats.org/drawingml/2006/main">
              <a:ext uri="{FF2B5EF4-FFF2-40B4-BE49-F238E27FC236}">
                <a16:creationId xmlns:a16="http://schemas.microsoft.com/office/drawing/2014/main" id="{0D444E0F-A681-4FED-ABE6-4180E5A0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КАРКАС АГЕНТА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BDE45198-2F6E-417F-BF5A-C12032D7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97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 предлагает действие. Программа управляет выполнением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A6A59-262B-4BDB-AF13-078BE0FE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8FCF9-E13B-4F34-AC6E-197A2D2D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96-246">
            <a:extLst xmlns:a="http://schemas.openxmlformats.org/drawingml/2006/main">
              <a:ext uri="{FF2B5EF4-FFF2-40B4-BE49-F238E27FC236}">
                <a16:creationId xmlns:a16="http://schemas.microsoft.com/office/drawing/2014/main" id="{BB6AD9CE-F208-42F4-8D38-0530A510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42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</a:t>
            </a:r>
          </a:p>
        </p:txBody>
      </p:sp>
      <p:sp>
        <p:nvSpPr>
          <p:cNvPr id="6" name="text-96-322">
            <a:extLst xmlns:a="http://schemas.openxmlformats.org/drawingml/2006/main">
              <a:ext uri="{FF2B5EF4-FFF2-40B4-BE49-F238E27FC236}">
                <a16:creationId xmlns:a16="http://schemas.microsoft.com/office/drawing/2014/main" id="{5F8BF983-5FC6-45BD-9B6A-C869D0B5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3333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выбирает следующее действие
из доступных инструментов</a:t>
            </a:r>
          </a:p>
        </p:txBody>
      </p:sp>
      <p:sp>
        <p:nvSpPr>
          <p:cNvPr id="7" name="text-520-265">
            <a:extLst xmlns:a="http://schemas.openxmlformats.org/drawingml/2006/main">
              <a:ext uri="{FF2B5EF4-FFF2-40B4-BE49-F238E27FC236}">
                <a16:creationId xmlns:a16="http://schemas.microsoft.com/office/drawing/2014/main" id="{44F7E9D4-0EFA-46E9-81F1-81B91CEB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721E7-C6E0-4C8B-85B9-357EE77B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80-246">
            <a:extLst xmlns:a="http://schemas.openxmlformats.org/drawingml/2006/main">
              <a:ext uri="{FF2B5EF4-FFF2-40B4-BE49-F238E27FC236}">
                <a16:creationId xmlns:a16="http://schemas.microsoft.com/office/drawing/2014/main" id="{A2D2BE59-5436-4533-BBAC-7A852068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4381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HARNESS</a:t>
            </a:r>
          </a:p>
        </p:txBody>
      </p:sp>
      <p:sp>
        <p:nvSpPr>
          <p:cNvPr id="10" name="text-680-322">
            <a:extLst xmlns:a="http://schemas.openxmlformats.org/drawingml/2006/main">
              <a:ext uri="{FF2B5EF4-FFF2-40B4-BE49-F238E27FC236}">
                <a16:creationId xmlns:a16="http://schemas.microsoft.com/office/drawing/2014/main" id="{3431D3CA-2AAE-40F5-ABBC-C0469DFD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4286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собирает контекст, проверяет права,
исполняет действие и решает, продолжать 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62F38-F9FC-4813-832B-E1EB45D5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50-511">
            <a:extLst xmlns:a="http://schemas.openxmlformats.org/drawingml/2006/main">
              <a:ext uri="{FF2B5EF4-FFF2-40B4-BE49-F238E27FC236}">
                <a16:creationId xmlns:a16="http://schemas.microsoft.com/office/drawing/2014/main" id="{3421A184-1D46-44C6-811E-7D7B1181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933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Одна и та же модель в разных harness может вести себя по-разному</a:t>
            </a:r>
          </a:p>
        </p:txBody>
      </p:sp>
      <p:sp>
        <p:nvSpPr>
          <p:cNvPr id="13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A2390F78-33A1-436E-9D2A-8337E6CB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56118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41-34">
            <a:extLst xmlns:a="http://schemas.openxmlformats.org/drawingml/2006/main">
              <a:ext uri="{FF2B5EF4-FFF2-40B4-BE49-F238E27FC236}">
                <a16:creationId xmlns:a16="http://schemas.microsoft.com/office/drawing/2014/main" id="{98E10863-0C64-48D8-9898-D7C61D8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C26E1DD2-BE4C-45E4-8DF1-C82D607A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 агента: действие → результат → следующий шаг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7BD69-C9E6-4678-B6B2-ABDF6815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514E8-7276-40D9-8052-CC8A0917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78-268">
            <a:extLst xmlns:a="http://schemas.openxmlformats.org/drawingml/2006/main">
              <a:ext uri="{FF2B5EF4-FFF2-40B4-BE49-F238E27FC236}">
                <a16:creationId xmlns:a16="http://schemas.microsoft.com/office/drawing/2014/main" id="{2F1038A1-A463-403C-9E08-4ED53BAE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6" name="text-90-310">
            <a:extLst xmlns:a="http://schemas.openxmlformats.org/drawingml/2006/main">
              <a:ext uri="{FF2B5EF4-FFF2-40B4-BE49-F238E27FC236}">
                <a16:creationId xmlns:a16="http://schemas.microsoft.com/office/drawing/2014/main" id="{8C21AA84-B4C2-40AF-A1A4-4DA1996B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ЦЕЛЬ И
СОСТОЯНИЕ</a:t>
            </a:r>
          </a:p>
        </p:txBody>
      </p:sp>
      <p:sp>
        <p:nvSpPr>
          <p:cNvPr id="7" name="text-298-298">
            <a:extLst xmlns:a="http://schemas.openxmlformats.org/drawingml/2006/main">
              <a:ext uri="{FF2B5EF4-FFF2-40B4-BE49-F238E27FC236}">
                <a16:creationId xmlns:a16="http://schemas.microsoft.com/office/drawing/2014/main" id="{170E9929-25BA-454A-B452-7474D5E3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38450"/>
            <a:ext cx="514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4D2EB-8545-4051-B229-6A108281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368-268">
            <a:extLst xmlns:a="http://schemas.openxmlformats.org/drawingml/2006/main">
              <a:ext uri="{FF2B5EF4-FFF2-40B4-BE49-F238E27FC236}">
                <a16:creationId xmlns:a16="http://schemas.microsoft.com/office/drawing/2014/main" id="{18188F2A-C3AA-4271-A8B2-FB121613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0" name="text-380-310">
            <a:extLst xmlns:a="http://schemas.openxmlformats.org/drawingml/2006/main">
              <a:ext uri="{FF2B5EF4-FFF2-40B4-BE49-F238E27FC236}">
                <a16:creationId xmlns:a16="http://schemas.microsoft.com/office/drawing/2014/main" id="{8775D634-BB1F-4F86-BE9E-0B34F622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СЛЕДУЮЩЕЕ
ДЕЙСТВИЕ</a:t>
            </a:r>
          </a:p>
        </p:txBody>
      </p:sp>
      <p:sp>
        <p:nvSpPr>
          <p:cNvPr id="11" name="text-588-298">
            <a:extLst xmlns:a="http://schemas.openxmlformats.org/drawingml/2006/main">
              <a:ext uri="{FF2B5EF4-FFF2-40B4-BE49-F238E27FC236}">
                <a16:creationId xmlns:a16="http://schemas.microsoft.com/office/drawing/2014/main" id="{78905757-D64C-466B-B0E1-B77223BB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38450"/>
            <a:ext cx="514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B5F71-4678-49A5-B8C7-3E6D0072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658-268">
            <a:extLst xmlns:a="http://schemas.openxmlformats.org/drawingml/2006/main">
              <a:ext uri="{FF2B5EF4-FFF2-40B4-BE49-F238E27FC236}">
                <a16:creationId xmlns:a16="http://schemas.microsoft.com/office/drawing/2014/main" id="{0C907844-58E5-4172-8655-6801614E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4" name="text-670-310">
            <a:extLst xmlns:a="http://schemas.openxmlformats.org/drawingml/2006/main">
              <a:ext uri="{FF2B5EF4-FFF2-40B4-BE49-F238E27FC236}">
                <a16:creationId xmlns:a16="http://schemas.microsoft.com/office/drawing/2014/main" id="{8A352F23-39E2-4545-A3E4-DF9B957B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01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ВЫПОЛНЕНИЕ
И ПРОВЕРКИ</a:t>
            </a:r>
          </a:p>
        </p:txBody>
      </p:sp>
      <p:sp>
        <p:nvSpPr>
          <p:cNvPr id="15" name="text-878-298">
            <a:extLst xmlns:a="http://schemas.openxmlformats.org/drawingml/2006/main">
              <a:ext uri="{FF2B5EF4-FFF2-40B4-BE49-F238E27FC236}">
                <a16:creationId xmlns:a16="http://schemas.microsoft.com/office/drawing/2014/main" id="{AEB38253-1FC9-4B4D-A82D-B61632A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5143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CE6F9-3CD7-4D80-B376-F20A008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948-268">
            <a:extLst xmlns:a="http://schemas.openxmlformats.org/drawingml/2006/main">
              <a:ext uri="{FF2B5EF4-FFF2-40B4-BE49-F238E27FC236}">
                <a16:creationId xmlns:a16="http://schemas.microsoft.com/office/drawing/2014/main" id="{6E3A669A-3791-4A43-B8FF-7911ABEF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8" name="text-960-310">
            <a:extLst xmlns:a="http://schemas.openxmlformats.org/drawingml/2006/main">
              <a:ext uri="{FF2B5EF4-FFF2-40B4-BE49-F238E27FC236}">
                <a16:creationId xmlns:a16="http://schemas.microsoft.com/office/drawing/2014/main" id="{959FFFA1-759B-4C1F-B1C7-2C746712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РЕЗУЛЬТАТ
ДЕЙСТВИЯ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B7D28-7BE6-49B6-B01E-DC7E95B2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14800"/>
            <a:ext cx="685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310-451">
            <a:extLst xmlns:a="http://schemas.openxmlformats.org/drawingml/2006/main">
              <a:ext uri="{FF2B5EF4-FFF2-40B4-BE49-F238E27FC236}">
                <a16:creationId xmlns:a16="http://schemas.microsoft.com/office/drawing/2014/main" id="{48270771-3E89-4E99-AF2A-3A238335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9577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ПОВТОРИТЬ ЦИКЛ</a:t>
            </a:r>
          </a:p>
        </p:txBody>
      </p:sp>
      <p:sp>
        <p:nvSpPr>
          <p:cNvPr id="21" name="text-310-491">
            <a:extLst xmlns:a="http://schemas.openxmlformats.org/drawingml/2006/main">
              <a:ext uri="{FF2B5EF4-FFF2-40B4-BE49-F238E27FC236}">
                <a16:creationId xmlns:a16="http://schemas.microsoft.com/office/drawing/2014/main" id="{BA20FBE7-177D-469C-B8B9-BF9BC528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76775"/>
            <a:ext cx="628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обновить состояние и снова выбрать действие</a:t>
            </a:r>
          </a:p>
        </p:txBody>
      </p:sp>
      <p:sp>
        <p:nvSpPr>
          <p:cNvPr id="22" name="text-190-565">
            <a:extLst xmlns:a="http://schemas.openxmlformats.org/drawingml/2006/main">
              <a:ext uri="{FF2B5EF4-FFF2-40B4-BE49-F238E27FC236}">
                <a16:creationId xmlns:a16="http://schemas.microsoft.com/office/drawing/2014/main" id="{D869AFF3-B817-46A6-8BAA-A7607FB7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Остановка: успех • нужен человек • ошибка • исчерпан лимит</a:t>
            </a:r>
          </a:p>
        </p:txBody>
      </p:sp>
      <p:sp>
        <p:nvSpPr>
          <p:cNvPr id="23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59F44F98-57A9-4A96-B394-7FBAD962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739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1-34">
            <a:extLst xmlns:a="http://schemas.openxmlformats.org/drawingml/2006/main">
              <a:ext uri="{FF2B5EF4-FFF2-40B4-BE49-F238E27FC236}">
                <a16:creationId xmlns:a16="http://schemas.microsoft.com/office/drawing/2014/main" id="{0AB8D319-7027-4825-905B-4AADC902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ПОЧЕМУ ЦИКЛЫ ВАЖНЫ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0D478702-9D08-469A-9608-65187040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«Моя работа теперь — писать циклы»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1F3C5-5CA7-4EE2-BF58-2FF25B3B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90-220">
            <a:extLst xmlns:a="http://schemas.openxmlformats.org/drawingml/2006/main">
              <a:ext uri="{FF2B5EF4-FFF2-40B4-BE49-F238E27FC236}">
                <a16:creationId xmlns:a16="http://schemas.microsoft.com/office/drawing/2014/main" id="{F61A7F1C-1246-46FF-B054-5E056E71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“I have loops that are running. […] My job is to write loops.”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EE164-FABA-4C9B-9273-DE4EA048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90-430">
            <a:extLst xmlns:a="http://schemas.openxmlformats.org/drawingml/2006/main">
              <a:ext uri="{FF2B5EF4-FFF2-40B4-BE49-F238E27FC236}">
                <a16:creationId xmlns:a16="http://schemas.microsoft.com/office/drawing/2014/main" id="{F6D76ECC-E777-451A-B9D2-D2F7D718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42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Boris Cherny</a:t>
            </a:r>
          </a:p>
        </p:txBody>
      </p:sp>
      <p:sp>
        <p:nvSpPr>
          <p:cNvPr id="7" name="text-90-473">
            <a:extLst xmlns:a="http://schemas.openxmlformats.org/drawingml/2006/main">
              <a:ext uri="{FF2B5EF4-FFF2-40B4-BE49-F238E27FC236}">
                <a16:creationId xmlns:a16="http://schemas.microsoft.com/office/drawing/2014/main" id="{BA0B4AFD-A783-4ED7-904D-50DC667D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647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Acquired Unplugged · 11:47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88836-9052-418D-AB9E-C14824D2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20-558">
            <a:extLst xmlns:a="http://schemas.openxmlformats.org/drawingml/2006/main">
              <a:ext uri="{FF2B5EF4-FFF2-40B4-BE49-F238E27FC236}">
                <a16:creationId xmlns:a16="http://schemas.microsoft.com/office/drawing/2014/main" id="{46D75344-E368-4833-993C-83C2B97A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906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 запускает Claude и определяет, какую задачу дать ему дальше</a:t>
            </a:r>
          </a:p>
        </p:txBody>
      </p:sp>
      <p:sp>
        <p:nvSpPr>
          <p:cNvPr id="10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68E08B0A-7F5E-4858-9D4D-5BABC7EE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47645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41-34">
            <a:extLst xmlns:a="http://schemas.openxmlformats.org/drawingml/2006/main">
              <a:ext uri="{FF2B5EF4-FFF2-40B4-BE49-F238E27FC236}">
                <a16:creationId xmlns:a16="http://schemas.microsoft.com/office/drawing/2014/main" id="{E87B1F3B-3D76-4335-8B58-A7548230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ВИДА ЦИКЛОВ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AC277F13-F7CF-441B-80A7-58AE4C9E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Словом loop называют три разных механизма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53C67-FFC8-4AB2-BC3F-D355082F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FD2FE-1CA1-4ECC-B849-2FA29B8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333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80-235">
            <a:extLst xmlns:a="http://schemas.openxmlformats.org/drawingml/2006/main">
              <a:ext uri="{FF2B5EF4-FFF2-40B4-BE49-F238E27FC236}">
                <a16:creationId xmlns:a16="http://schemas.microsoft.com/office/drawing/2014/main" id="{7717DE8B-04F5-4B0D-9DF8-2E0C7D6E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AGENTIC LOOP</a:t>
            </a:r>
          </a:p>
        </p:txBody>
      </p:sp>
      <p:sp>
        <p:nvSpPr>
          <p:cNvPr id="6" name="text-80-292">
            <a:extLst xmlns:a="http://schemas.openxmlformats.org/drawingml/2006/main">
              <a:ext uri="{FF2B5EF4-FFF2-40B4-BE49-F238E27FC236}">
                <a16:creationId xmlns:a16="http://schemas.microsoft.com/office/drawing/2014/main" id="{932E66F5-C30D-4586-A2A8-B7EF3424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27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Внутри одного запуска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8D235-5F73-4E1B-9EE7-6C01DC4B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80-400">
            <a:extLst xmlns:a="http://schemas.openxmlformats.org/drawingml/2006/main">
              <a:ext uri="{FF2B5EF4-FFF2-40B4-BE49-F238E27FC236}">
                <a16:creationId xmlns:a16="http://schemas.microsoft.com/office/drawing/2014/main" id="{322574B5-BDC4-422F-9DAC-FBB235A0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действие → результат
→ проверка → следующий шаг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A3E45-43DB-48ED-B2FD-05867899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3333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70-235">
            <a:extLst xmlns:a="http://schemas.openxmlformats.org/drawingml/2006/main">
              <a:ext uri="{FF2B5EF4-FFF2-40B4-BE49-F238E27FC236}">
                <a16:creationId xmlns:a16="http://schemas.microsoft.com/office/drawing/2014/main" id="{9D9A55D9-84E5-48A8-A12E-D3AAFD10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GOAL-BASED LOOP</a:t>
            </a:r>
          </a:p>
        </p:txBody>
      </p:sp>
      <p:sp>
        <p:nvSpPr>
          <p:cNvPr id="11" name="text-470-292">
            <a:extLst xmlns:a="http://schemas.openxmlformats.org/drawingml/2006/main">
              <a:ext uri="{FF2B5EF4-FFF2-40B4-BE49-F238E27FC236}">
                <a16:creationId xmlns:a16="http://schemas.microsoft.com/office/drawing/2014/main" id="{9D6A7C51-53A1-454E-9B67-4D587A7C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 выполнения условия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93377-0510-4D89-B143-337A908C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0-400">
            <a:extLst xmlns:a="http://schemas.openxmlformats.org/drawingml/2006/main">
              <a:ext uri="{FF2B5EF4-FFF2-40B4-BE49-F238E27FC236}">
                <a16:creationId xmlns:a16="http://schemas.microsoft.com/office/drawing/2014/main" id="{F22362D0-0AB6-4BE5-8A38-6851154B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2857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0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/goal: ход → evaluator
no — продолжить · yes — стоп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B4743-8E6F-4E6E-9269-DE4CB978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333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860-235">
            <a:extLst xmlns:a="http://schemas.openxmlformats.org/drawingml/2006/main">
              <a:ext uri="{FF2B5EF4-FFF2-40B4-BE49-F238E27FC236}">
                <a16:creationId xmlns:a16="http://schemas.microsoft.com/office/drawing/2014/main" id="{3ED0F884-D2BE-4BE4-AA8A-4AA06E31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SCHEDULED LOOP</a:t>
            </a:r>
          </a:p>
        </p:txBody>
      </p:sp>
      <p:sp>
        <p:nvSpPr>
          <p:cNvPr id="16" name="text-860-292">
            <a:extLst xmlns:a="http://schemas.openxmlformats.org/drawingml/2006/main">
              <a:ext uri="{FF2B5EF4-FFF2-40B4-BE49-F238E27FC236}">
                <a16:creationId xmlns:a16="http://schemas.microsoft.com/office/drawing/2014/main" id="{83C7F2A8-6D59-43A7-A124-D2D30D7B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 времени или событию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9DB65-0ACA-4619-B54D-6A1CE057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860-400">
            <a:extLst xmlns:a="http://schemas.openxmlformats.org/drawingml/2006/main">
              <a:ext uri="{FF2B5EF4-FFF2-40B4-BE49-F238E27FC236}">
                <a16:creationId xmlns:a16="http://schemas.microsoft.com/office/drawing/2014/main" id="{799193F0-AAC2-4A61-8A3B-6FEC4F96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2857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/loop 5m: проверить PR,
CI и новые комментарии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BA556-F020-45D5-89E5-11003C94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1038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25-548">
            <a:extLst xmlns:a="http://schemas.openxmlformats.org/drawingml/2006/main">
              <a:ext uri="{FF2B5EF4-FFF2-40B4-BE49-F238E27FC236}">
                <a16:creationId xmlns:a16="http://schemas.microsoft.com/office/drawing/2014/main" id="{D35C7985-C1EE-45FE-9A32-B6106DFD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19700"/>
            <a:ext cx="981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В каждом запуске по расписанию внутри работает обычный agentic loop</a:t>
            </a:r>
          </a:p>
        </p:txBody>
      </p:sp>
      <p:sp>
        <p:nvSpPr>
          <p:cNvPr id="21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710C88EB-DEED-4490-B27A-890B952E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9261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41-34">
            <a:extLst xmlns:a="http://schemas.openxmlformats.org/drawingml/2006/main">
              <a:ext uri="{FF2B5EF4-FFF2-40B4-BE49-F238E27FC236}">
                <a16:creationId xmlns:a16="http://schemas.microsoft.com/office/drawing/2014/main" id="{93B8CA4E-F11B-4B61-9844-9481D906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1A95C2E1-E48C-46CB-A1F7-63839DB7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18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Как спроектировать цикл, который можно контролировать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5A1EC-C0EC-4410-8380-2F447BA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6-202">
            <a:extLst xmlns:a="http://schemas.openxmlformats.org/drawingml/2006/main">
              <a:ext uri="{FF2B5EF4-FFF2-40B4-BE49-F238E27FC236}">
                <a16:creationId xmlns:a16="http://schemas.microsoft.com/office/drawing/2014/main" id="{D37A03CB-7655-45F1-84A0-E5534B9A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5" name="text-56-248">
            <a:extLst xmlns:a="http://schemas.openxmlformats.org/drawingml/2006/main">
              <a:ext uri="{FF2B5EF4-FFF2-40B4-BE49-F238E27FC236}">
                <a16:creationId xmlns:a16="http://schemas.microsoft.com/office/drawing/2014/main" id="{11E7AEE9-27E6-41CA-839B-E56C94F8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952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Триггер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7AF4C-AD9E-46D9-A699-195C6FEB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56-336">
            <a:extLst xmlns:a="http://schemas.openxmlformats.org/drawingml/2006/main">
              <a:ext uri="{FF2B5EF4-FFF2-40B4-BE49-F238E27FC236}">
                <a16:creationId xmlns:a16="http://schemas.microsoft.com/office/drawing/2014/main" id="{B9FE2933-A97B-48D2-B67D-D5367891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19526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запускает следующую итерацию?</a:t>
            </a:r>
          </a:p>
        </p:txBody>
      </p:sp>
      <p:sp>
        <p:nvSpPr>
          <p:cNvPr id="8" name="text-286-202">
            <a:extLst xmlns:a="http://schemas.openxmlformats.org/drawingml/2006/main">
              <a:ext uri="{FF2B5EF4-FFF2-40B4-BE49-F238E27FC236}">
                <a16:creationId xmlns:a16="http://schemas.microsoft.com/office/drawing/2014/main" id="{27621335-3EBA-46FF-B936-1AA19653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9" name="text-286-248">
            <a:extLst xmlns:a="http://schemas.openxmlformats.org/drawingml/2006/main">
              <a:ext uri="{FF2B5EF4-FFF2-40B4-BE49-F238E27FC236}">
                <a16:creationId xmlns:a16="http://schemas.microsoft.com/office/drawing/2014/main" id="{260D1CF0-9BF5-4D20-A154-FEDC504A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62200"/>
            <a:ext cx="1952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Задача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227A4-DA04-4CEE-A630-0935610E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14650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86-336">
            <a:extLst xmlns:a="http://schemas.openxmlformats.org/drawingml/2006/main">
              <a:ext uri="{FF2B5EF4-FFF2-40B4-BE49-F238E27FC236}">
                <a16:creationId xmlns:a16="http://schemas.microsoft.com/office/drawing/2014/main" id="{9094562E-5AFF-4BD6-A040-BD3F4F89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0400"/>
            <a:ext cx="19526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агент должен сделать?</a:t>
            </a:r>
          </a:p>
        </p:txBody>
      </p:sp>
      <p:sp>
        <p:nvSpPr>
          <p:cNvPr id="12" name="text-516-202">
            <a:extLst xmlns:a="http://schemas.openxmlformats.org/drawingml/2006/main">
              <a:ext uri="{FF2B5EF4-FFF2-40B4-BE49-F238E27FC236}">
                <a16:creationId xmlns:a16="http://schemas.microsoft.com/office/drawing/2014/main" id="{CAED5EAE-70C0-4E69-9C2F-1C9A5D6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2405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3" name="text-516-248">
            <a:extLst xmlns:a="http://schemas.openxmlformats.org/drawingml/2006/main">
              <a:ext uri="{FF2B5EF4-FFF2-40B4-BE49-F238E27FC236}">
                <a16:creationId xmlns:a16="http://schemas.microsoft.com/office/drawing/2014/main" id="{D7E4285D-776F-414E-9497-A505F7A2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62200"/>
            <a:ext cx="1952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47A2D-C111-4461-867B-63DDE24E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14650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516-336">
            <a:extLst xmlns:a="http://schemas.openxmlformats.org/drawingml/2006/main">
              <a:ext uri="{FF2B5EF4-FFF2-40B4-BE49-F238E27FC236}">
                <a16:creationId xmlns:a16="http://schemas.microsoft.com/office/drawing/2014/main" id="{52DA4E14-E07F-468B-815C-9E581375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00400"/>
            <a:ext cx="19526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изменилось после действия?</a:t>
            </a:r>
          </a:p>
        </p:txBody>
      </p:sp>
      <p:sp>
        <p:nvSpPr>
          <p:cNvPr id="16" name="text-746-202">
            <a:extLst xmlns:a="http://schemas.openxmlformats.org/drawingml/2006/main">
              <a:ext uri="{FF2B5EF4-FFF2-40B4-BE49-F238E27FC236}">
                <a16:creationId xmlns:a16="http://schemas.microsoft.com/office/drawing/2014/main" id="{64D3119A-2FA3-41CD-B0E2-33C923D4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2405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7" name="text-746-248">
            <a:extLst xmlns:a="http://schemas.openxmlformats.org/drawingml/2006/main">
              <a:ext uri="{FF2B5EF4-FFF2-40B4-BE49-F238E27FC236}">
                <a16:creationId xmlns:a16="http://schemas.microsoft.com/office/drawing/2014/main" id="{D05A4FCD-E7F8-4D17-A739-DD41F409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1952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Повтор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5F1EC-9888-4B98-9941-29EB74E9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14650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746-336">
            <a:extLst xmlns:a="http://schemas.openxmlformats.org/drawingml/2006/main">
              <a:ext uri="{FF2B5EF4-FFF2-40B4-BE49-F238E27FC236}">
                <a16:creationId xmlns:a16="http://schemas.microsoft.com/office/drawing/2014/main" id="{CBF73191-8409-4CF5-B79F-4DC3F080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0400"/>
            <a:ext cx="19526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Когда нужна ещё одна итерация?</a:t>
            </a:r>
          </a:p>
        </p:txBody>
      </p:sp>
      <p:sp>
        <p:nvSpPr>
          <p:cNvPr id="20" name="text-976-202">
            <a:extLst xmlns:a="http://schemas.openxmlformats.org/drawingml/2006/main">
              <a:ext uri="{FF2B5EF4-FFF2-40B4-BE49-F238E27FC236}">
                <a16:creationId xmlns:a16="http://schemas.microsoft.com/office/drawing/2014/main" id="{4AB0336C-BFCC-4A82-8767-64820B07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1" name="text-976-248">
            <a:extLst xmlns:a="http://schemas.openxmlformats.org/drawingml/2006/main">
              <a:ext uri="{FF2B5EF4-FFF2-40B4-BE49-F238E27FC236}">
                <a16:creationId xmlns:a16="http://schemas.microsoft.com/office/drawing/2014/main" id="{E7858023-2955-41C6-BEC3-F7FD8529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62200"/>
            <a:ext cx="1952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Остановка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4BB35-844B-49E2-946D-27C0D21D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976-336">
            <a:extLst xmlns:a="http://schemas.openxmlformats.org/drawingml/2006/main">
              <a:ext uri="{FF2B5EF4-FFF2-40B4-BE49-F238E27FC236}">
                <a16:creationId xmlns:a16="http://schemas.microsoft.com/office/drawing/2014/main" id="{586B3E4A-A125-4BA6-8019-A84FE0D9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9526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Готово, лимит или нужен человек?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1256C-2C7D-443A-8BF0-BBC57D80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038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125-518">
            <a:extLst xmlns:a="http://schemas.openxmlformats.org/drawingml/2006/main">
              <a:ext uri="{FF2B5EF4-FFF2-40B4-BE49-F238E27FC236}">
                <a16:creationId xmlns:a16="http://schemas.microsoft.com/office/drawing/2014/main" id="{3B26912A-BABF-4B51-B83F-1DAE8C63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33950"/>
            <a:ext cx="981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После каждой итерации цикл получает новый сигнал и использует его в следующей</a:t>
            </a:r>
          </a:p>
        </p:txBody>
      </p:sp>
      <p:sp>
        <p:nvSpPr>
          <p:cNvPr id="26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C1BAFD3C-9D18-44EE-B2C8-AF973F9B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097735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41-34">
            <a:extLst xmlns:a="http://schemas.openxmlformats.org/drawingml/2006/main">
              <a:ext uri="{FF2B5EF4-FFF2-40B4-BE49-F238E27FC236}">
                <a16:creationId xmlns:a16="http://schemas.microsoft.com/office/drawing/2014/main" id="{C2C085CC-45F8-4F54-9340-D68EA8AD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HUMAN-IN-THE-LOOP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2FDB358A-436E-4C9E-8D0D-D3BAFEF7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Human-in-the-loop: цикл ждёт решения человека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05686-E46A-47EA-9AEF-3789E91F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6465B-3387-45D1-8394-163C51A0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238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73-273">
            <a:extLst xmlns:a="http://schemas.openxmlformats.org/drawingml/2006/main">
              <a:ext uri="{FF2B5EF4-FFF2-40B4-BE49-F238E27FC236}">
                <a16:creationId xmlns:a16="http://schemas.microsoft.com/office/drawing/2014/main" id="{50E5AA62-8839-4666-9472-32856BDA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00325"/>
            <a:ext cx="1895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АГЕНТ РАБОТАЕТ</a:t>
            </a:r>
          </a:p>
        </p:txBody>
      </p:sp>
      <p:sp>
        <p:nvSpPr>
          <p:cNvPr id="6" name="text-73-340">
            <a:extLst xmlns:a="http://schemas.openxmlformats.org/drawingml/2006/main">
              <a:ext uri="{FF2B5EF4-FFF2-40B4-BE49-F238E27FC236}">
                <a16:creationId xmlns:a16="http://schemas.microsoft.com/office/drawing/2014/main" id="{28F30130-0B57-46AE-9281-E46721E4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18954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выбирает и выполняет шаг</a:t>
            </a:r>
          </a:p>
        </p:txBody>
      </p:sp>
      <p:sp>
        <p:nvSpPr>
          <p:cNvPr id="7" name="text-305-303">
            <a:extLst xmlns:a="http://schemas.openxmlformats.org/drawingml/2006/main">
              <a:ext uri="{FF2B5EF4-FFF2-40B4-BE49-F238E27FC236}">
                <a16:creationId xmlns:a16="http://schemas.microsoft.com/office/drawing/2014/main" id="{30CA962A-F2BA-46ED-9756-13AB603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86075"/>
            <a:ext cx="381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BDDF9-D7FB-4EE1-83AD-75E170AD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238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378-273">
            <a:extLst xmlns:a="http://schemas.openxmlformats.org/drawingml/2006/main">
              <a:ext uri="{FF2B5EF4-FFF2-40B4-BE49-F238E27FC236}">
                <a16:creationId xmlns:a16="http://schemas.microsoft.com/office/drawing/2014/main" id="{3B461272-DD57-4DD7-A291-0F685754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0325"/>
            <a:ext cx="1895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ЭСКАЛАЦИЯ</a:t>
            </a:r>
          </a:p>
        </p:txBody>
      </p:sp>
      <p:sp>
        <p:nvSpPr>
          <p:cNvPr id="10" name="text-378-340">
            <a:extLst xmlns:a="http://schemas.openxmlformats.org/drawingml/2006/main">
              <a:ext uri="{FF2B5EF4-FFF2-40B4-BE49-F238E27FC236}">
                <a16:creationId xmlns:a16="http://schemas.microsoft.com/office/drawing/2014/main" id="{F480F8C5-A54D-43E0-99DB-9977075E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18954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неясность, риск или нужна оценка</a:t>
            </a:r>
          </a:p>
        </p:txBody>
      </p:sp>
      <p:sp>
        <p:nvSpPr>
          <p:cNvPr id="11" name="text-610-303">
            <a:extLst xmlns:a="http://schemas.openxmlformats.org/drawingml/2006/main">
              <a:ext uri="{FF2B5EF4-FFF2-40B4-BE49-F238E27FC236}">
                <a16:creationId xmlns:a16="http://schemas.microsoft.com/office/drawing/2014/main" id="{F95D63E9-C9F7-4FF5-96CD-DE52BFA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86075"/>
            <a:ext cx="381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36711-B218-4C11-8D41-F4B7DA4C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2238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683-273">
            <a:extLst xmlns:a="http://schemas.openxmlformats.org/drawingml/2006/main">
              <a:ext uri="{FF2B5EF4-FFF2-40B4-BE49-F238E27FC236}">
                <a16:creationId xmlns:a16="http://schemas.microsoft.com/office/drawing/2014/main" id="{EF2C7D10-EF60-4963-9948-10FE0EC1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00325"/>
            <a:ext cx="1895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РЕШЕНИЕ ЧЕЛОВЕКА</a:t>
            </a:r>
          </a:p>
        </p:txBody>
      </p:sp>
      <p:sp>
        <p:nvSpPr>
          <p:cNvPr id="14" name="text-683-340">
            <a:extLst xmlns:a="http://schemas.openxmlformats.org/drawingml/2006/main">
              <a:ext uri="{FF2B5EF4-FFF2-40B4-BE49-F238E27FC236}">
                <a16:creationId xmlns:a16="http://schemas.microsoft.com/office/drawing/2014/main" id="{F9DA85E4-A4B5-4151-8AD2-E549227F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38500"/>
            <a:ext cx="18954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уточнить, разрешить или направить</a:t>
            </a:r>
          </a:p>
        </p:txBody>
      </p:sp>
      <p:sp>
        <p:nvSpPr>
          <p:cNvPr id="15" name="text-915-303">
            <a:extLst xmlns:a="http://schemas.openxmlformats.org/drawingml/2006/main">
              <a:ext uri="{FF2B5EF4-FFF2-40B4-BE49-F238E27FC236}">
                <a16:creationId xmlns:a16="http://schemas.microsoft.com/office/drawing/2014/main" id="{FE9BC7CC-FE39-42D6-9749-ACD18B22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86075"/>
            <a:ext cx="381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08671-06C8-4595-9FB4-8221ACEB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238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988-273">
            <a:extLst xmlns:a="http://schemas.openxmlformats.org/drawingml/2006/main">
              <a:ext uri="{FF2B5EF4-FFF2-40B4-BE49-F238E27FC236}">
                <a16:creationId xmlns:a16="http://schemas.microsoft.com/office/drawing/2014/main" id="{61335F5E-6A81-4F38-9EF7-F0F4E8ED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0325"/>
            <a:ext cx="1895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 ПРОДОЛЖАЕТСЯ</a:t>
            </a:r>
          </a:p>
        </p:txBody>
      </p:sp>
      <p:sp>
        <p:nvSpPr>
          <p:cNvPr id="18" name="text-988-340">
            <a:extLst xmlns:a="http://schemas.openxmlformats.org/drawingml/2006/main">
              <a:ext uri="{FF2B5EF4-FFF2-40B4-BE49-F238E27FC236}">
                <a16:creationId xmlns:a16="http://schemas.microsoft.com/office/drawing/2014/main" id="{2C643F13-F5CF-4CC3-B3C4-ACD98171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38500"/>
            <a:ext cx="189547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решение записано в состояние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5316E-8DB8-4333-9AA0-74574092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30-518">
            <a:extLst xmlns:a="http://schemas.openxmlformats.org/drawingml/2006/main">
              <a:ext uri="{FF2B5EF4-FFF2-40B4-BE49-F238E27FC236}">
                <a16:creationId xmlns:a16="http://schemas.microsoft.com/office/drawing/2014/main" id="{9BC8CB61-B6C5-41B9-9FD5-9840DBAE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971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Без решения человека текущий процесс не продолжится</a:t>
            </a:r>
          </a:p>
        </p:txBody>
      </p:sp>
      <p:sp>
        <p:nvSpPr>
          <p:cNvPr id="21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3ED06A28-131E-4B49-A9C0-8900EDB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6414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41-34">
            <a:extLst xmlns:a="http://schemas.openxmlformats.org/drawingml/2006/main">
              <a:ext uri="{FF2B5EF4-FFF2-40B4-BE49-F238E27FC236}">
                <a16:creationId xmlns:a16="http://schemas.microsoft.com/office/drawing/2014/main" id="{F200FC39-2662-4813-8582-421944B2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 И КОНТРОЛЬ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2EAA7371-010C-4721-97C3-D694B15E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89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Самопроверка цикла не обязательно требует человека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601A8-C4C4-4839-8ADE-FE62EE1A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6EC04-C49A-477E-8582-8D6AD7A8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3143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90-233">
            <a:extLst xmlns:a="http://schemas.openxmlformats.org/drawingml/2006/main">
              <a:ext uri="{FF2B5EF4-FFF2-40B4-BE49-F238E27FC236}">
                <a16:creationId xmlns:a16="http://schemas.microsoft.com/office/drawing/2014/main" id="{5FA33095-A1CF-4F95-B756-F52C5590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АВТОМАТИЧЕСКАЯ</a:t>
            </a:r>
          </a:p>
        </p:txBody>
      </p:sp>
      <p:sp>
        <p:nvSpPr>
          <p:cNvPr id="6" name="text-90-297">
            <a:extLst xmlns:a="http://schemas.openxmlformats.org/drawingml/2006/main">
              <a:ext uri="{FF2B5EF4-FFF2-40B4-BE49-F238E27FC236}">
                <a16:creationId xmlns:a16="http://schemas.microsoft.com/office/drawing/2014/main" id="{21F969D2-9159-4414-B756-3B74DD35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78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Система проверяет сама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13027-2442-417C-A621-FC28B4EB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90-390">
            <a:extLst xmlns:a="http://schemas.openxmlformats.org/drawingml/2006/main">
              <a:ext uri="{FF2B5EF4-FFF2-40B4-BE49-F238E27FC236}">
                <a16:creationId xmlns:a16="http://schemas.microsoft.com/office/drawing/2014/main" id="{4C2B5FC4-B0B4-4444-854A-AB5A860C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667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тест · CI · схема · метрика · evaluator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14370-0AE1-405B-A09E-09A84C80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3143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70-233">
            <a:extLst xmlns:a="http://schemas.openxmlformats.org/drawingml/2006/main">
              <a:ext uri="{FF2B5EF4-FFF2-40B4-BE49-F238E27FC236}">
                <a16:creationId xmlns:a16="http://schemas.microsoft.com/office/drawing/2014/main" id="{23D45663-9A3A-406D-9E1F-C02970A6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19325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HUMAN-IN-THE-LOOP</a:t>
            </a:r>
          </a:p>
        </p:txBody>
      </p:sp>
      <p:sp>
        <p:nvSpPr>
          <p:cNvPr id="11" name="text-470-297">
            <a:extLst xmlns:a="http://schemas.openxmlformats.org/drawingml/2006/main">
              <a:ext uri="{FF2B5EF4-FFF2-40B4-BE49-F238E27FC236}">
                <a16:creationId xmlns:a16="http://schemas.microsoft.com/office/drawing/2014/main" id="{1631147F-C0B8-4016-9F9D-C0A9F6B1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88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Агент ждёт человека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E174C-D5FC-495B-AD02-A341CED9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575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0-390">
            <a:extLst xmlns:a="http://schemas.openxmlformats.org/drawingml/2006/main">
              <a:ext uri="{FF2B5EF4-FFF2-40B4-BE49-F238E27FC236}">
                <a16:creationId xmlns:a16="http://schemas.microsoft.com/office/drawing/2014/main" id="{18B5CD56-CC69-45F4-A455-B3387682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667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субъективная оценка · неоднозначность · риск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4E35A-309F-480A-8155-9DEB4D89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143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850-233">
            <a:extLst xmlns:a="http://schemas.openxmlformats.org/drawingml/2006/main">
              <a:ext uri="{FF2B5EF4-FFF2-40B4-BE49-F238E27FC236}">
                <a16:creationId xmlns:a16="http://schemas.microsoft.com/office/drawing/2014/main" id="{622FCD11-A1BC-40C0-BD3E-167DCE52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19325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ПОСЛЕ ЗАПУСКА</a:t>
            </a:r>
          </a:p>
        </p:txBody>
      </p:sp>
      <p:sp>
        <p:nvSpPr>
          <p:cNvPr id="16" name="text-850-297">
            <a:extLst xmlns:a="http://schemas.openxmlformats.org/drawingml/2006/main">
              <a:ext uri="{FF2B5EF4-FFF2-40B4-BE49-F238E27FC236}">
                <a16:creationId xmlns:a16="http://schemas.microsoft.com/office/drawing/2014/main" id="{EF362E05-9280-4F9C-A132-0E4DA0D6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28925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08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Человек смотрит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7E323-D2B9-4C5F-89ED-F97D4689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575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850-390">
            <a:extLst xmlns:a="http://schemas.openxmlformats.org/drawingml/2006/main">
              <a:ext uri="{FF2B5EF4-FFF2-40B4-BE49-F238E27FC236}">
                <a16:creationId xmlns:a16="http://schemas.microsoft.com/office/drawing/2014/main" id="{9E50C4B7-3557-477B-B8B9-D2624D5A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667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ревью PR или отчёта не становится частью цикла автоматически</a:t>
            </a:r>
          </a:p>
        </p:txBody>
      </p:sp>
      <p:sp>
        <p:nvSpPr>
          <p:cNvPr id="19" name="text-105-545">
            <a:extLst xmlns:a="http://schemas.openxmlformats.org/drawingml/2006/main">
              <a:ext uri="{FF2B5EF4-FFF2-40B4-BE49-F238E27FC236}">
                <a16:creationId xmlns:a16="http://schemas.microsoft.com/office/drawing/2014/main" id="{3BD06289-FE29-42C1-8922-D8585AC9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Автоматическая обратная связь и human-in-the-loop — разные механизмы</a:t>
            </a:r>
          </a:p>
        </p:txBody>
      </p:sp>
      <p:sp>
        <p:nvSpPr>
          <p:cNvPr id="20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032430BD-36A6-4E40-BC4A-9C5C351F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392736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1-34">
            <a:extLst xmlns:a="http://schemas.openxmlformats.org/drawingml/2006/main">
              <a:ext uri="{FF2B5EF4-FFF2-40B4-BE49-F238E27FC236}">
                <a16:creationId xmlns:a16="http://schemas.microsoft.com/office/drawing/2014/main" id="{2FE8681B-FEB2-4645-A6E8-4DBFEA78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CODER-АГЕНТ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6DB4C47E-59A4-4C5D-A379-B1DA9D8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Практика: retry платежа может списать деньги дважды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DD1A8-09AA-4E81-B655-06FC31D4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E5A6B-33DE-4EF0-BDD8-76D265DF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4762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82-215">
            <a:extLst xmlns:a="http://schemas.openxmlformats.org/drawingml/2006/main">
              <a:ext uri="{FF2B5EF4-FFF2-40B4-BE49-F238E27FC236}">
                <a16:creationId xmlns:a16="http://schemas.microsoft.com/office/drawing/2014/main" id="{D53218FB-821D-4EED-B092-84ACC3EC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СИМПТОМ</a:t>
            </a:r>
          </a:p>
        </p:txBody>
      </p:sp>
      <p:sp>
        <p:nvSpPr>
          <p:cNvPr id="6" name="text-82-265">
            <a:extLst xmlns:a="http://schemas.openxmlformats.org/drawingml/2006/main">
              <a:ext uri="{FF2B5EF4-FFF2-40B4-BE49-F238E27FC236}">
                <a16:creationId xmlns:a16="http://schemas.microsoft.com/office/drawing/2014/main" id="{1A4D5A56-1862-4C04-9259-E31B8212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4000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t>503 → retry → 200</a:t>
            </a:r>
          </a:p>
        </p:txBody>
      </p:sp>
      <p:sp>
        <p:nvSpPr>
          <p:cNvPr id="7" name="text-82-335">
            <a:extLst xmlns:a="http://schemas.openxmlformats.org/drawingml/2006/main">
              <a:ext uri="{FF2B5EF4-FFF2-40B4-BE49-F238E27FC236}">
                <a16:creationId xmlns:a16="http://schemas.microsoft.com/office/drawing/2014/main" id="{15F30C73-355D-429C-92AE-47BE1B80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000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Каждая попытка получает
новый idempotency key</a:t>
            </a:r>
          </a:p>
        </p:txBody>
      </p:sp>
      <p:sp>
        <p:nvSpPr>
          <p:cNvPr id="8" name="text-82-448">
            <a:extLst xmlns:a="http://schemas.openxmlformats.org/drawingml/2006/main">
              <a:ext uri="{FF2B5EF4-FFF2-40B4-BE49-F238E27FC236}">
                <a16:creationId xmlns:a16="http://schemas.microsoft.com/office/drawing/2014/main" id="{FBD77EB3-6347-4ACD-9F7E-EE07389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3905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4841"/>
                </a:solidFill>
                <a:latin typeface="Helvetica Neue"/>
                <a:ea typeface="Helvetica Neue"/>
                <a:cs typeface="Helvetica Neue"/>
              </a:defRPr>
            </a:pPr>
            <a:r>
              <a:t>Риск: шлюз считает retry новым платежом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7E15E-4510-48E2-BC44-C30DD598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5334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650-215">
            <a:extLst xmlns:a="http://schemas.openxmlformats.org/drawingml/2006/main">
              <a:ext uri="{FF2B5EF4-FFF2-40B4-BE49-F238E27FC236}">
                <a16:creationId xmlns:a16="http://schemas.microsoft.com/office/drawing/2014/main" id="{1CCEC69D-4955-42EE-85CB-45360304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УСЛОВИЯ ИСПРАВЛЕНИЯ</a:t>
            </a:r>
          </a:p>
        </p:txBody>
      </p:sp>
      <p:sp>
        <p:nvSpPr>
          <p:cNvPr id="11" name="text-650-270">
            <a:extLst xmlns:a="http://schemas.openxmlformats.org/drawingml/2006/main">
              <a:ext uri="{FF2B5EF4-FFF2-40B4-BE49-F238E27FC236}">
                <a16:creationId xmlns:a16="http://schemas.microsoft.com/office/drawing/2014/main" id="{EB8C4C1A-D707-4D31-B7FA-345B0B43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572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Один charge() — один key для всех retry
2. Новый платёж — новый key
3. Ошибка 4xx не повторяется
4. После правки весь suite зелёный</a:t>
            </a:r>
          </a:p>
        </p:txBody>
      </p:sp>
      <p:sp>
        <p:nvSpPr>
          <p:cNvPr id="12" name="text-100-575">
            <a:extLst xmlns:a="http://schemas.openxmlformats.org/drawingml/2006/main">
              <a:ext uri="{FF2B5EF4-FFF2-40B4-BE49-F238E27FC236}">
                <a16:creationId xmlns:a16="http://schemas.microsoft.com/office/drawing/2014/main" id="{1CA813B6-369D-462C-81E7-FA5A7387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t>ai-course/04/sample_repo/payments/client.py</a:t>
            </a:r>
          </a:p>
        </p:txBody>
      </p:sp>
      <p:sp>
        <p:nvSpPr>
          <p:cNvPr id="13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7C3B4A4F-EB98-4EB7-B4B1-6CAB2A43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039038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1-34">
            <a:extLst xmlns:a="http://schemas.openxmlformats.org/drawingml/2006/main">
              <a:ext uri="{FF2B5EF4-FFF2-40B4-BE49-F238E27FC236}">
                <a16:creationId xmlns:a16="http://schemas.microsoft.com/office/drawing/2014/main" id="{814D118F-A6FA-451E-B4A3-CB3DEC1F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CODER-АГЕНТ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FF202C2F-9230-448E-8BC2-BB18A18F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 заканчивается только после зелёного теста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27CFC-6A74-4D09-8A7F-0778C291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26EE7-5F06-434F-AD8C-27B10800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5A6E6-BEF5-4F5D-BEA1-5FE0C1F6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41"/>
          </a:solidFill>
        </p:spPr>
      </p:sp>
      <p:sp>
        <p:nvSpPr>
          <p:cNvPr id="6" name="text-90-225">
            <a:extLst xmlns:a="http://schemas.openxmlformats.org/drawingml/2006/main">
              <a:ext uri="{FF2B5EF4-FFF2-40B4-BE49-F238E27FC236}">
                <a16:creationId xmlns:a16="http://schemas.microsoft.com/office/drawing/2014/main" id="{46B07E8A-C747-40FD-A51C-423CDABF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4841"/>
                </a:solidFill>
                <a:latin typeface="Helvetica Neue"/>
                <a:ea typeface="Helvetica Neue"/>
                <a:cs typeface="Helvetica Neue"/>
              </a:defRPr>
            </a:pPr>
            <a:r>
              <a:t>TEST</a:t>
            </a:r>
          </a:p>
        </p:txBody>
      </p:sp>
      <p:sp>
        <p:nvSpPr>
          <p:cNvPr id="7" name="text-90-360">
            <a:extLst xmlns:a="http://schemas.openxmlformats.org/drawingml/2006/main">
              <a:ext uri="{FF2B5EF4-FFF2-40B4-BE49-F238E27FC236}">
                <a16:creationId xmlns:a16="http://schemas.microsoft.com/office/drawing/2014/main" id="{D467F0D2-5142-4342-8D17-87D7F16A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666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failed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29EFC-CCBA-469C-8B23-4AB138D6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text-310-225">
            <a:extLst xmlns:a="http://schemas.openxmlformats.org/drawingml/2006/main">
              <a:ext uri="{FF2B5EF4-FFF2-40B4-BE49-F238E27FC236}">
                <a16:creationId xmlns:a16="http://schemas.microsoft.com/office/drawing/2014/main" id="{5BC72E4C-10BD-4D69-9699-E3F8420D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</p:txBody>
      </p:sp>
      <p:sp>
        <p:nvSpPr>
          <p:cNvPr id="10" name="text-310-360">
            <a:extLst xmlns:a="http://schemas.openxmlformats.org/drawingml/2006/main">
              <a:ext uri="{FF2B5EF4-FFF2-40B4-BE49-F238E27FC236}">
                <a16:creationId xmlns:a16="http://schemas.microsoft.com/office/drawing/2014/main" id="{3E30E927-569B-48D6-A8F5-4F74692A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666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код +
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A8EC5-28FB-4EEC-8128-144E80BD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43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134"/>
          </a:solidFill>
        </p:spPr>
      </p:sp>
      <p:sp>
        <p:nvSpPr>
          <p:cNvPr id="12" name="text-530-225">
            <a:extLst xmlns:a="http://schemas.openxmlformats.org/drawingml/2006/main">
              <a:ext uri="{FF2B5EF4-FFF2-40B4-BE49-F238E27FC236}">
                <a16:creationId xmlns:a16="http://schemas.microsoft.com/office/drawing/2014/main" id="{B9039859-A3DC-42DE-B7D9-DEA2CD25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43125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defRPr>
            </a:pPr>
            <a:r>
              <a:t>ASK</a:t>
            </a:r>
          </a:p>
        </p:txBody>
      </p:sp>
      <p:sp>
        <p:nvSpPr>
          <p:cNvPr id="13" name="text-530-360">
            <a:extLst xmlns:a="http://schemas.openxmlformats.org/drawingml/2006/main">
              <a:ext uri="{FF2B5EF4-FFF2-40B4-BE49-F238E27FC236}">
                <a16:creationId xmlns:a16="http://schemas.microsoft.com/office/drawing/2014/main" id="{8C4C248E-6080-4C2E-A91B-F1B07AC5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1666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разрешение
на запись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149B5-BF32-4C1E-9BCD-30418AC5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43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text-750-225">
            <a:extLst xmlns:a="http://schemas.openxmlformats.org/drawingml/2006/main">
              <a:ext uri="{FF2B5EF4-FFF2-40B4-BE49-F238E27FC236}">
                <a16:creationId xmlns:a16="http://schemas.microsoft.com/office/drawing/2014/main" id="{0BE17221-20AA-4883-A5AD-55AD03B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43125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WRITE</a:t>
            </a:r>
          </a:p>
        </p:txBody>
      </p:sp>
      <p:sp>
        <p:nvSpPr>
          <p:cNvPr id="16" name="text-750-360">
            <a:extLst xmlns:a="http://schemas.openxmlformats.org/drawingml/2006/main">
              <a:ext uri="{FF2B5EF4-FFF2-40B4-BE49-F238E27FC236}">
                <a16:creationId xmlns:a16="http://schemas.microsoft.com/office/drawing/2014/main" id="{F49FB90C-5814-4BD0-BC19-CE5BECCD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1666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изменён
1 файл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4A0B2-64FA-459D-A538-B2FCA2AF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8" name="text-970-225">
            <a:extLst xmlns:a="http://schemas.openxmlformats.org/drawingml/2006/main">
              <a:ext uri="{FF2B5EF4-FFF2-40B4-BE49-F238E27FC236}">
                <a16:creationId xmlns:a16="http://schemas.microsoft.com/office/drawing/2014/main" id="{90902D2B-FF5C-4A28-8C06-5C95AF24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TEST</a:t>
            </a:r>
          </a:p>
        </p:txBody>
      </p:sp>
      <p:sp>
        <p:nvSpPr>
          <p:cNvPr id="19" name="text-970-360">
            <a:extLst xmlns:a="http://schemas.openxmlformats.org/drawingml/2006/main">
              <a:ext uri="{FF2B5EF4-FFF2-40B4-BE49-F238E27FC236}">
                <a16:creationId xmlns:a16="http://schemas.microsoft.com/office/drawing/2014/main" id="{C2C280D1-FA81-4B70-B84C-8DA50A2E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666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новый
exit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DA7E6-0801-4B4A-93D0-9F4690D5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0958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105-516">
            <a:extLst xmlns:a="http://schemas.openxmlformats.org/drawingml/2006/main">
              <a:ext uri="{FF2B5EF4-FFF2-40B4-BE49-F238E27FC236}">
                <a16:creationId xmlns:a16="http://schemas.microsoft.com/office/drawing/2014/main" id="{64D88460-FCEC-45EA-B921-F6C63177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14900"/>
            <a:ext cx="46196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4841"/>
                </a:solidFill>
                <a:latin typeface="Helvetica Neue"/>
                <a:ea typeface="Helvetica Neue"/>
                <a:cs typeface="Helvetica Neue"/>
              </a:defRPr>
            </a:pPr>
            <a:r>
              <a:t>exit_code ≠ 0 → evaluator: no → следующий шаг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5E557-C890-497B-B861-3C7B9D88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0958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690-516">
            <a:extLst xmlns:a="http://schemas.openxmlformats.org/drawingml/2006/main">
              <a:ext uri="{FF2B5EF4-FFF2-40B4-BE49-F238E27FC236}">
                <a16:creationId xmlns:a16="http://schemas.microsoft.com/office/drawing/2014/main" id="{26F0A6C5-7930-4FA2-B8FC-0A924994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46196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8A5B"/>
                </a:solidFill>
                <a:latin typeface="Helvetica Neue"/>
                <a:ea typeface="Helvetica Neue"/>
                <a:cs typeface="Helvetica Neue"/>
              </a:defRPr>
            </a:pPr>
            <a:r>
              <a:t>exit_code = 0 → evaluator: yes → finish</a:t>
            </a:r>
          </a:p>
        </p:txBody>
      </p:sp>
      <p:sp>
        <p:nvSpPr>
          <p:cNvPr id="24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29C0D1A4-D088-4E83-83D7-76B4D7C8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307170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1-34">
            <a:extLst xmlns:a="http://schemas.openxmlformats.org/drawingml/2006/main">
              <a:ext uri="{FF2B5EF4-FFF2-40B4-BE49-F238E27FC236}">
                <a16:creationId xmlns:a16="http://schemas.microsoft.com/office/drawing/2014/main" id="{2483802A-46AB-4C26-AF31-E342ACD1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AAEEB7A3-DA5F-4CD6-8F89-7A7A0700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Тест проверяет риск повторного списания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44D4B-E19B-49D6-BE81-E230ECA7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5-205">
            <a:extLst xmlns:a="http://schemas.openxmlformats.org/drawingml/2006/main">
              <a:ext uri="{FF2B5EF4-FFF2-40B4-BE49-F238E27FC236}">
                <a16:creationId xmlns:a16="http://schemas.microsoft.com/office/drawing/2014/main" id="{D9774C15-56E8-431E-B74F-9DC1A2DF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4841"/>
                </a:solidFill>
                <a:latin typeface="Helvetica Neue"/>
                <a:ea typeface="Helvetica Neue"/>
                <a:cs typeface="Helvetica Neue"/>
              </a:defRPr>
            </a:pPr>
            <a:r>
              <a:t>До правки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DEED4-58D8-4576-974A-6741FC08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105-295">
            <a:extLst xmlns:a="http://schemas.openxmlformats.org/drawingml/2006/main">
              <a:ext uri="{FF2B5EF4-FFF2-40B4-BE49-F238E27FC236}">
                <a16:creationId xmlns:a16="http://schemas.microsoft.com/office/drawing/2014/main" id="{F3A23831-9987-468B-B438-8FCFBB65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400050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4841"/>
                </a:solidFill>
                <a:latin typeface="Courier New"/>
                <a:ea typeface="Courier New"/>
                <a:cs typeface="Courier New"/>
              </a:defRPr>
            </a:pPr>
            <a:r>
              <a:t>attempt 1 → key=A
attempt 2 → key=B
assert A == B → failed</a:t>
            </a:r>
          </a:p>
        </p:txBody>
      </p:sp>
      <p:sp>
        <p:nvSpPr>
          <p:cNvPr id="7" name="text-715-205">
            <a:extLst xmlns:a="http://schemas.openxmlformats.org/drawingml/2006/main">
              <a:ext uri="{FF2B5EF4-FFF2-40B4-BE49-F238E27FC236}">
                <a16:creationId xmlns:a16="http://schemas.microsoft.com/office/drawing/2014/main" id="{1F7D5DAB-8BC9-4C82-9126-2A5E53C9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8A5B"/>
                </a:solidFill>
                <a:latin typeface="Helvetica Neue"/>
                <a:ea typeface="Helvetica Neue"/>
                <a:cs typeface="Helvetica Neue"/>
              </a:defRPr>
            </a:pPr>
            <a:r>
              <a:t>После правки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15E53-2475-4FD0-9083-6EC3E26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24125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755-295">
            <a:extLst xmlns:a="http://schemas.openxmlformats.org/drawingml/2006/main">
              <a:ext uri="{FF2B5EF4-FFF2-40B4-BE49-F238E27FC236}">
                <a16:creationId xmlns:a16="http://schemas.microsoft.com/office/drawing/2014/main" id="{7C184227-88E7-4D2E-922B-628BAA34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00050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8A5B"/>
                </a:solidFill>
                <a:latin typeface="Courier New"/>
                <a:ea typeface="Courier New"/>
                <a:cs typeface="Courier New"/>
              </a:defRPr>
            </a:pPr>
            <a:r>
              <a:t>attempt 1 → key=A
attempt 2 → key=A
pytest → 4 passed</a:t>
            </a:r>
          </a:p>
        </p:txBody>
      </p:sp>
      <p:sp>
        <p:nvSpPr>
          <p:cNvPr id="10" name="text-90-520">
            <a:extLst xmlns:a="http://schemas.openxmlformats.org/drawingml/2006/main">
              <a:ext uri="{FF2B5EF4-FFF2-40B4-BE49-F238E27FC236}">
                <a16:creationId xmlns:a16="http://schemas.microsoft.com/office/drawing/2014/main" id="{1AAF9C4A-6B94-4693-A285-7AC239B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Ключ новый для каждой операции, но один и тот же для retry одной операции</a:t>
            </a:r>
          </a:p>
        </p:txBody>
      </p:sp>
      <p:sp>
        <p:nvSpPr>
          <p:cNvPr id="11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B84E4CE9-6713-470E-9886-E5FFB357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102586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1-34">
            <a:extLst xmlns:a="http://schemas.openxmlformats.org/drawingml/2006/main">
              <a:ext uri="{FF2B5EF4-FFF2-40B4-BE49-F238E27FC236}">
                <a16:creationId xmlns:a16="http://schemas.microsoft.com/office/drawing/2014/main" id="{44A254AA-CE80-4ED5-96CE-D44E353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ПРАВА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E8098B6C-4E37-48F6-8C8C-DB1E7740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Описание инструмента не даёт права на запись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235C9-24D0-47DA-A98F-E28171DE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03CFD-4EF9-402B-9580-C35D5509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4953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75-233">
            <a:extLst xmlns:a="http://schemas.openxmlformats.org/drawingml/2006/main">
              <a:ext uri="{FF2B5EF4-FFF2-40B4-BE49-F238E27FC236}">
                <a16:creationId xmlns:a16="http://schemas.microsoft.com/office/drawing/2014/main" id="{3B6CCF38-5F49-45A2-842E-0ED817AB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28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видит модель</a:t>
            </a:r>
          </a:p>
        </p:txBody>
      </p:sp>
      <p:sp>
        <p:nvSpPr>
          <p:cNvPr id="6" name="text-90-300">
            <a:extLst xmlns:a="http://schemas.openxmlformats.org/drawingml/2006/main">
              <a:ext uri="{FF2B5EF4-FFF2-40B4-BE49-F238E27FC236}">
                <a16:creationId xmlns:a16="http://schemas.microsoft.com/office/drawing/2014/main" id="{A237ED82-4FC3-4D05-8A51-F0D12EA7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95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t>write_file(
  file_name: string,
  new_content: string
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317ED-3ABA-4540-A177-9CC00379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953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05-233">
            <a:extLst xmlns:a="http://schemas.openxmlformats.org/drawingml/2006/main">
              <a:ext uri="{FF2B5EF4-FFF2-40B4-BE49-F238E27FC236}">
                <a16:creationId xmlns:a16="http://schemas.microsoft.com/office/drawing/2014/main" id="{68CFC682-3BCD-4BBD-8A61-3478658F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19325"/>
            <a:ext cx="428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проверяет программа</a:t>
            </a:r>
          </a:p>
        </p:txBody>
      </p:sp>
      <p:sp>
        <p:nvSpPr>
          <p:cNvPr id="9" name="text-720-300">
            <a:extLst xmlns:a="http://schemas.openxmlformats.org/drawingml/2006/main">
              <a:ext uri="{FF2B5EF4-FFF2-40B4-BE49-F238E27FC236}">
                <a16:creationId xmlns:a16="http://schemas.microsoft.com/office/drawing/2014/main" id="{BA7E4AC1-C839-4EDB-8FB4-3971E569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095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путь внутри workspace
• аргументы соответствуют схеме
• человек разрешил запись
• прошлый зелёный тест сброшен</a:t>
            </a:r>
          </a:p>
        </p:txBody>
      </p:sp>
      <p:sp>
        <p:nvSpPr>
          <p:cNvPr id="10" name="text-90-520">
            <a:extLst xmlns:a="http://schemas.openxmlformats.org/drawingml/2006/main">
              <a:ext uri="{FF2B5EF4-FFF2-40B4-BE49-F238E27FC236}">
                <a16:creationId xmlns:a16="http://schemas.microsoft.com/office/drawing/2014/main" id="{574E8C3F-C04F-48C0-BC3C-961398D4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Схема объясняет команду модели. Право на действие выдаёт программа или человек.</a:t>
            </a:r>
          </a:p>
        </p:txBody>
      </p:sp>
      <p:sp>
        <p:nvSpPr>
          <p:cNvPr id="11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9D88B3E8-FA90-43CD-A1CC-B544DE4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062798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1-34">
            <a:extLst xmlns:a="http://schemas.openxmlformats.org/drawingml/2006/main">
              <a:ext uri="{FF2B5EF4-FFF2-40B4-BE49-F238E27FC236}">
                <a16:creationId xmlns:a16="http://schemas.microsoft.com/office/drawing/2014/main" id="{4E9FFBCD-DBCD-46ED-82F5-03BF3DAF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HUMAN-IN-THE-LOOP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105107FA-F25B-4C9C-BD4D-FD40618B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HITL: запись ждёт решения человека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02618-B227-4DB4-A9EC-5181E5F8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AE91B-D181-4FB6-A0EC-A0B9F80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3286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80-240">
            <a:extLst xmlns:a="http://schemas.openxmlformats.org/drawingml/2006/main">
              <a:ext uri="{FF2B5EF4-FFF2-40B4-BE49-F238E27FC236}">
                <a16:creationId xmlns:a16="http://schemas.microsoft.com/office/drawing/2014/main" id="{AF6D53FF-C17A-4D85-8DCC-C8E5B967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6" name="text-80-305">
            <a:extLst xmlns:a="http://schemas.openxmlformats.org/drawingml/2006/main">
              <a:ext uri="{FF2B5EF4-FFF2-40B4-BE49-F238E27FC236}">
                <a16:creationId xmlns:a16="http://schemas.microsoft.com/office/drawing/2014/main" id="{2251F5D1-13D0-418E-BAE8-132B15AB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714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Агент предлагает
новое содержимое</a:t>
            </a:r>
          </a:p>
        </p:txBody>
      </p:sp>
      <p:sp>
        <p:nvSpPr>
          <p:cNvPr id="7" name="text-420-285">
            <a:extLst xmlns:a="http://schemas.openxmlformats.org/drawingml/2006/main">
              <a:ext uri="{FF2B5EF4-FFF2-40B4-BE49-F238E27FC236}">
                <a16:creationId xmlns:a16="http://schemas.microsoft.com/office/drawing/2014/main" id="{2E23B5FB-C13B-4471-B9AA-E9B7EA72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2679B-10E4-415C-8C79-647EFEF2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47875"/>
            <a:ext cx="3286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535-240">
            <a:extLst xmlns:a="http://schemas.openxmlformats.org/drawingml/2006/main">
              <a:ext uri="{FF2B5EF4-FFF2-40B4-BE49-F238E27FC236}">
                <a16:creationId xmlns:a16="http://schemas.microsoft.com/office/drawing/2014/main" id="{232B7BB2-EBD2-4418-A2D6-8B756947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860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0" name="text-535-305">
            <a:extLst xmlns:a="http://schemas.openxmlformats.org/drawingml/2006/main">
              <a:ext uri="{FF2B5EF4-FFF2-40B4-BE49-F238E27FC236}">
                <a16:creationId xmlns:a16="http://schemas.microsoft.com/office/drawing/2014/main" id="{407EB59A-BBE1-44CC-9F6B-0EA50B40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05125"/>
            <a:ext cx="2714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Человек видит новый текст
и даёт разрешение</a:t>
            </a:r>
          </a:p>
        </p:txBody>
      </p:sp>
      <p:sp>
        <p:nvSpPr>
          <p:cNvPr id="11" name="text-875-285">
            <a:extLst xmlns:a="http://schemas.openxmlformats.org/drawingml/2006/main">
              <a:ext uri="{FF2B5EF4-FFF2-40B4-BE49-F238E27FC236}">
                <a16:creationId xmlns:a16="http://schemas.microsoft.com/office/drawing/2014/main" id="{8581110D-C6F5-4134-8A02-7301834C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14625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900D6-4A94-4C2B-B707-2313B8DA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47875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990-240">
            <a:extLst xmlns:a="http://schemas.openxmlformats.org/drawingml/2006/main">
              <a:ext uri="{FF2B5EF4-FFF2-40B4-BE49-F238E27FC236}">
                <a16:creationId xmlns:a16="http://schemas.microsoft.com/office/drawing/2014/main" id="{E65DA124-0D22-4109-9D7E-A53AD350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4" name="text-990-305">
            <a:extLst xmlns:a="http://schemas.openxmlformats.org/drawingml/2006/main">
              <a:ext uri="{FF2B5EF4-FFF2-40B4-BE49-F238E27FC236}">
                <a16:creationId xmlns:a16="http://schemas.microsoft.com/office/drawing/2014/main" id="{7BB5ACE8-FB5B-49A1-9B87-2977EBED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05125"/>
            <a:ext cx="1952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
продолжается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4DE23-1DCC-4721-85EA-F7DC9C70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50-526">
            <a:extLst xmlns:a="http://schemas.openxmlformats.org/drawingml/2006/main">
              <a:ext uri="{FF2B5EF4-FFF2-40B4-BE49-F238E27FC236}">
                <a16:creationId xmlns:a16="http://schemas.microsoft.com/office/drawing/2014/main" id="{85143533-9700-47F4-AA87-429FB698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33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write_file ждёт input человека; без ответа текущий цикл не продолжится</a:t>
            </a:r>
          </a:p>
        </p:txBody>
      </p:sp>
      <p:sp>
        <p:nvSpPr>
          <p:cNvPr id="17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1D6E2DC2-6553-456B-A8BE-61797F56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117214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1-34">
            <a:extLst xmlns:a="http://schemas.openxmlformats.org/drawingml/2006/main">
              <a:ext uri="{FF2B5EF4-FFF2-40B4-BE49-F238E27FC236}">
                <a16:creationId xmlns:a16="http://schemas.microsoft.com/office/drawing/2014/main" id="{A9F3DEBF-73D4-4FA9-A3FA-1876A423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ЗАВЕРШЕНИЕ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502703E7-50E0-4465-BE0A-29E535C7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Задача не завершена без свежего зелёного теста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43E21-078C-4578-859F-EFE265E5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5-205">
            <a:extLst xmlns:a="http://schemas.openxmlformats.org/drawingml/2006/main">
              <a:ext uri="{FF2B5EF4-FFF2-40B4-BE49-F238E27FC236}">
                <a16:creationId xmlns:a16="http://schemas.microsoft.com/office/drawing/2014/main" id="{0F4DF638-EEA9-4F52-AAF1-5707C865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00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4841"/>
                </a:solidFill>
                <a:latin typeface="Helvetica Neue"/>
                <a:ea typeface="Helvetica Neue"/>
                <a:cs typeface="Helvetica Neue"/>
              </a:defRPr>
            </a:pPr>
            <a:r>
              <a:t>Недостаточно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A8540-00C2-4FDB-906F-99FEDD46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105-305">
            <a:extLst xmlns:a="http://schemas.openxmlformats.org/drawingml/2006/main">
              <a:ext uri="{FF2B5EF4-FFF2-40B4-BE49-F238E27FC236}">
                <a16:creationId xmlns:a16="http://schemas.microsoft.com/office/drawing/2014/main" id="{689B7FD8-DE0F-428F-9A43-4A7B6445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400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«Кажется, retry исправлен»</a:t>
            </a:r>
          </a:p>
        </p:txBody>
      </p:sp>
      <p:sp>
        <p:nvSpPr>
          <p:cNvPr id="7" name="text-105-375">
            <a:extLst xmlns:a="http://schemas.openxmlformats.org/drawingml/2006/main">
              <a:ext uri="{FF2B5EF4-FFF2-40B4-BE49-F238E27FC236}">
                <a16:creationId xmlns:a16="http://schemas.microsoft.com/office/drawing/2014/main" id="{6D9FFE78-CAC7-4F7B-82A9-2D099B85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ответ модели</a:t>
            </a:r>
          </a:p>
        </p:txBody>
      </p:sp>
      <p:sp>
        <p:nvSpPr>
          <p:cNvPr id="8" name="text-690-205">
            <a:extLst xmlns:a="http://schemas.openxmlformats.org/drawingml/2006/main">
              <a:ext uri="{FF2B5EF4-FFF2-40B4-BE49-F238E27FC236}">
                <a16:creationId xmlns:a16="http://schemas.microsoft.com/office/drawing/2014/main" id="{3D84AAB1-0962-4B94-9F96-00BDF84B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8A5B"/>
                </a:solidFill>
                <a:latin typeface="Helvetica Neue"/>
                <a:ea typeface="Helvetica Neue"/>
                <a:cs typeface="Helvetica Neue"/>
              </a:defRPr>
            </a:pPr>
            <a:r>
              <a:t>Достаточно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47B23-C7D0-483E-AB01-E61DAC60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730-300">
            <a:extLst xmlns:a="http://schemas.openxmlformats.org/drawingml/2006/main">
              <a:ext uri="{FF2B5EF4-FFF2-40B4-BE49-F238E27FC236}">
                <a16:creationId xmlns:a16="http://schemas.microsoft.com/office/drawing/2014/main" id="{0E7D6F2E-C3F8-47EA-87EE-545B767D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000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t>client.py changed
pytest → 4 passed</a:t>
            </a:r>
          </a:p>
        </p:txBody>
      </p:sp>
      <p:sp>
        <p:nvSpPr>
          <p:cNvPr id="11" name="text-730-382">
            <a:extLst xmlns:a="http://schemas.openxmlformats.org/drawingml/2006/main">
              <a:ext uri="{FF2B5EF4-FFF2-40B4-BE49-F238E27FC236}">
                <a16:creationId xmlns:a16="http://schemas.microsoft.com/office/drawing/2014/main" id="{D40F92C9-BD93-4150-B618-D8821F1D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правка + свежая проверка</a:t>
            </a:r>
          </a:p>
        </p:txBody>
      </p:sp>
      <p:sp>
        <p:nvSpPr>
          <p:cNvPr id="12" name="text-100-515">
            <a:extLst xmlns:a="http://schemas.openxmlformats.org/drawingml/2006/main">
              <a:ext uri="{FF2B5EF4-FFF2-40B4-BE49-F238E27FC236}">
                <a16:creationId xmlns:a16="http://schemas.microsoft.com/office/drawing/2014/main" id="{F7EACB85-C30B-4988-BC52-9F56007B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Любая следующая запись снова делает результат непроверенным</a:t>
            </a:r>
          </a:p>
        </p:txBody>
      </p:sp>
      <p:sp>
        <p:nvSpPr>
          <p:cNvPr id="13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E4CB9D35-FAF2-4E20-AB02-995F4115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0302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41-34">
            <a:extLst xmlns:a="http://schemas.openxmlformats.org/drawingml/2006/main">
              <a:ext uri="{FF2B5EF4-FFF2-40B4-BE49-F238E27FC236}">
                <a16:creationId xmlns:a16="http://schemas.microsoft.com/office/drawing/2014/main" id="{FF33FE4B-5872-41CB-98D4-4E6FD4CC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НАБЛЮДАЕМОСТЬ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3800E37C-FD82-494A-A8A8-7B6BF0EF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Журнал запуска отвечает на вопрос «что произошло?»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782EE-414A-4FC0-B2F9-0150CB9D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11E1D-1072-4F2A-BDD3-D1A6FB40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10871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96-205">
            <a:extLst xmlns:a="http://schemas.openxmlformats.org/drawingml/2006/main">
              <a:ext uri="{FF2B5EF4-FFF2-40B4-BE49-F238E27FC236}">
                <a16:creationId xmlns:a16="http://schemas.microsoft.com/office/drawing/2014/main" id="{5A89DA58-6CA0-4540-9B86-1A4D396D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3190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01 run_tests         2 failed
02 evaluator          no — continue
03 read_file          payments/client.py
04 read_file          tests/test_payment_client.py
05 write_file         waiting for approval
06 user_approval      allowed
07 write_file         written
08 run_tests          4 passed
09 evaluator          yes — finish</a:t>
            </a:r>
          </a:p>
        </p:txBody>
      </p:sp>
      <p:sp>
        <p:nvSpPr>
          <p:cNvPr id="6" name="text-85-595">
            <a:extLst xmlns:a="http://schemas.openxmlformats.org/drawingml/2006/main">
              <a:ext uri="{FF2B5EF4-FFF2-40B4-BE49-F238E27FC236}">
                <a16:creationId xmlns:a16="http://schemas.microsoft.com/office/drawing/2014/main" id="{BDA45588-6ADC-4E29-A4A5-1AE9C97A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67375"/>
            <a:ext cx="1057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Trace хранит действия, входы, результаты, ошибки и причины остановки — не скрытые рассуждения модели</a:t>
            </a:r>
          </a:p>
        </p:txBody>
      </p:sp>
      <p:sp>
        <p:nvSpPr>
          <p:cNvPr id="7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39CC528F-77F8-4D58-9667-0F06963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413330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41-34">
            <a:extLst xmlns:a="http://schemas.openxmlformats.org/drawingml/2006/main">
              <a:ext uri="{FF2B5EF4-FFF2-40B4-BE49-F238E27FC236}">
                <a16:creationId xmlns:a16="http://schemas.microsoft.com/office/drawing/2014/main" id="{C937D0A7-B441-4E35-966A-26573C2E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ЛОКАЛЬНАЯ LLM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4FA5AB31-7933-46C5-9049-9E8BFE3A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Провайдер отделяет агента от конкретной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0BD4F-EE5D-4107-A393-4D2A03FB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5642C-5BF1-481E-A8F1-09F6CA2D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457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85-243">
            <a:extLst xmlns:a="http://schemas.openxmlformats.org/drawingml/2006/main">
              <a:ext uri="{FF2B5EF4-FFF2-40B4-BE49-F238E27FC236}">
                <a16:creationId xmlns:a16="http://schemas.microsoft.com/office/drawing/2014/main" id="{60D8BEE8-51CD-4494-90E5-80B5115E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Облачная модель</a:t>
            </a:r>
          </a:p>
        </p:txBody>
      </p:sp>
      <p:sp>
        <p:nvSpPr>
          <p:cNvPr id="6" name="text-85-325">
            <a:extLst xmlns:a="http://schemas.openxmlformats.org/drawingml/2006/main">
              <a:ext uri="{FF2B5EF4-FFF2-40B4-BE49-F238E27FC236}">
                <a16:creationId xmlns:a16="http://schemas.microsoft.com/office/drawing/2014/main" id="{7B4500EA-86A3-46B3-A0A4-E681D2E1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5625"/>
            <a:ext cx="3905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Responses / Chat / Gemini
ключ и вычисления в облаке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4E5FC-A848-4F59-8CB4-9B1169F6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0250"/>
            <a:ext cx="457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75-243">
            <a:extLst xmlns:a="http://schemas.openxmlformats.org/drawingml/2006/main">
              <a:ext uri="{FF2B5EF4-FFF2-40B4-BE49-F238E27FC236}">
                <a16:creationId xmlns:a16="http://schemas.microsoft.com/office/drawing/2014/main" id="{DA8A37D0-3612-4EE3-BABC-8D2B262A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14575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Локальная модель</a:t>
            </a:r>
          </a:p>
        </p:txBody>
      </p:sp>
      <p:sp>
        <p:nvSpPr>
          <p:cNvPr id="9" name="text-775-325">
            <a:extLst xmlns:a="http://schemas.openxmlformats.org/drawingml/2006/main">
              <a:ext uri="{FF2B5EF4-FFF2-40B4-BE49-F238E27FC236}">
                <a16:creationId xmlns:a16="http://schemas.microsoft.com/office/drawing/2014/main" id="{75692BBF-424A-4E9D-8A4F-AD5E8777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95625"/>
            <a:ext cx="3905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Ollama / LM Studio / vLLM
вычисления на вашем сервере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675B7-D6A9-437C-9075-67BE8719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285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F50F6-334D-4A8F-9599-6840BCD6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28950"/>
            <a:ext cx="285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92FA9-6A9A-4F6A-8189-12DE41A9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90950"/>
            <a:ext cx="2057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684CB-53C1-45F0-B570-AFCA19D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90950"/>
            <a:ext cx="285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6476F-5F82-4E77-B5B7-FF2DC83C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5295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480-500">
            <a:extLst xmlns:a="http://schemas.openxmlformats.org/drawingml/2006/main">
              <a:ext uri="{FF2B5EF4-FFF2-40B4-BE49-F238E27FC236}">
                <a16:creationId xmlns:a16="http://schemas.microsoft.com/office/drawing/2014/main" id="{F6E54D51-6FAB-420A-B3B9-AD2404E2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304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ModelProvider</a:t>
            </a:r>
          </a:p>
        </p:txBody>
      </p:sp>
      <p:sp>
        <p:nvSpPr>
          <p:cNvPr id="16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32067333-BD67-47BA-B5F0-7B8F4C4E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322724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1-34">
            <a:extLst xmlns:a="http://schemas.openxmlformats.org/drawingml/2006/main">
              <a:ext uri="{FF2B5EF4-FFF2-40B4-BE49-F238E27FC236}">
                <a16:creationId xmlns:a16="http://schemas.microsoft.com/office/drawing/2014/main" id="{4F1CA262-008F-42B0-9848-25280C79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ЛОКАЛЬНАЯ LLM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8C698B7F-E3C4-487F-9AEE-E07AB4D7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Локальная модель работает отдельным сервисом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629E7-835B-411E-B98A-70E557B1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51642-4068-4931-85B7-5BB3E0B8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952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78-280">
            <a:extLst xmlns:a="http://schemas.openxmlformats.org/drawingml/2006/main">
              <a:ext uri="{FF2B5EF4-FFF2-40B4-BE49-F238E27FC236}">
                <a16:creationId xmlns:a16="http://schemas.microsoft.com/office/drawing/2014/main" id="{54941835-C18E-40AD-BF2B-9432537B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6097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CLI / IDE</a:t>
            </a:r>
          </a:p>
        </p:txBody>
      </p:sp>
      <p:sp>
        <p:nvSpPr>
          <p:cNvPr id="6" name="text-279-289">
            <a:extLst xmlns:a="http://schemas.openxmlformats.org/drawingml/2006/main">
              <a:ext uri="{FF2B5EF4-FFF2-40B4-BE49-F238E27FC236}">
                <a16:creationId xmlns:a16="http://schemas.microsoft.com/office/drawing/2014/main" id="{4258D5E1-2D91-4E70-BAC3-2EE99A91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52725"/>
            <a:ext cx="457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B3871-B56C-4692-B5B2-84950A0D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33625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-353-280">
            <a:extLst xmlns:a="http://schemas.openxmlformats.org/drawingml/2006/main">
              <a:ext uri="{FF2B5EF4-FFF2-40B4-BE49-F238E27FC236}">
                <a16:creationId xmlns:a16="http://schemas.microsoft.com/office/drawing/2014/main" id="{2843D916-1C57-4D18-89CF-B97CBF43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67000"/>
            <a:ext cx="184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Кодер-агент</a:t>
            </a:r>
          </a:p>
        </p:txBody>
      </p:sp>
      <p:sp>
        <p:nvSpPr>
          <p:cNvPr id="9" name="text-579-289">
            <a:extLst xmlns:a="http://schemas.openxmlformats.org/drawingml/2006/main">
              <a:ext uri="{FF2B5EF4-FFF2-40B4-BE49-F238E27FC236}">
                <a16:creationId xmlns:a16="http://schemas.microsoft.com/office/drawing/2014/main" id="{C0A999A4-9DA1-4C29-B6EF-4273D478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752725"/>
            <a:ext cx="457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0DCC6-EEFE-460C-B2A6-9A803BF5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33625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-653-280">
            <a:extLst xmlns:a="http://schemas.openxmlformats.org/drawingml/2006/main">
              <a:ext uri="{FF2B5EF4-FFF2-40B4-BE49-F238E27FC236}">
                <a16:creationId xmlns:a16="http://schemas.microsoft.com/office/drawing/2014/main" id="{2EC36F14-2540-4F43-ACBC-7CF75C54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67000"/>
            <a:ext cx="1943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9183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OpenAI-
совместимый API</a:t>
            </a:r>
          </a:p>
        </p:txBody>
      </p:sp>
      <p:sp>
        <p:nvSpPr>
          <p:cNvPr id="12" name="text-889-289">
            <a:extLst xmlns:a="http://schemas.openxmlformats.org/drawingml/2006/main">
              <a:ext uri="{FF2B5EF4-FFF2-40B4-BE49-F238E27FC236}">
                <a16:creationId xmlns:a16="http://schemas.microsoft.com/office/drawing/2014/main" id="{10230B99-4AA0-4FB0-87F2-13F30C19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52725"/>
            <a:ext cx="457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9B86C-7C68-4307-9874-58C5D375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63-280">
            <a:extLst xmlns:a="http://schemas.openxmlformats.org/drawingml/2006/main">
              <a:ext uri="{FF2B5EF4-FFF2-40B4-BE49-F238E27FC236}">
                <a16:creationId xmlns:a16="http://schemas.microsoft.com/office/drawing/2014/main" id="{67E7B47B-8896-452E-891F-34591392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67000"/>
            <a:ext cx="1847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Сервер модели</a:t>
            </a:r>
          </a:p>
        </p:txBody>
      </p:sp>
      <p:sp>
        <p:nvSpPr>
          <p:cNvPr id="15" name="text-120-480">
            <a:extLst xmlns:a="http://schemas.openxmlformats.org/drawingml/2006/main">
              <a:ext uri="{FF2B5EF4-FFF2-40B4-BE49-F238E27FC236}">
                <a16:creationId xmlns:a16="http://schemas.microsoft.com/office/drawing/2014/main" id="{4EE20679-ACA0-477E-9438-D20555E7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Инструменты выполняет код агента. Модель только выбирает следующий вызов.</a:t>
            </a:r>
          </a:p>
        </p:txBody>
      </p:sp>
      <p:sp>
        <p:nvSpPr>
          <p:cNvPr id="16" name="text-150-545">
            <a:extLst xmlns:a="http://schemas.openxmlformats.org/drawingml/2006/main">
              <a:ext uri="{FF2B5EF4-FFF2-40B4-BE49-F238E27FC236}">
                <a16:creationId xmlns:a16="http://schemas.microsoft.com/office/drawing/2014/main" id="{40E25845-C240-4086-A64F-0DE4E780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Поэтому локальную LLM можно подключить к тому же loop без отдельного бота.</a:t>
            </a:r>
          </a:p>
        </p:txBody>
      </p:sp>
      <p:sp>
        <p:nvSpPr>
          <p:cNvPr id="17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EF9669BB-65D0-49A7-A55E-11ECD306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239302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41-34">
            <a:extLst xmlns:a="http://schemas.openxmlformats.org/drawingml/2006/main">
              <a:ext uri="{FF2B5EF4-FFF2-40B4-BE49-F238E27FC236}">
                <a16:creationId xmlns:a16="http://schemas.microsoft.com/office/drawing/2014/main" id="{EEA50A78-31D5-4848-9E23-69BB5064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ЛОКАЛЬНАЯ LLM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28DB555C-8D3A-4C1A-891C-9A698A7C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Локальная модель может корректно не справиться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80163-92FA-4115-8C6F-4C6E4572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5-205">
            <a:extLst xmlns:a="http://schemas.openxmlformats.org/drawingml/2006/main">
              <a:ext uri="{FF2B5EF4-FFF2-40B4-BE49-F238E27FC236}">
                <a16:creationId xmlns:a16="http://schemas.microsoft.com/office/drawing/2014/main" id="{CF92FD79-B3BA-424D-8B7A-D0D92A71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38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 вызвала tool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C51DE-9759-4141-A9DC-1C486FE0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860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5-315">
            <a:extLst xmlns:a="http://schemas.openxmlformats.org/drawingml/2006/main">
              <a:ext uri="{FF2B5EF4-FFF2-40B4-BE49-F238E27FC236}">
                <a16:creationId xmlns:a16="http://schemas.microsoft.com/office/drawing/2014/main" id="{98FCDF6D-9F43-44B2-BB72-BA3B6336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2286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остановить без записи</a:t>
            </a:r>
          </a:p>
        </p:txBody>
      </p:sp>
      <p:sp>
        <p:nvSpPr>
          <p:cNvPr id="7" name="text-345-205">
            <a:extLst xmlns:a="http://schemas.openxmlformats.org/drawingml/2006/main">
              <a:ext uri="{FF2B5EF4-FFF2-40B4-BE49-F238E27FC236}">
                <a16:creationId xmlns:a16="http://schemas.microsoft.com/office/drawing/2014/main" id="{A3FD97D4-E019-4B09-A544-9DCCF154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38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94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Перепутала аргументы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99672-7932-4315-934C-DC83BA14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860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345-315">
            <a:extLst xmlns:a="http://schemas.openxmlformats.org/drawingml/2006/main">
              <a:ext uri="{FF2B5EF4-FFF2-40B4-BE49-F238E27FC236}">
                <a16:creationId xmlns:a16="http://schemas.microsoft.com/office/drawing/2014/main" id="{DD1448C6-BF4D-449B-99C4-8F1DAC7B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00375"/>
            <a:ext cx="2286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вернуть validation error</a:t>
            </a:r>
          </a:p>
        </p:txBody>
      </p:sp>
      <p:sp>
        <p:nvSpPr>
          <p:cNvPr id="10" name="text-635-205">
            <a:extLst xmlns:a="http://schemas.openxmlformats.org/drawingml/2006/main">
              <a:ext uri="{FF2B5EF4-FFF2-40B4-BE49-F238E27FC236}">
                <a16:creationId xmlns:a16="http://schemas.microsoft.com/office/drawing/2014/main" id="{83FF7CA2-6B7A-470D-A87F-9CE4833F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238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Потеряла контекст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F882B-06E5-4A3C-9D23-84E7D75A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860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35-315">
            <a:extLst xmlns:a="http://schemas.openxmlformats.org/drawingml/2006/main">
              <a:ext uri="{FF2B5EF4-FFF2-40B4-BE49-F238E27FC236}">
                <a16:creationId xmlns:a16="http://schemas.microsoft.com/office/drawing/2014/main" id="{559513A6-4AB4-4F21-AE3F-394A01EA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00375"/>
            <a:ext cx="2286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сократить или пересобрать</a:t>
            </a:r>
          </a:p>
        </p:txBody>
      </p:sp>
      <p:sp>
        <p:nvSpPr>
          <p:cNvPr id="13" name="text-925-205">
            <a:extLst xmlns:a="http://schemas.openxmlformats.org/drawingml/2006/main">
              <a:ext uri="{FF2B5EF4-FFF2-40B4-BE49-F238E27FC236}">
                <a16:creationId xmlns:a16="http://schemas.microsoft.com/office/drawing/2014/main" id="{5F3F2327-7542-4A99-B738-BB426F51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381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Зациклилась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D1D17-B928-4447-8695-966238DF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860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925-315">
            <a:extLst xmlns:a="http://schemas.openxmlformats.org/drawingml/2006/main">
              <a:ext uri="{FF2B5EF4-FFF2-40B4-BE49-F238E27FC236}">
                <a16:creationId xmlns:a16="http://schemas.microsoft.com/office/drawing/2014/main" id="{664BA83C-DC41-4306-8DA7-65237398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2286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остановить по лимиту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694FC-7D32-47A9-AE59-618DD806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028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30-486">
            <a:extLst xmlns:a="http://schemas.openxmlformats.org/drawingml/2006/main">
              <a:ext uri="{FF2B5EF4-FFF2-40B4-BE49-F238E27FC236}">
                <a16:creationId xmlns:a16="http://schemas.microsoft.com/office/drawing/2014/main" id="{CD9C34BA-A6A5-4A32-82DC-D248572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971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Хороший harness превращает ошибку модели в понятный статус и безопасную остановку</a:t>
            </a:r>
          </a:p>
        </p:txBody>
      </p:sp>
      <p:sp>
        <p:nvSpPr>
          <p:cNvPr id="18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F4768DC0-66B7-4465-B799-F9262775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974209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ext-41-34">
            <a:extLst xmlns:a="http://schemas.openxmlformats.org/drawingml/2006/main">
              <a:ext uri="{FF2B5EF4-FFF2-40B4-BE49-F238E27FC236}">
                <a16:creationId xmlns:a16="http://schemas.microsoft.com/office/drawing/2014/main" id="{9B27360E-455E-4E96-AD99-7C0EDCFC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ЛОКАЛЬНАЯ LLM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71061037-359D-49B2-8D76-EF8673E7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Шесть локальных моделей: от роутера до сервера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279F2-D8DD-4670-A99D-C82A8602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0-165">
            <a:extLst xmlns:a="http://schemas.openxmlformats.org/drawingml/2006/main">
              <a:ext uri="{FF2B5EF4-FFF2-40B4-BE49-F238E27FC236}">
                <a16:creationId xmlns:a16="http://schemas.microsoft.com/office/drawing/2014/main" id="{4419CD99-CA53-408D-955D-37AC7998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1625"/>
            <a:ext cx="29241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</a:t>
            </a:r>
          </a:p>
        </p:txBody>
      </p:sp>
      <p:sp>
        <p:nvSpPr>
          <p:cNvPr id="5" name="text-373-165">
            <a:extLst xmlns:a="http://schemas.openxmlformats.org/drawingml/2006/main">
              <a:ext uri="{FF2B5EF4-FFF2-40B4-BE49-F238E27FC236}">
                <a16:creationId xmlns:a16="http://schemas.microsoft.com/office/drawing/2014/main" id="{CAE75585-C0A6-4310-A758-12DF059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571625"/>
            <a:ext cx="17526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0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Ориентир по железу*</a:t>
            </a:r>
          </a:p>
        </p:txBody>
      </p:sp>
      <p:sp>
        <p:nvSpPr>
          <p:cNvPr id="6" name="text-573-165">
            <a:extLst xmlns:a="http://schemas.openxmlformats.org/drawingml/2006/main">
              <a:ext uri="{FF2B5EF4-FFF2-40B4-BE49-F238E27FC236}">
                <a16:creationId xmlns:a16="http://schemas.microsoft.com/office/drawing/2014/main" id="{4A6D574D-9193-41FD-858C-AC812EC7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571625"/>
            <a:ext cx="30384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Роль</a:t>
            </a:r>
          </a:p>
        </p:txBody>
      </p:sp>
      <p:sp>
        <p:nvSpPr>
          <p:cNvPr id="7" name="text-908-165">
            <a:extLst xmlns:a="http://schemas.openxmlformats.org/drawingml/2006/main">
              <a:ext uri="{FF2B5EF4-FFF2-40B4-BE49-F238E27FC236}">
                <a16:creationId xmlns:a16="http://schemas.microsoft.com/office/drawing/2014/main" id="{633B5020-2726-48C7-B561-2C7C32FD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71625"/>
            <a:ext cx="26574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Комментарий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D165C-D9A3-41BB-BACC-0CC94E29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10982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F3DE0-977F-4F1C-B9C2-8EFE415F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0982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0-226">
            <a:extLst xmlns:a="http://schemas.openxmlformats.org/drawingml/2006/main">
              <a:ext uri="{FF2B5EF4-FFF2-40B4-BE49-F238E27FC236}">
                <a16:creationId xmlns:a16="http://schemas.microsoft.com/office/drawing/2014/main" id="{817741AF-0A9D-4647-80BA-557B9807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2924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FunctionGemma 270M</a:t>
            </a:r>
          </a:p>
        </p:txBody>
      </p:sp>
      <p:sp>
        <p:nvSpPr>
          <p:cNvPr id="11" name="text-373-226">
            <a:extLst xmlns:a="http://schemas.openxmlformats.org/drawingml/2006/main">
              <a:ext uri="{FF2B5EF4-FFF2-40B4-BE49-F238E27FC236}">
                <a16:creationId xmlns:a16="http://schemas.microsoft.com/office/drawing/2014/main" id="{B2579ED2-3D22-4A52-9869-3E2003D1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52650"/>
            <a:ext cx="1752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минимальный</a:t>
            </a:r>
          </a:p>
        </p:txBody>
      </p:sp>
      <p:sp>
        <p:nvSpPr>
          <p:cNvPr id="12" name="text-573-226">
            <a:extLst xmlns:a="http://schemas.openxmlformats.org/drawingml/2006/main">
              <a:ext uri="{FF2B5EF4-FFF2-40B4-BE49-F238E27FC236}">
                <a16:creationId xmlns:a16="http://schemas.microsoft.com/office/drawing/2014/main" id="{D2015A14-60C9-4E91-8C3F-3DD70647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152650"/>
            <a:ext cx="3038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выбор узкого набора функций</a:t>
            </a:r>
          </a:p>
        </p:txBody>
      </p:sp>
      <p:sp>
        <p:nvSpPr>
          <p:cNvPr id="13" name="text-908-226">
            <a:extLst xmlns:a="http://schemas.openxmlformats.org/drawingml/2006/main">
              <a:ext uri="{FF2B5EF4-FFF2-40B4-BE49-F238E27FC236}">
                <a16:creationId xmlns:a16="http://schemas.microsoft.com/office/drawing/2014/main" id="{8A8C3059-8191-4588-BA66-64829B00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52650"/>
            <a:ext cx="2657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нужен fine-tuning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E6747-8A01-407A-846C-242048A3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50-292">
            <a:extLst xmlns:a="http://schemas.openxmlformats.org/drawingml/2006/main">
              <a:ext uri="{FF2B5EF4-FFF2-40B4-BE49-F238E27FC236}">
                <a16:creationId xmlns:a16="http://schemas.microsoft.com/office/drawing/2014/main" id="{4C0696BC-3414-4F37-B328-2FDFC76A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2924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Gemma 4 12B</a:t>
            </a:r>
          </a:p>
        </p:txBody>
      </p:sp>
      <p:sp>
        <p:nvSpPr>
          <p:cNvPr id="16" name="text-373-292">
            <a:extLst xmlns:a="http://schemas.openxmlformats.org/drawingml/2006/main">
              <a:ext uri="{FF2B5EF4-FFF2-40B4-BE49-F238E27FC236}">
                <a16:creationId xmlns:a16="http://schemas.microsoft.com/office/drawing/2014/main" id="{96E881F6-F781-4F15-86EB-C9A21F0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81300"/>
            <a:ext cx="1752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ноутбук / Mac</a:t>
            </a:r>
          </a:p>
        </p:txBody>
      </p:sp>
      <p:sp>
        <p:nvSpPr>
          <p:cNvPr id="17" name="text-573-292">
            <a:extLst xmlns:a="http://schemas.openxmlformats.org/drawingml/2006/main">
              <a:ext uri="{FF2B5EF4-FFF2-40B4-BE49-F238E27FC236}">
                <a16:creationId xmlns:a16="http://schemas.microsoft.com/office/drawing/2014/main" id="{EEE0F0A2-F163-4719-B05C-3324C739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81300"/>
            <a:ext cx="3038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чат, код, native tools</a:t>
            </a:r>
          </a:p>
        </p:txBody>
      </p:sp>
      <p:sp>
        <p:nvSpPr>
          <p:cNvPr id="18" name="text-908-292">
            <a:extLst xmlns:a="http://schemas.openxmlformats.org/drawingml/2006/main">
              <a:ext uri="{FF2B5EF4-FFF2-40B4-BE49-F238E27FC236}">
                <a16:creationId xmlns:a16="http://schemas.microsoft.com/office/drawing/2014/main" id="{ADC23846-665A-4F0D-862F-4D291A46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657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хороша для демо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774D2-2061-4B92-A2BB-A74F6EAA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0CDBD-1781-4F42-B73B-BDBDE7ED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0982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50-358">
            <a:extLst xmlns:a="http://schemas.openxmlformats.org/drawingml/2006/main">
              <a:ext uri="{FF2B5EF4-FFF2-40B4-BE49-F238E27FC236}">
                <a16:creationId xmlns:a16="http://schemas.microsoft.com/office/drawing/2014/main" id="{FCBE9D68-237F-4392-9DE2-12589E6D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2924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gpt-oss-20b</a:t>
            </a:r>
          </a:p>
        </p:txBody>
      </p:sp>
      <p:sp>
        <p:nvSpPr>
          <p:cNvPr id="22" name="text-373-358">
            <a:extLst xmlns:a="http://schemas.openxmlformats.org/drawingml/2006/main">
              <a:ext uri="{FF2B5EF4-FFF2-40B4-BE49-F238E27FC236}">
                <a16:creationId xmlns:a16="http://schemas.microsoft.com/office/drawing/2014/main" id="{2C7DE2C0-BDB1-43EC-A498-CFCA7239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09950"/>
            <a:ext cx="1752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≈16 GB памяти</a:t>
            </a:r>
          </a:p>
        </p:txBody>
      </p:sp>
      <p:sp>
        <p:nvSpPr>
          <p:cNvPr id="23" name="text-573-358">
            <a:extLst xmlns:a="http://schemas.openxmlformats.org/drawingml/2006/main">
              <a:ext uri="{FF2B5EF4-FFF2-40B4-BE49-F238E27FC236}">
                <a16:creationId xmlns:a16="http://schemas.microsoft.com/office/drawing/2014/main" id="{F54CC641-9CFD-4F8C-8092-BF7E9333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409950"/>
            <a:ext cx="3038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agentic tool use</a:t>
            </a:r>
          </a:p>
        </p:txBody>
      </p:sp>
      <p:sp>
        <p:nvSpPr>
          <p:cNvPr id="24" name="text-908-358">
            <a:extLst xmlns:a="http://schemas.openxmlformats.org/drawingml/2006/main">
              <a:ext uri="{FF2B5EF4-FFF2-40B4-BE49-F238E27FC236}">
                <a16:creationId xmlns:a16="http://schemas.microsoft.com/office/drawing/2014/main" id="{D8518934-8C15-4369-95FB-5E199508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9950"/>
            <a:ext cx="2657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сильный универсал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D17F9-30D9-4CD1-9429-87A1065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50-424">
            <a:extLst xmlns:a="http://schemas.openxmlformats.org/drawingml/2006/main">
              <a:ext uri="{FF2B5EF4-FFF2-40B4-BE49-F238E27FC236}">
                <a16:creationId xmlns:a16="http://schemas.microsoft.com/office/drawing/2014/main" id="{6D7681D2-BBF3-4052-99FD-CE502305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38600"/>
            <a:ext cx="2924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Qwen3-Coder 30B-A3B</a:t>
            </a:r>
          </a:p>
        </p:txBody>
      </p:sp>
      <p:sp>
        <p:nvSpPr>
          <p:cNvPr id="27" name="text-373-424">
            <a:extLst xmlns:a="http://schemas.openxmlformats.org/drawingml/2006/main">
              <a:ext uri="{FF2B5EF4-FFF2-40B4-BE49-F238E27FC236}">
                <a16:creationId xmlns:a16="http://schemas.microsoft.com/office/drawing/2014/main" id="{D42B2E8F-2BBE-4C4A-8535-D58BB073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38600"/>
            <a:ext cx="1752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рабочая станция</a:t>
            </a:r>
          </a:p>
        </p:txBody>
      </p:sp>
      <p:sp>
        <p:nvSpPr>
          <p:cNvPr id="28" name="text-573-424">
            <a:extLst xmlns:a="http://schemas.openxmlformats.org/drawingml/2006/main">
              <a:ext uri="{FF2B5EF4-FFF2-40B4-BE49-F238E27FC236}">
                <a16:creationId xmlns:a16="http://schemas.microsoft.com/office/drawing/2014/main" id="{B2FD7E7D-833A-4EA8-9093-36C08BCD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038600"/>
            <a:ext cx="3038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код и вызовы tools</a:t>
            </a:r>
          </a:p>
        </p:txBody>
      </p:sp>
      <p:sp>
        <p:nvSpPr>
          <p:cNvPr id="29" name="text-908-424">
            <a:extLst xmlns:a="http://schemas.openxmlformats.org/drawingml/2006/main">
              <a:ext uri="{FF2B5EF4-FFF2-40B4-BE49-F238E27FC236}">
                <a16:creationId xmlns:a16="http://schemas.microsoft.com/office/drawing/2014/main" id="{8B89AE0C-59D3-43D8-98D5-B1159F76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657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coding-first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204B9-4313-41B4-B454-B5FD74B4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828285-5285-4688-8B1C-13E0E2ED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0982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50-490">
            <a:extLst xmlns:a="http://schemas.openxmlformats.org/drawingml/2006/main">
              <a:ext uri="{FF2B5EF4-FFF2-40B4-BE49-F238E27FC236}">
                <a16:creationId xmlns:a16="http://schemas.microsoft.com/office/drawing/2014/main" id="{E28716ED-C33A-4A9F-9007-41F3A5BE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67250"/>
            <a:ext cx="2924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Qwen3.6-35B-A3B</a:t>
            </a:r>
          </a:p>
        </p:txBody>
      </p:sp>
      <p:sp>
        <p:nvSpPr>
          <p:cNvPr id="33" name="text-373-490">
            <a:extLst xmlns:a="http://schemas.openxmlformats.org/drawingml/2006/main">
              <a:ext uri="{FF2B5EF4-FFF2-40B4-BE49-F238E27FC236}">
                <a16:creationId xmlns:a16="http://schemas.microsoft.com/office/drawing/2014/main" id="{2EBFF939-5039-42FA-BD46-8E83D73D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667250"/>
            <a:ext cx="1752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0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24 GB GPU / 64 GB Mac</a:t>
            </a:r>
          </a:p>
        </p:txBody>
      </p:sp>
      <p:sp>
        <p:nvSpPr>
          <p:cNvPr id="34" name="text-573-490">
            <a:extLst xmlns:a="http://schemas.openxmlformats.org/drawingml/2006/main">
              <a:ext uri="{FF2B5EF4-FFF2-40B4-BE49-F238E27FC236}">
                <a16:creationId xmlns:a16="http://schemas.microsoft.com/office/drawing/2014/main" id="{30DAECE4-0136-4715-BFBC-D44C7C88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667250"/>
            <a:ext cx="3038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локальный coding agent</a:t>
            </a:r>
          </a:p>
        </p:txBody>
      </p:sp>
      <p:sp>
        <p:nvSpPr>
          <p:cNvPr id="35" name="text-908-490">
            <a:extLst xmlns:a="http://schemas.openxmlformats.org/drawingml/2006/main">
              <a:ext uri="{FF2B5EF4-FFF2-40B4-BE49-F238E27FC236}">
                <a16:creationId xmlns:a16="http://schemas.microsoft.com/office/drawing/2014/main" id="{98422C5C-6204-4800-9BD6-6A478942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2657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рекомендация OpenHands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48579F-4781-4274-B0E1-C34758E1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50-556">
            <a:extLst xmlns:a="http://schemas.openxmlformats.org/drawingml/2006/main">
              <a:ext uri="{FF2B5EF4-FFF2-40B4-BE49-F238E27FC236}">
                <a16:creationId xmlns:a16="http://schemas.microsoft.com/office/drawing/2014/main" id="{61E827A3-85B1-461D-BEAD-FB2429E4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5900"/>
            <a:ext cx="2924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gpt-oss-120b</a:t>
            </a:r>
          </a:p>
        </p:txBody>
      </p:sp>
      <p:sp>
        <p:nvSpPr>
          <p:cNvPr id="38" name="text-373-556">
            <a:extLst xmlns:a="http://schemas.openxmlformats.org/drawingml/2006/main">
              <a:ext uri="{FF2B5EF4-FFF2-40B4-BE49-F238E27FC236}">
                <a16:creationId xmlns:a16="http://schemas.microsoft.com/office/drawing/2014/main" id="{3A833C86-FDFF-4254-BE80-09414940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295900"/>
            <a:ext cx="1752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сервер / 80 GB GPU</a:t>
            </a:r>
          </a:p>
        </p:txBody>
      </p:sp>
      <p:sp>
        <p:nvSpPr>
          <p:cNvPr id="39" name="text-573-556">
            <a:extLst xmlns:a="http://schemas.openxmlformats.org/drawingml/2006/main">
              <a:ext uri="{FF2B5EF4-FFF2-40B4-BE49-F238E27FC236}">
                <a16:creationId xmlns:a16="http://schemas.microsoft.com/office/drawing/2014/main" id="{A1835A79-0EF7-4610-AF64-50C16930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95900"/>
            <a:ext cx="3038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сложные agentic задачи</a:t>
            </a:r>
          </a:p>
        </p:txBody>
      </p:sp>
      <p:sp>
        <p:nvSpPr>
          <p:cNvPr id="40" name="text-908-556">
            <a:extLst xmlns:a="http://schemas.openxmlformats.org/drawingml/2006/main">
              <a:ext uri="{FF2B5EF4-FFF2-40B4-BE49-F238E27FC236}">
                <a16:creationId xmlns:a16="http://schemas.microsoft.com/office/drawing/2014/main" id="{A4E406ED-44FF-4A43-8CD7-77DC55CE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95900"/>
            <a:ext cx="26574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дорогой локальный tier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D5E038-DCF6-47CE-B3A2-A72763F3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58-626">
            <a:extLst xmlns:a="http://schemas.openxmlformats.org/drawingml/2006/main">
              <a:ext uri="{FF2B5EF4-FFF2-40B4-BE49-F238E27FC236}">
                <a16:creationId xmlns:a16="http://schemas.microsoft.com/office/drawing/2014/main" id="{FD69BABB-6BF2-434B-BFFE-B51E6335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066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* Зависит от квантования, контекста и runtime; это порядок величины, а не гарантия скорости.</a:t>
            </a:r>
          </a:p>
        </p:txBody>
      </p:sp>
      <p:sp>
        <p:nvSpPr>
          <p:cNvPr id="43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930296FA-B784-4815-87EF-4CEF7A63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394258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1-34">
            <a:extLst xmlns:a="http://schemas.openxmlformats.org/drawingml/2006/main">
              <a:ext uri="{FF2B5EF4-FFF2-40B4-BE49-F238E27FC236}">
                <a16:creationId xmlns:a16="http://schemas.microsoft.com/office/drawing/2014/main" id="{19DB0930-8564-4605-8717-92E05B7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ЛОКАЛЬНАЯ LLM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3570ECDA-2B66-4D1C-BDD4-E24F4FA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 выбирают не только по размеру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65884-B3CF-497B-A4D9-4ABCC6D0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749C1-D1B2-4374-8CEE-A61007C8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24003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86-223">
            <a:extLst xmlns:a="http://schemas.openxmlformats.org/drawingml/2006/main">
              <a:ext uri="{FF2B5EF4-FFF2-40B4-BE49-F238E27FC236}">
                <a16:creationId xmlns:a16="http://schemas.microsoft.com/office/drawing/2014/main" id="{9B44CF1E-6859-4C5E-A1AB-FB54B72E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194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TOOLS</a:t>
            </a:r>
          </a:p>
        </p:txBody>
      </p:sp>
      <p:sp>
        <p:nvSpPr>
          <p:cNvPr id="6" name="text-86-290">
            <a:extLst xmlns:a="http://schemas.openxmlformats.org/drawingml/2006/main">
              <a:ext uri="{FF2B5EF4-FFF2-40B4-BE49-F238E27FC236}">
                <a16:creationId xmlns:a16="http://schemas.microsoft.com/office/drawing/2014/main" id="{AC1DDE76-07AF-464A-AFF6-69FF2F3F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9431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18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Следует ли формату вызовов?
Умеет ли не вызывать лишнее?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B5F11-A8B8-4836-BF04-FE29D0FF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24003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74-223">
            <a:extLst xmlns:a="http://schemas.openxmlformats.org/drawingml/2006/main">
              <a:ext uri="{FF2B5EF4-FFF2-40B4-BE49-F238E27FC236}">
                <a16:creationId xmlns:a16="http://schemas.microsoft.com/office/drawing/2014/main" id="{45ADB2B1-62D5-4A3B-8510-BE255233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24075"/>
            <a:ext cx="194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КОНТЕКСТ</a:t>
            </a:r>
          </a:p>
        </p:txBody>
      </p:sp>
      <p:sp>
        <p:nvSpPr>
          <p:cNvPr id="9" name="text-374-290">
            <a:extLst xmlns:a="http://schemas.openxmlformats.org/drawingml/2006/main">
              <a:ext uri="{FF2B5EF4-FFF2-40B4-BE49-F238E27FC236}">
                <a16:creationId xmlns:a16="http://schemas.microsoft.com/office/drawing/2014/main" id="{C0FF4567-C9B0-43DB-B82D-C7FCF034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19431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Помещаются ли инструкции, repo map и результаты?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6EE2C-E235-478B-9340-D4D0E22F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57375"/>
            <a:ext cx="24003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62-223">
            <a:extLst xmlns:a="http://schemas.openxmlformats.org/drawingml/2006/main">
              <a:ext uri="{FF2B5EF4-FFF2-40B4-BE49-F238E27FC236}">
                <a16:creationId xmlns:a16="http://schemas.microsoft.com/office/drawing/2014/main" id="{2BDF8AED-2542-43F3-ACEF-B9F2FCD3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24075"/>
            <a:ext cx="194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КАЧЕСТВО</a:t>
            </a:r>
          </a:p>
        </p:txBody>
      </p:sp>
      <p:sp>
        <p:nvSpPr>
          <p:cNvPr id="12" name="text-662-290">
            <a:extLst xmlns:a="http://schemas.openxmlformats.org/drawingml/2006/main">
              <a:ext uri="{FF2B5EF4-FFF2-40B4-BE49-F238E27FC236}">
                <a16:creationId xmlns:a16="http://schemas.microsoft.com/office/drawing/2014/main" id="{60615A7C-B544-4DA4-8FA0-089EB994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9431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Решает ли задачи вашего типа, а не только HumanEval?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194A4-8E5B-4A4C-82B6-3F8A8438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57375"/>
            <a:ext cx="24003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950-223">
            <a:extLst xmlns:a="http://schemas.openxmlformats.org/drawingml/2006/main">
              <a:ext uri="{FF2B5EF4-FFF2-40B4-BE49-F238E27FC236}">
                <a16:creationId xmlns:a16="http://schemas.microsoft.com/office/drawing/2014/main" id="{4F5B4BFF-847A-408E-A136-BEBC534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24075"/>
            <a:ext cx="194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ЭКСПЛУАТАЦИЯ</a:t>
            </a:r>
          </a:p>
        </p:txBody>
      </p:sp>
      <p:sp>
        <p:nvSpPr>
          <p:cNvPr id="15" name="text-950-290">
            <a:extLst xmlns:a="http://schemas.openxmlformats.org/drawingml/2006/main">
              <a:ext uri="{FF2B5EF4-FFF2-40B4-BE49-F238E27FC236}">
                <a16:creationId xmlns:a16="http://schemas.microsoft.com/office/drawing/2014/main" id="{840E2EDA-1628-4349-8447-46523DB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19431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Память, latency, license, стабильность runtime</a:t>
            </a:r>
          </a:p>
        </p:txBody>
      </p:sp>
      <p:sp>
        <p:nvSpPr>
          <p:cNvPr id="16" name="text-105-535">
            <a:extLst xmlns:a="http://schemas.openxmlformats.org/drawingml/2006/main">
              <a:ext uri="{FF2B5EF4-FFF2-40B4-BE49-F238E27FC236}">
                <a16:creationId xmlns:a16="http://schemas.microsoft.com/office/drawing/2014/main" id="{6117BE46-E3CD-44A3-BB28-16EE4BDC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Для agentic coding слабое tool use может быть важнее разницы в обычном чат-качестве</a:t>
            </a:r>
          </a:p>
        </p:txBody>
      </p:sp>
      <p:sp>
        <p:nvSpPr>
          <p:cNvPr id="17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FCBBF848-83D9-49A2-826C-6FA6BF17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757521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41-34">
            <a:extLst xmlns:a="http://schemas.openxmlformats.org/drawingml/2006/main">
              <a:ext uri="{FF2B5EF4-FFF2-40B4-BE49-F238E27FC236}">
                <a16:creationId xmlns:a16="http://schemas.microsoft.com/office/drawing/2014/main" id="{1841CC9E-5EC8-4704-9ABB-D81081D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АГЕНТЫ ДЛЯ РАЗРАБОТКИ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C129A966-AF02-400D-8762-7E058E59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Готовые агенты: четыре разных сценария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AEFCF-631E-4DD4-B300-1FC21832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0-178">
            <a:extLst xmlns:a="http://schemas.openxmlformats.org/drawingml/2006/main">
              <a:ext uri="{FF2B5EF4-FFF2-40B4-BE49-F238E27FC236}">
                <a16:creationId xmlns:a16="http://schemas.microsoft.com/office/drawing/2014/main" id="{C4CAAC66-2DDD-404B-B0EA-0F459A8B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20193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Инструмент</a:t>
            </a:r>
          </a:p>
        </p:txBody>
      </p:sp>
      <p:sp>
        <p:nvSpPr>
          <p:cNvPr id="5" name="text-278-178">
            <a:extLst xmlns:a="http://schemas.openxmlformats.org/drawingml/2006/main">
              <a:ext uri="{FF2B5EF4-FFF2-40B4-BE49-F238E27FC236}">
                <a16:creationId xmlns:a16="http://schemas.microsoft.com/office/drawing/2014/main" id="{DDB1AAEA-0D5C-478A-9BEF-A832D60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23241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Среда</a:t>
            </a:r>
          </a:p>
        </p:txBody>
      </p:sp>
      <p:sp>
        <p:nvSpPr>
          <p:cNvPr id="6" name="text-538-178">
            <a:extLst xmlns:a="http://schemas.openxmlformats.org/drawingml/2006/main">
              <a:ext uri="{FF2B5EF4-FFF2-40B4-BE49-F238E27FC236}">
                <a16:creationId xmlns:a16="http://schemas.microsoft.com/office/drawing/2014/main" id="{F292518D-1380-4E04-BB30-A1F9893E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95450"/>
            <a:ext cx="29908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Основной сценарий</a:t>
            </a:r>
          </a:p>
        </p:txBody>
      </p:sp>
      <p:sp>
        <p:nvSpPr>
          <p:cNvPr id="7" name="text-868-178">
            <a:extLst xmlns:a="http://schemas.openxmlformats.org/drawingml/2006/main">
              <a:ext uri="{FF2B5EF4-FFF2-40B4-BE49-F238E27FC236}">
                <a16:creationId xmlns:a16="http://schemas.microsoft.com/office/drawing/2014/main" id="{37EB28CA-62A6-4F24-878C-93001AAA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30384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добавляет к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E238B-B186-48B8-AFB4-D4F062AA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0982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2886F-8E3F-4032-9538-CB0F889B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09823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0-249">
            <a:extLst xmlns:a="http://schemas.openxmlformats.org/drawingml/2006/main">
              <a:ext uri="{FF2B5EF4-FFF2-40B4-BE49-F238E27FC236}">
                <a16:creationId xmlns:a16="http://schemas.microsoft.com/office/drawing/2014/main" id="{7F14B98D-B6F8-485F-B583-2E7508FB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7172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OpenCode</a:t>
            </a:r>
          </a:p>
        </p:txBody>
      </p:sp>
      <p:sp>
        <p:nvSpPr>
          <p:cNvPr id="11" name="text-278-249">
            <a:extLst xmlns:a="http://schemas.openxmlformats.org/drawingml/2006/main">
              <a:ext uri="{FF2B5EF4-FFF2-40B4-BE49-F238E27FC236}">
                <a16:creationId xmlns:a16="http://schemas.microsoft.com/office/drawing/2014/main" id="{0563FC54-ADEF-493B-9A1E-84630D0B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71725"/>
            <a:ext cx="2324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терминал / IDE</a:t>
            </a:r>
          </a:p>
        </p:txBody>
      </p:sp>
      <p:sp>
        <p:nvSpPr>
          <p:cNvPr id="12" name="text-538-249">
            <a:extLst xmlns:a="http://schemas.openxmlformats.org/drawingml/2006/main">
              <a:ext uri="{FF2B5EF4-FFF2-40B4-BE49-F238E27FC236}">
                <a16:creationId xmlns:a16="http://schemas.microsoft.com/office/drawing/2014/main" id="{CA7E895C-A5DB-43DA-9FBA-D320BFD5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71725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ежедневная работа с repo</a:t>
            </a:r>
          </a:p>
        </p:txBody>
      </p:sp>
      <p:sp>
        <p:nvSpPr>
          <p:cNvPr id="13" name="text-868-249">
            <a:extLst xmlns:a="http://schemas.openxmlformats.org/drawingml/2006/main">
              <a:ext uri="{FF2B5EF4-FFF2-40B4-BE49-F238E27FC236}">
                <a16:creationId xmlns:a16="http://schemas.microsoft.com/office/drawing/2014/main" id="{DA3FEC42-41D6-44A2-9BE7-89D58F25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71725"/>
            <a:ext cx="30384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 / build, permissions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BDE81-ED3A-4B4C-8618-714E1145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50-337">
            <a:extLst xmlns:a="http://schemas.openxmlformats.org/drawingml/2006/main">
              <a:ext uri="{FF2B5EF4-FFF2-40B4-BE49-F238E27FC236}">
                <a16:creationId xmlns:a16="http://schemas.microsoft.com/office/drawing/2014/main" id="{6CB5C387-DE83-49F6-AF53-525F3089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992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OpenHands</a:t>
            </a:r>
          </a:p>
        </p:txBody>
      </p:sp>
      <p:sp>
        <p:nvSpPr>
          <p:cNvPr id="16" name="text-278-337">
            <a:extLst xmlns:a="http://schemas.openxmlformats.org/drawingml/2006/main">
              <a:ext uri="{FF2B5EF4-FFF2-40B4-BE49-F238E27FC236}">
                <a16:creationId xmlns:a16="http://schemas.microsoft.com/office/drawing/2014/main" id="{19831DE8-2A78-47F7-8072-411A0FD4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09925"/>
            <a:ext cx="2324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изолированная среда</a:t>
            </a:r>
          </a:p>
        </p:txBody>
      </p:sp>
      <p:sp>
        <p:nvSpPr>
          <p:cNvPr id="17" name="text-538-337">
            <a:extLst xmlns:a="http://schemas.openxmlformats.org/drawingml/2006/main">
              <a:ext uri="{FF2B5EF4-FFF2-40B4-BE49-F238E27FC236}">
                <a16:creationId xmlns:a16="http://schemas.microsoft.com/office/drawing/2014/main" id="{6940805A-DBAA-4A43-A9D6-8DA48259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09925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длинные coding-задачи</a:t>
            </a:r>
          </a:p>
        </p:txBody>
      </p:sp>
      <p:sp>
        <p:nvSpPr>
          <p:cNvPr id="18" name="text-868-337">
            <a:extLst xmlns:a="http://schemas.openxmlformats.org/drawingml/2006/main">
              <a:ext uri="{FF2B5EF4-FFF2-40B4-BE49-F238E27FC236}">
                <a16:creationId xmlns:a16="http://schemas.microsoft.com/office/drawing/2014/main" id="{883B5FE6-E7EC-4A97-BA77-D954895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9925"/>
            <a:ext cx="30384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terminal, browser, sandbox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7B232-1E55-4116-8B5E-F22FF40B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60241-1963-471C-9145-AE9FB708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09823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50-425">
            <a:extLst xmlns:a="http://schemas.openxmlformats.org/drawingml/2006/main">
              <a:ext uri="{FF2B5EF4-FFF2-40B4-BE49-F238E27FC236}">
                <a16:creationId xmlns:a16="http://schemas.microsoft.com/office/drawing/2014/main" id="{B889F13A-148C-4192-BA77-C3A1D261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4812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Design</a:t>
            </a:r>
          </a:p>
        </p:txBody>
      </p:sp>
      <p:sp>
        <p:nvSpPr>
          <p:cNvPr id="22" name="text-278-425">
            <a:extLst xmlns:a="http://schemas.openxmlformats.org/drawingml/2006/main">
              <a:ext uri="{FF2B5EF4-FFF2-40B4-BE49-F238E27FC236}">
                <a16:creationId xmlns:a16="http://schemas.microsoft.com/office/drawing/2014/main" id="{BE207BB7-DFA9-4EAA-B94A-E403A2B9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48125"/>
            <a:ext cx="2324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 + локальный сервис</a:t>
            </a:r>
          </a:p>
        </p:txBody>
      </p:sp>
      <p:sp>
        <p:nvSpPr>
          <p:cNvPr id="23" name="text-538-425">
            <a:extLst xmlns:a="http://schemas.openxmlformats.org/drawingml/2006/main">
              <a:ext uri="{FF2B5EF4-FFF2-40B4-BE49-F238E27FC236}">
                <a16:creationId xmlns:a16="http://schemas.microsoft.com/office/drawing/2014/main" id="{F0A8F174-F3C9-4F5A-AC0D-A163DBA1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48125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интерфейсы и preview</a:t>
            </a:r>
          </a:p>
        </p:txBody>
      </p:sp>
      <p:sp>
        <p:nvSpPr>
          <p:cNvPr id="24" name="text-868-425">
            <a:extLst xmlns:a="http://schemas.openxmlformats.org/drawingml/2006/main">
              <a:ext uri="{FF2B5EF4-FFF2-40B4-BE49-F238E27FC236}">
                <a16:creationId xmlns:a16="http://schemas.microsoft.com/office/drawing/2014/main" id="{74C39C39-7E0B-40B2-8037-B66DC755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48125"/>
            <a:ext cx="30384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запускает выбранный coding CLI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AEA45-051B-4F69-ADA1-AD03E534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50-513">
            <a:extLst xmlns:a="http://schemas.openxmlformats.org/drawingml/2006/main">
              <a:ext uri="{FF2B5EF4-FFF2-40B4-BE49-F238E27FC236}">
                <a16:creationId xmlns:a16="http://schemas.microsoft.com/office/drawing/2014/main" id="{BFD7093C-E9E0-4AF7-AEC9-15C1C970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8632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OpenClaw / NanoClaw</a:t>
            </a:r>
          </a:p>
        </p:txBody>
      </p:sp>
      <p:sp>
        <p:nvSpPr>
          <p:cNvPr id="27" name="text-278-513">
            <a:extLst xmlns:a="http://schemas.openxmlformats.org/drawingml/2006/main">
              <a:ext uri="{FF2B5EF4-FFF2-40B4-BE49-F238E27FC236}">
                <a16:creationId xmlns:a16="http://schemas.microsoft.com/office/drawing/2014/main" id="{030E93AA-2B7B-49B3-8E58-B270B0A3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86325"/>
            <a:ext cx="2324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долгоживущий сервис</a:t>
            </a:r>
          </a:p>
        </p:txBody>
      </p:sp>
      <p:sp>
        <p:nvSpPr>
          <p:cNvPr id="28" name="text-538-513">
            <a:extLst xmlns:a="http://schemas.openxmlformats.org/drawingml/2006/main">
              <a:ext uri="{FF2B5EF4-FFF2-40B4-BE49-F238E27FC236}">
                <a16:creationId xmlns:a16="http://schemas.microsoft.com/office/drawing/2014/main" id="{9AA264D9-0778-4EF9-9DA8-7772AADC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86325"/>
            <a:ext cx="2990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персональные workflows</a:t>
            </a:r>
          </a:p>
        </p:txBody>
      </p:sp>
      <p:sp>
        <p:nvSpPr>
          <p:cNvPr id="29" name="text-868-513">
            <a:extLst xmlns:a="http://schemas.openxmlformats.org/drawingml/2006/main">
              <a:ext uri="{FF2B5EF4-FFF2-40B4-BE49-F238E27FC236}">
                <a16:creationId xmlns:a16="http://schemas.microsoft.com/office/drawing/2014/main" id="{2DA6C50C-CBD2-4215-A55F-276E5F1C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86325"/>
            <a:ext cx="30384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каналы, память, изоляция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C91965-CF11-43CE-B517-2605A464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120-606">
            <a:extLst xmlns:a="http://schemas.openxmlformats.org/drawingml/2006/main">
              <a:ext uri="{FF2B5EF4-FFF2-40B4-BE49-F238E27FC236}">
                <a16:creationId xmlns:a16="http://schemas.microsoft.com/office/drawing/2014/main" id="{8DB408B2-0E4B-4EDB-BCC9-7184486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Здесь нет рейтинга: инструменты решают разные задачи.</a:t>
            </a:r>
          </a:p>
        </p:txBody>
      </p:sp>
      <p:sp>
        <p:nvSpPr>
          <p:cNvPr id="32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28F5E8A9-1E5A-4DF8-858D-97973238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361413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41-34">
            <a:extLst xmlns:a="http://schemas.openxmlformats.org/drawingml/2006/main">
              <a:ext uri="{FF2B5EF4-FFF2-40B4-BE49-F238E27FC236}">
                <a16:creationId xmlns:a16="http://schemas.microsoft.com/office/drawing/2014/main" id="{23186B3F-31B4-4EB6-9221-E235C0F1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АГЕНТЫ ДЛЯ РАЗРАБОТКИ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EB162B3B-EC3F-475F-988B-C8738D82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48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OpenCode: локальная работа с проектом через CLI или 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BB436-E9C1-4761-B1B4-28E341D1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5-205">
            <a:extLst xmlns:a="http://schemas.openxmlformats.org/drawingml/2006/main">
              <a:ext uri="{FF2B5EF4-FFF2-40B4-BE49-F238E27FC236}">
                <a16:creationId xmlns:a16="http://schemas.microsoft.com/office/drawing/2014/main" id="{4B662A0C-141D-42D0-BB53-E7F5B825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143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
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F2FC2-5542-40DD-96C8-3D51B91D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75-195">
            <a:extLst xmlns:a="http://schemas.openxmlformats.org/drawingml/2006/main">
              <a:ext uri="{FF2B5EF4-FFF2-40B4-BE49-F238E27FC236}">
                <a16:creationId xmlns:a16="http://schemas.microsoft.com/office/drawing/2014/main" id="{722C3DFC-0593-4F80-AD77-5BB39F25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57375"/>
            <a:ext cx="638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показать за 3 минуты</a:t>
            </a:r>
          </a:p>
        </p:txBody>
      </p:sp>
      <p:sp>
        <p:nvSpPr>
          <p:cNvPr id="7" name="text-475-270">
            <a:extLst xmlns:a="http://schemas.openxmlformats.org/drawingml/2006/main">
              <a:ext uri="{FF2B5EF4-FFF2-40B4-BE49-F238E27FC236}">
                <a16:creationId xmlns:a16="http://schemas.microsoft.com/office/drawing/2014/main" id="{22D621C8-670D-45E4-8D20-F41673FA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6477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plan-режим исследует проект без записи
• build-режим получает права на изменение
• tools и permissions задаются конфигурацией
• можно подключить Ollama или совместимый API</a:t>
            </a:r>
          </a:p>
        </p:txBody>
      </p:sp>
      <p:sp>
        <p:nvSpPr>
          <p:cNvPr id="8" name="text-475-520">
            <a:extLst xmlns:a="http://schemas.openxmlformats.org/drawingml/2006/main">
              <a:ext uri="{FF2B5EF4-FFF2-40B4-BE49-F238E27FC236}">
                <a16:creationId xmlns:a16="http://schemas.microsoft.com/office/drawing/2014/main" id="{97CC4FE5-B8D1-4E1F-B590-BAE092BD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6572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Это готовая реализация тех же границ: контекст → действие → permission → observation</a:t>
            </a:r>
          </a:p>
        </p:txBody>
      </p:sp>
      <p:sp>
        <p:nvSpPr>
          <p:cNvPr id="9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82104522-23A8-4BD7-8C19-107EC1A1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364224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1-34">
            <a:extLst xmlns:a="http://schemas.openxmlformats.org/drawingml/2006/main">
              <a:ext uri="{FF2B5EF4-FFF2-40B4-BE49-F238E27FC236}">
                <a16:creationId xmlns:a16="http://schemas.microsoft.com/office/drawing/2014/main" id="{11A73E26-287C-4199-86BE-0D7AAB46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АГЕНТЫ ДЛЯ РАЗРАБОТКИ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D396FD9E-4A77-4915-B3FF-6AD4F245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OpenHands и Open Design: две разные специализации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399F9-7CA5-4104-82C8-C48EE4E9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C1800-DCFD-4F52-8E25-DF0AF3D0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50958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82-225">
            <a:extLst xmlns:a="http://schemas.openxmlformats.org/drawingml/2006/main">
              <a:ext uri="{FF2B5EF4-FFF2-40B4-BE49-F238E27FC236}">
                <a16:creationId xmlns:a16="http://schemas.microsoft.com/office/drawing/2014/main" id="{610AA908-7489-4B75-BC2F-0EB1064D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333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OPENHANDS</a:t>
            </a:r>
          </a:p>
        </p:txBody>
      </p:sp>
      <p:sp>
        <p:nvSpPr>
          <p:cNvPr id="6" name="text-82-300">
            <a:extLst xmlns:a="http://schemas.openxmlformats.org/drawingml/2006/main">
              <a:ext uri="{FF2B5EF4-FFF2-40B4-BE49-F238E27FC236}">
                <a16:creationId xmlns:a16="http://schemas.microsoft.com/office/drawing/2014/main" id="{1C2BB0FD-E72F-482C-9821-8BF7E49B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333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Длительная работа над кодом</a:t>
            </a:r>
          </a:p>
        </p:txBody>
      </p:sp>
      <p:sp>
        <p:nvSpPr>
          <p:cNvPr id="7" name="text-82-360">
            <a:extLst xmlns:a="http://schemas.openxmlformats.org/drawingml/2006/main">
              <a:ext uri="{FF2B5EF4-FFF2-40B4-BE49-F238E27FC236}">
                <a16:creationId xmlns:a16="http://schemas.microsoft.com/office/drawing/2014/main" id="{2DF732E2-7AFA-4DE6-A4D5-60B8BE00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333875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терминал, файлы и браузер
• изолированная среда
• локальные LLM через LM Studio, Ollama, vLLM
• важны контекст и надёжность tool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6870C-4F25-49A7-988D-F181025F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57375"/>
            <a:ext cx="50958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77-225">
            <a:extLst xmlns:a="http://schemas.openxmlformats.org/drawingml/2006/main">
              <a:ext uri="{FF2B5EF4-FFF2-40B4-BE49-F238E27FC236}">
                <a16:creationId xmlns:a16="http://schemas.microsoft.com/office/drawing/2014/main" id="{720807AC-55A9-4CD0-96ED-8B3EBA49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43125"/>
            <a:ext cx="4333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DESIGN</a:t>
            </a:r>
          </a:p>
        </p:txBody>
      </p:sp>
      <p:sp>
        <p:nvSpPr>
          <p:cNvPr id="10" name="text-677-300">
            <a:extLst xmlns:a="http://schemas.openxmlformats.org/drawingml/2006/main">
              <a:ext uri="{FF2B5EF4-FFF2-40B4-BE49-F238E27FC236}">
                <a16:creationId xmlns:a16="http://schemas.microsoft.com/office/drawing/2014/main" id="{05D08986-C2AD-4F98-9C86-3F29A48C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57500"/>
            <a:ext cx="4333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Генерация интерфейсов и preview</a:t>
            </a:r>
          </a:p>
        </p:txBody>
      </p:sp>
      <p:sp>
        <p:nvSpPr>
          <p:cNvPr id="11" name="text-677-360">
            <a:extLst xmlns:a="http://schemas.openxmlformats.org/drawingml/2006/main">
              <a:ext uri="{FF2B5EF4-FFF2-40B4-BE49-F238E27FC236}">
                <a16:creationId xmlns:a16="http://schemas.microsoft.com/office/drawing/2014/main" id="{0133EFF1-C643-4F11-A91D-506F0D7F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29000"/>
            <a:ext cx="4333875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находит coding CLI в PATH
• запускает Codex, OpenCode, Claude Code
• применяет skills и дизайн-системы
• показывает живой результат</a:t>
            </a:r>
          </a:p>
        </p:txBody>
      </p:sp>
      <p:sp>
        <p:nvSpPr>
          <p:cNvPr id="12" name="text-100-574">
            <a:extLst xmlns:a="http://schemas.openxmlformats.org/drawingml/2006/main">
              <a:ext uri="{FF2B5EF4-FFF2-40B4-BE49-F238E27FC236}">
                <a16:creationId xmlns:a16="http://schemas.microsoft.com/office/drawing/2014/main" id="{29227EFA-C085-4710-AD56-85E0273B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28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Design — специализированная оболочка над coding agent, а не отдельная модель.</a:t>
            </a:r>
          </a:p>
        </p:txBody>
      </p:sp>
      <p:sp>
        <p:nvSpPr>
          <p:cNvPr id="13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588E5D07-BC68-424E-B9E6-9C5FA9B8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48897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1-34">
            <a:extLst xmlns:a="http://schemas.openxmlformats.org/drawingml/2006/main">
              <a:ext uri="{FF2B5EF4-FFF2-40B4-BE49-F238E27FC236}">
                <a16:creationId xmlns:a16="http://schemas.microsoft.com/office/drawing/2014/main" id="{355F752B-BC6A-4D3D-84BC-2CB9324F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БЕНЧМАРКИ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B6846DC9-363E-42E6-B430-3D3A4544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63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Бенчмарк должен соответствовать тому, что мы измеряем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E104E-EB75-4B1F-ADD5-AF5D7178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A1D1F-228F-4582-B7C6-A49C8507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2381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79-230">
            <a:extLst xmlns:a="http://schemas.openxmlformats.org/drawingml/2006/main">
              <a:ext uri="{FF2B5EF4-FFF2-40B4-BE49-F238E27FC236}">
                <a16:creationId xmlns:a16="http://schemas.microsoft.com/office/drawing/2014/main" id="{421AC32A-7CE3-4C76-9C48-FFB81C7B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907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</a:t>
            </a:r>
          </a:p>
        </p:txBody>
      </p:sp>
      <p:sp>
        <p:nvSpPr>
          <p:cNvPr id="6" name="text-79-305">
            <a:extLst xmlns:a="http://schemas.openxmlformats.org/drawingml/2006/main">
              <a:ext uri="{FF2B5EF4-FFF2-40B4-BE49-F238E27FC236}">
                <a16:creationId xmlns:a16="http://schemas.microsoft.com/office/drawing/2014/main" id="{2DD80BE4-0EAA-4E5E-A365-9B716635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05125"/>
            <a:ext cx="19240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Генерация и исправление кода
без полноценной среды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12DF2-C916-4BCA-8428-09044CA7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05000"/>
            <a:ext cx="2381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69-230">
            <a:extLst xmlns:a="http://schemas.openxmlformats.org/drawingml/2006/main">
              <a:ext uri="{FF2B5EF4-FFF2-40B4-BE49-F238E27FC236}">
                <a16:creationId xmlns:a16="http://schemas.microsoft.com/office/drawing/2014/main" id="{DF4BF557-7986-48CA-B97D-93730577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907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TOOL USE</a:t>
            </a:r>
          </a:p>
        </p:txBody>
      </p:sp>
      <p:sp>
        <p:nvSpPr>
          <p:cNvPr id="9" name="text-369-305">
            <a:extLst xmlns:a="http://schemas.openxmlformats.org/drawingml/2006/main">
              <a:ext uri="{FF2B5EF4-FFF2-40B4-BE49-F238E27FC236}">
                <a16:creationId xmlns:a16="http://schemas.microsoft.com/office/drawing/2014/main" id="{09B57835-3EC6-45C7-93C0-0D746C5E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905125"/>
            <a:ext cx="19240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Выбор функции, аргументы,
многошаговые вызовы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3A1FA-AE2D-40B2-A028-1B8937F5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05000"/>
            <a:ext cx="2381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59-230">
            <a:extLst xmlns:a="http://schemas.openxmlformats.org/drawingml/2006/main">
              <a:ext uri="{FF2B5EF4-FFF2-40B4-BE49-F238E27FC236}">
                <a16:creationId xmlns:a16="http://schemas.microsoft.com/office/drawing/2014/main" id="{5C9DD69A-8411-4CDF-B869-C061C0B7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907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АГЕНТ</a:t>
            </a:r>
          </a:p>
        </p:txBody>
      </p:sp>
      <p:sp>
        <p:nvSpPr>
          <p:cNvPr id="12" name="text-659-305">
            <a:extLst xmlns:a="http://schemas.openxmlformats.org/drawingml/2006/main">
              <a:ext uri="{FF2B5EF4-FFF2-40B4-BE49-F238E27FC236}">
                <a16:creationId xmlns:a16="http://schemas.microsoft.com/office/drawing/2014/main" id="{552F547B-3952-4DC4-B0F3-82405E3F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05125"/>
            <a:ext cx="19240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Решение issue в repo
или задачи в терминале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4CFC7-3615-4317-B946-9CF9D92E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05000"/>
            <a:ext cx="2381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949-230">
            <a:extLst xmlns:a="http://schemas.openxmlformats.org/drawingml/2006/main">
              <a:ext uri="{FF2B5EF4-FFF2-40B4-BE49-F238E27FC236}">
                <a16:creationId xmlns:a16="http://schemas.microsoft.com/office/drawing/2014/main" id="{3CC59615-F120-4B23-B25E-FB23A7B7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907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HARNESS</a:t>
            </a:r>
          </a:p>
        </p:txBody>
      </p:sp>
      <p:sp>
        <p:nvSpPr>
          <p:cNvPr id="15" name="text-949-305">
            <a:extLst xmlns:a="http://schemas.openxmlformats.org/drawingml/2006/main">
              <a:ext uri="{FF2B5EF4-FFF2-40B4-BE49-F238E27FC236}">
                <a16:creationId xmlns:a16="http://schemas.microsoft.com/office/drawing/2014/main" id="{46BE6815-23C0-4668-BE0A-E120E154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05125"/>
            <a:ext cx="19240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Одна модель и задача,
но разная обвязка</a:t>
            </a:r>
          </a:p>
        </p:txBody>
      </p:sp>
      <p:sp>
        <p:nvSpPr>
          <p:cNvPr id="16" name="text-95-535">
            <a:extLst xmlns:a="http://schemas.openxmlformats.org/drawingml/2006/main">
              <a:ext uri="{FF2B5EF4-FFF2-40B4-BE49-F238E27FC236}">
                <a16:creationId xmlns:a16="http://schemas.microsoft.com/office/drawing/2014/main" id="{C3E27604-301A-43C6-91BF-1F9DDAE2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1038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Нельзя по одному числу понять, что именно сильнее: модель, prompt, tools, среда или harness</a:t>
            </a:r>
          </a:p>
        </p:txBody>
      </p:sp>
      <p:sp>
        <p:nvSpPr>
          <p:cNvPr id="17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82CA1189-4064-416D-9923-58FE9229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966703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41-34">
            <a:extLst xmlns:a="http://schemas.openxmlformats.org/drawingml/2006/main">
              <a:ext uri="{FF2B5EF4-FFF2-40B4-BE49-F238E27FC236}">
                <a16:creationId xmlns:a16="http://schemas.microsoft.com/office/drawing/2014/main" id="{4FC0DEE1-11E8-478A-8779-C812F82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БЕНЧМАРКИ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AA3ECE0E-3757-49B9-B2AE-3E424F71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Примеры бенчмарков для разных уровней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F5284-A096-4E87-A1A2-27E50F5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0-172">
            <a:extLst xmlns:a="http://schemas.openxmlformats.org/drawingml/2006/main">
              <a:ext uri="{FF2B5EF4-FFF2-40B4-BE49-F238E27FC236}">
                <a16:creationId xmlns:a16="http://schemas.microsoft.com/office/drawing/2014/main" id="{1827E98D-79B7-4883-AF98-CE5DFDF6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Бенчмарк</a:t>
            </a:r>
          </a:p>
        </p:txBody>
      </p:sp>
      <p:sp>
        <p:nvSpPr>
          <p:cNvPr id="5" name="text-308-172">
            <a:extLst xmlns:a="http://schemas.openxmlformats.org/drawingml/2006/main">
              <a:ext uri="{FF2B5EF4-FFF2-40B4-BE49-F238E27FC236}">
                <a16:creationId xmlns:a16="http://schemas.microsoft.com/office/drawing/2014/main" id="{A56FCF4D-A355-4E73-A940-541DFB4F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38300"/>
            <a:ext cx="1752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оценивает</a:t>
            </a:r>
          </a:p>
        </p:txBody>
      </p:sp>
      <p:sp>
        <p:nvSpPr>
          <p:cNvPr id="6" name="text-508-172">
            <a:extLst xmlns:a="http://schemas.openxmlformats.org/drawingml/2006/main">
              <a:ext uri="{FF2B5EF4-FFF2-40B4-BE49-F238E27FC236}">
                <a16:creationId xmlns:a16="http://schemas.microsoft.com/office/drawing/2014/main" id="{A5C290F1-D529-4AF3-8D90-5FCAE9E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38300"/>
            <a:ext cx="33242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Какая задача</a:t>
            </a:r>
          </a:p>
        </p:txBody>
      </p:sp>
      <p:sp>
        <p:nvSpPr>
          <p:cNvPr id="7" name="text-873-172">
            <a:extLst xmlns:a="http://schemas.openxmlformats.org/drawingml/2006/main">
              <a:ext uri="{FF2B5EF4-FFF2-40B4-BE49-F238E27FC236}">
                <a16:creationId xmlns:a16="http://schemas.microsoft.com/office/drawing/2014/main" id="{A3195595-9C8F-48C6-A8EB-8587AC05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38300"/>
            <a:ext cx="2990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Как читать результат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48E3E-CEE3-46B9-9677-AE1FBDE1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0982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2BAE3-E93D-4DF5-819A-91C09002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9823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0-239">
            <a:extLst xmlns:a="http://schemas.openxmlformats.org/drawingml/2006/main">
              <a:ext uri="{FF2B5EF4-FFF2-40B4-BE49-F238E27FC236}">
                <a16:creationId xmlns:a16="http://schemas.microsoft.com/office/drawing/2014/main" id="{C98F188E-EB63-41FA-9D0B-CEE69BBF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76475"/>
            <a:ext cx="230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LiveCodeBench</a:t>
            </a:r>
          </a:p>
        </p:txBody>
      </p:sp>
      <p:sp>
        <p:nvSpPr>
          <p:cNvPr id="11" name="text-308-239">
            <a:extLst xmlns:a="http://schemas.openxmlformats.org/drawingml/2006/main">
              <a:ext uri="{FF2B5EF4-FFF2-40B4-BE49-F238E27FC236}">
                <a16:creationId xmlns:a16="http://schemas.microsoft.com/office/drawing/2014/main" id="{FE20849A-5BD2-4A03-91B4-DE840610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76475"/>
            <a:ext cx="1752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</a:t>
            </a:r>
          </a:p>
        </p:txBody>
      </p:sp>
      <p:sp>
        <p:nvSpPr>
          <p:cNvPr id="12" name="text-508-239">
            <a:extLst xmlns:a="http://schemas.openxmlformats.org/drawingml/2006/main">
              <a:ext uri="{FF2B5EF4-FFF2-40B4-BE49-F238E27FC236}">
                <a16:creationId xmlns:a16="http://schemas.microsoft.com/office/drawing/2014/main" id="{30D0D6C1-E6D0-456A-ACC3-B7E59F0F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76475"/>
            <a:ext cx="33242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генерация, execution, self-repair</a:t>
            </a:r>
          </a:p>
        </p:txBody>
      </p:sp>
      <p:sp>
        <p:nvSpPr>
          <p:cNvPr id="13" name="text-873-239">
            <a:extLst xmlns:a="http://schemas.openxmlformats.org/drawingml/2006/main">
              <a:ext uri="{FF2B5EF4-FFF2-40B4-BE49-F238E27FC236}">
                <a16:creationId xmlns:a16="http://schemas.microsoft.com/office/drawing/2014/main" id="{F92B2BCC-0D02-4AD5-8076-C7DDFF77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76475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кодовые задачи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E36D2-ADF9-46CB-B7B4-588A1E9C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50-313">
            <a:extLst xmlns:a="http://schemas.openxmlformats.org/drawingml/2006/main">
              <a:ext uri="{FF2B5EF4-FFF2-40B4-BE49-F238E27FC236}">
                <a16:creationId xmlns:a16="http://schemas.microsoft.com/office/drawing/2014/main" id="{27D7AB2E-5F9F-4E9B-8B70-9EC0AEBA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81325"/>
            <a:ext cx="230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BFCL</a:t>
            </a:r>
          </a:p>
        </p:txBody>
      </p:sp>
      <p:sp>
        <p:nvSpPr>
          <p:cNvPr id="16" name="text-308-313">
            <a:extLst xmlns:a="http://schemas.openxmlformats.org/drawingml/2006/main">
              <a:ext uri="{FF2B5EF4-FFF2-40B4-BE49-F238E27FC236}">
                <a16:creationId xmlns:a16="http://schemas.microsoft.com/office/drawing/2014/main" id="{63F03FF7-167C-497D-B9DD-65D73BEB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81325"/>
            <a:ext cx="1752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 + tools</a:t>
            </a:r>
          </a:p>
        </p:txBody>
      </p:sp>
      <p:sp>
        <p:nvSpPr>
          <p:cNvPr id="17" name="text-508-313">
            <a:extLst xmlns:a="http://schemas.openxmlformats.org/drawingml/2006/main">
              <a:ext uri="{FF2B5EF4-FFF2-40B4-BE49-F238E27FC236}">
                <a16:creationId xmlns:a16="http://schemas.microsoft.com/office/drawing/2014/main" id="{729277D2-6A79-456C-8BFF-108823E6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81325"/>
            <a:ext cx="33242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точность function calling</a:t>
            </a:r>
          </a:p>
        </p:txBody>
      </p:sp>
      <p:sp>
        <p:nvSpPr>
          <p:cNvPr id="18" name="text-873-313">
            <a:extLst xmlns:a="http://schemas.openxmlformats.org/drawingml/2006/main">
              <a:ext uri="{FF2B5EF4-FFF2-40B4-BE49-F238E27FC236}">
                <a16:creationId xmlns:a16="http://schemas.microsoft.com/office/drawing/2014/main" id="{1BB5C488-A3F4-476E-90E4-87DCA685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981325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single / multi-turn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17EF9-412B-42A8-8507-D8EBC3E1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56046-E216-4393-B318-08F2B9CA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109823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50-387">
            <a:extLst xmlns:a="http://schemas.openxmlformats.org/drawingml/2006/main">
              <a:ext uri="{FF2B5EF4-FFF2-40B4-BE49-F238E27FC236}">
                <a16:creationId xmlns:a16="http://schemas.microsoft.com/office/drawing/2014/main" id="{9AC82BD2-3BAA-45CD-ACD8-ECD2800E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86175"/>
            <a:ext cx="230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SWE-bench Verified</a:t>
            </a:r>
          </a:p>
        </p:txBody>
      </p:sp>
      <p:sp>
        <p:nvSpPr>
          <p:cNvPr id="22" name="text-308-387">
            <a:extLst xmlns:a="http://schemas.openxmlformats.org/drawingml/2006/main">
              <a:ext uri="{FF2B5EF4-FFF2-40B4-BE49-F238E27FC236}">
                <a16:creationId xmlns:a16="http://schemas.microsoft.com/office/drawing/2014/main" id="{7C9FD8C7-7B53-4D8B-8DA4-947C5E97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86175"/>
            <a:ext cx="1752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 + агент</a:t>
            </a:r>
          </a:p>
        </p:txBody>
      </p:sp>
      <p:sp>
        <p:nvSpPr>
          <p:cNvPr id="23" name="text-508-387">
            <a:extLst xmlns:a="http://schemas.openxmlformats.org/drawingml/2006/main">
              <a:ext uri="{FF2B5EF4-FFF2-40B4-BE49-F238E27FC236}">
                <a16:creationId xmlns:a16="http://schemas.microsoft.com/office/drawing/2014/main" id="{EA2839E5-4260-419E-8422-26150150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33242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реальные GitHub issues</a:t>
            </a:r>
          </a:p>
        </p:txBody>
      </p:sp>
      <p:sp>
        <p:nvSpPr>
          <p:cNvPr id="24" name="text-873-387">
            <a:extLst xmlns:a="http://schemas.openxmlformats.org/drawingml/2006/main">
              <a:ext uri="{FF2B5EF4-FFF2-40B4-BE49-F238E27FC236}">
                <a16:creationId xmlns:a16="http://schemas.microsoft.com/office/drawing/2014/main" id="{0F6FB559-502B-4AFB-B46B-6EC48126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86175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patch проходит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8D41E-E245-4365-B700-6FA745C3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50-461">
            <a:extLst xmlns:a="http://schemas.openxmlformats.org/drawingml/2006/main">
              <a:ext uri="{FF2B5EF4-FFF2-40B4-BE49-F238E27FC236}">
                <a16:creationId xmlns:a16="http://schemas.microsoft.com/office/drawing/2014/main" id="{ADE8417A-CCB6-40A1-BF00-BDD2FB78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91025"/>
            <a:ext cx="230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Terminal-Bench 2.0</a:t>
            </a:r>
          </a:p>
        </p:txBody>
      </p:sp>
      <p:sp>
        <p:nvSpPr>
          <p:cNvPr id="27" name="text-308-461">
            <a:extLst xmlns:a="http://schemas.openxmlformats.org/drawingml/2006/main">
              <a:ext uri="{FF2B5EF4-FFF2-40B4-BE49-F238E27FC236}">
                <a16:creationId xmlns:a16="http://schemas.microsoft.com/office/drawing/2014/main" id="{30621633-92DA-4C26-8F93-232B60AF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91025"/>
            <a:ext cx="1752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агент + среда</a:t>
            </a:r>
          </a:p>
        </p:txBody>
      </p:sp>
      <p:sp>
        <p:nvSpPr>
          <p:cNvPr id="28" name="text-508-461">
            <a:extLst xmlns:a="http://schemas.openxmlformats.org/drawingml/2006/main">
              <a:ext uri="{FF2B5EF4-FFF2-40B4-BE49-F238E27FC236}">
                <a16:creationId xmlns:a16="http://schemas.microsoft.com/office/drawing/2014/main" id="{68D4B3F0-41B1-48EA-A72C-FC6A6A41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91025"/>
            <a:ext cx="33242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реальные terminal workflows</a:t>
            </a:r>
          </a:p>
        </p:txBody>
      </p:sp>
      <p:sp>
        <p:nvSpPr>
          <p:cNvPr id="29" name="text-873-461">
            <a:extLst xmlns:a="http://schemas.openxmlformats.org/drawingml/2006/main">
              <a:ext uri="{FF2B5EF4-FFF2-40B4-BE49-F238E27FC236}">
                <a16:creationId xmlns:a16="http://schemas.microsoft.com/office/drawing/2014/main" id="{70F6316E-639F-42F1-A37B-9994997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391025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end-to-end выполнение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FFE8E8-CBA4-4D37-959A-0DB0828C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0DBA20-35D3-47F8-BF10-D8D39B7A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09823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50-535">
            <a:extLst xmlns:a="http://schemas.openxmlformats.org/drawingml/2006/main">
              <a:ext uri="{FF2B5EF4-FFF2-40B4-BE49-F238E27FC236}">
                <a16:creationId xmlns:a16="http://schemas.microsoft.com/office/drawing/2014/main" id="{52B02843-1726-4AEA-93F9-CF633A6E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230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Свой eval-набор</a:t>
            </a:r>
          </a:p>
        </p:txBody>
      </p:sp>
      <p:sp>
        <p:nvSpPr>
          <p:cNvPr id="33" name="text-308-535">
            <a:extLst xmlns:a="http://schemas.openxmlformats.org/drawingml/2006/main">
              <a:ext uri="{FF2B5EF4-FFF2-40B4-BE49-F238E27FC236}">
                <a16:creationId xmlns:a16="http://schemas.microsoft.com/office/drawing/2014/main" id="{BDB0EB12-8F6F-4BF5-94A3-ED05C634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95875"/>
            <a:ext cx="1752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ваш продукт</a:t>
            </a:r>
          </a:p>
        </p:txBody>
      </p:sp>
      <p:sp>
        <p:nvSpPr>
          <p:cNvPr id="34" name="text-508-535">
            <a:extLst xmlns:a="http://schemas.openxmlformats.org/drawingml/2006/main">
              <a:ext uri="{FF2B5EF4-FFF2-40B4-BE49-F238E27FC236}">
                <a16:creationId xmlns:a16="http://schemas.microsoft.com/office/drawing/2014/main" id="{8541DF90-0585-4436-8544-F016E0E7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95875"/>
            <a:ext cx="33242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ваши repo, права и DoD</a:t>
            </a:r>
          </a:p>
        </p:txBody>
      </p:sp>
      <p:sp>
        <p:nvSpPr>
          <p:cNvPr id="35" name="text-873-535">
            <a:extLst xmlns:a="http://schemas.openxmlformats.org/drawingml/2006/main">
              <a:ext uri="{FF2B5EF4-FFF2-40B4-BE49-F238E27FC236}">
                <a16:creationId xmlns:a16="http://schemas.microsoft.com/office/drawing/2014/main" id="{227E029B-A629-4A2D-9DA9-9E6D6E01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095875"/>
            <a:ext cx="2990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главный production-сигнал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4E5F5C-8DC6-4CED-9E21-03F70E51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C28CBF84-F685-41A8-ACDE-3EF4A8A5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237375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41-34">
            <a:extLst xmlns:a="http://schemas.openxmlformats.org/drawingml/2006/main">
              <a:ext uri="{FF2B5EF4-FFF2-40B4-BE49-F238E27FC236}">
                <a16:creationId xmlns:a16="http://schemas.microsoft.com/office/drawing/2014/main" id="{221C0E75-617A-4AE7-8840-2EC2B1D4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СЛЕДУЮЩИЕ ЛЕКЦИИ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0778C69E-2273-41CF-B06D-F0BFE559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Сравнение моделей и harness — отдельная тема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3F286-1995-4809-9B40-31CC5723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70-195">
            <a:extLst xmlns:a="http://schemas.openxmlformats.org/drawingml/2006/main">
              <a:ext uri="{FF2B5EF4-FFF2-40B4-BE49-F238E27FC236}">
                <a16:creationId xmlns:a16="http://schemas.microsoft.com/office/drawing/2014/main" id="{1CEF9709-4CDC-473B-B959-14D9E419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Сегодня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BFB48-5641-4A13-891D-A0F7C83C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110-315">
            <a:extLst xmlns:a="http://schemas.openxmlformats.org/drawingml/2006/main">
              <a:ext uri="{FF2B5EF4-FFF2-40B4-BE49-F238E27FC236}">
                <a16:creationId xmlns:a16="http://schemas.microsoft.com/office/drawing/2014/main" id="{BCC52487-AD6F-4A71-96D0-0FA07F36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4000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Понимаем устройство цикла
и собираем один рабочий trace</a:t>
            </a:r>
          </a:p>
        </p:txBody>
      </p:sp>
      <p:sp>
        <p:nvSpPr>
          <p:cNvPr id="7" name="text-710-195">
            <a:extLst xmlns:a="http://schemas.openxmlformats.org/drawingml/2006/main">
              <a:ext uri="{FF2B5EF4-FFF2-40B4-BE49-F238E27FC236}">
                <a16:creationId xmlns:a16="http://schemas.microsoft.com/office/drawing/2014/main" id="{C3A34163-515F-4786-8ED8-4100C3F6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Дальше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8CAFB-BA95-4C4B-BDFE-C5E7D52D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750-315">
            <a:extLst xmlns:a="http://schemas.openxmlformats.org/drawingml/2006/main">
              <a:ext uri="{FF2B5EF4-FFF2-40B4-BE49-F238E27FC236}">
                <a16:creationId xmlns:a16="http://schemas.microsoft.com/office/drawing/2014/main" id="{27B18188-2398-4307-899C-4591E100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4000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Фиксируем набор задач, метрики,
модель, harness и лимиты — затем сравниваем</a:t>
            </a:r>
          </a:p>
        </p:txBody>
      </p:sp>
      <p:sp>
        <p:nvSpPr>
          <p:cNvPr id="10" name="text-120-540">
            <a:extLst xmlns:a="http://schemas.openxmlformats.org/drawingml/2006/main">
              <a:ext uri="{FF2B5EF4-FFF2-40B4-BE49-F238E27FC236}">
                <a16:creationId xmlns:a16="http://schemas.microsoft.com/office/drawing/2014/main" id="{8A3FA69E-EC45-41F1-9E19-C45BCC35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Одного красивого демо недостаточно для выбора модели или агента.</a:t>
            </a:r>
          </a:p>
        </p:txBody>
      </p:sp>
      <p:sp>
        <p:nvSpPr>
          <p:cNvPr id="11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CDDC3514-A8DF-4506-B2C9-2D7F72E7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281566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41-34">
            <a:extLst xmlns:a="http://schemas.openxmlformats.org/drawingml/2006/main">
              <a:ext uri="{FF2B5EF4-FFF2-40B4-BE49-F238E27FC236}">
                <a16:creationId xmlns:a16="http://schemas.microsoft.com/office/drawing/2014/main" id="{BEBE561E-CCBD-46E7-9B42-95476D3F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ИТОГ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ABF11B58-9443-4EF2-8E1A-AD61F603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Пять вопросов к любому агенту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A8081-7EEF-4D5D-BB9B-9CB78D2B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5-190">
            <a:extLst xmlns:a="http://schemas.openxmlformats.org/drawingml/2006/main">
              <a:ext uri="{FF2B5EF4-FFF2-40B4-BE49-F238E27FC236}">
                <a16:creationId xmlns:a16="http://schemas.microsoft.com/office/drawing/2014/main" id="{2E84C7A3-62A0-4E0C-A758-722BF446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5" name="text-110-190">
            <a:extLst xmlns:a="http://schemas.openxmlformats.org/drawingml/2006/main">
              <a:ext uri="{FF2B5EF4-FFF2-40B4-BE49-F238E27FC236}">
                <a16:creationId xmlns:a16="http://schemas.microsoft.com/office/drawing/2014/main" id="{87F4D714-C9EE-41CE-9E3F-886B2BD4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ЦЕЛЬ</a:t>
            </a:r>
          </a:p>
        </p:txBody>
      </p:sp>
      <p:sp>
        <p:nvSpPr>
          <p:cNvPr id="6" name="text-110-225">
            <a:extLst xmlns:a="http://schemas.openxmlformats.org/drawingml/2006/main">
              <a:ext uri="{FF2B5EF4-FFF2-40B4-BE49-F238E27FC236}">
                <a16:creationId xmlns:a16="http://schemas.microsoft.com/office/drawing/2014/main" id="{E9B5BB6A-C948-473A-A751-9A887264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9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Как агент понимает, что работа закончена?</a:t>
            </a:r>
          </a:p>
        </p:txBody>
      </p:sp>
      <p:sp>
        <p:nvSpPr>
          <p:cNvPr id="7" name="text-45-290">
            <a:extLst xmlns:a="http://schemas.openxmlformats.org/drawingml/2006/main">
              <a:ext uri="{FF2B5EF4-FFF2-40B4-BE49-F238E27FC236}">
                <a16:creationId xmlns:a16="http://schemas.microsoft.com/office/drawing/2014/main" id="{0BE3D3DD-00C4-4A8C-A10B-F10F1584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62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8" name="text-110-290">
            <a:extLst xmlns:a="http://schemas.openxmlformats.org/drawingml/2006/main">
              <a:ext uri="{FF2B5EF4-FFF2-40B4-BE49-F238E27FC236}">
                <a16:creationId xmlns:a16="http://schemas.microsoft.com/office/drawing/2014/main" id="{B4E972B7-E394-4B5F-9265-0E80CAAB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ДЕЙСТВИЯ</a:t>
            </a:r>
          </a:p>
        </p:txBody>
      </p:sp>
      <p:sp>
        <p:nvSpPr>
          <p:cNvPr id="9" name="text-110-325">
            <a:extLst xmlns:a="http://schemas.openxmlformats.org/drawingml/2006/main">
              <a:ext uri="{FF2B5EF4-FFF2-40B4-BE49-F238E27FC236}">
                <a16:creationId xmlns:a16="http://schemas.microsoft.com/office/drawing/2014/main" id="{2DA99FAA-D2BA-42EE-B26D-98CE8DDE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Какие инструменты он может вызвать?</a:t>
            </a:r>
          </a:p>
        </p:txBody>
      </p:sp>
      <p:sp>
        <p:nvSpPr>
          <p:cNvPr id="10" name="text-45-390">
            <a:extLst xmlns:a="http://schemas.openxmlformats.org/drawingml/2006/main">
              <a:ext uri="{FF2B5EF4-FFF2-40B4-BE49-F238E27FC236}">
                <a16:creationId xmlns:a16="http://schemas.microsoft.com/office/drawing/2014/main" id="{BD6750C8-835C-4856-ABC5-8930B1E1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147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1" name="text-110-390">
            <a:extLst xmlns:a="http://schemas.openxmlformats.org/drawingml/2006/main">
              <a:ext uri="{FF2B5EF4-FFF2-40B4-BE49-F238E27FC236}">
                <a16:creationId xmlns:a16="http://schemas.microsoft.com/office/drawing/2014/main" id="{85F3DB54-74E8-466A-8236-206E8D80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ПРАВА</a:t>
            </a:r>
          </a:p>
        </p:txBody>
      </p:sp>
      <p:sp>
        <p:nvSpPr>
          <p:cNvPr id="12" name="text-110-425">
            <a:extLst xmlns:a="http://schemas.openxmlformats.org/drawingml/2006/main">
              <a:ext uri="{FF2B5EF4-FFF2-40B4-BE49-F238E27FC236}">
                <a16:creationId xmlns:a16="http://schemas.microsoft.com/office/drawing/2014/main" id="{A5D4FDEB-2C3E-4B8F-817A-E5AC6D2B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выполняется автоматически, а что требует человека?</a:t>
            </a:r>
          </a:p>
        </p:txBody>
      </p:sp>
      <p:sp>
        <p:nvSpPr>
          <p:cNvPr id="13" name="text-650-190">
            <a:extLst xmlns:a="http://schemas.openxmlformats.org/drawingml/2006/main">
              <a:ext uri="{FF2B5EF4-FFF2-40B4-BE49-F238E27FC236}">
                <a16:creationId xmlns:a16="http://schemas.microsoft.com/office/drawing/2014/main" id="{34DF5CAF-3474-4C22-8080-DF252CC1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4" name="text-715-190">
            <a:extLst xmlns:a="http://schemas.openxmlformats.org/drawingml/2006/main">
              <a:ext uri="{FF2B5EF4-FFF2-40B4-BE49-F238E27FC236}">
                <a16:creationId xmlns:a16="http://schemas.microsoft.com/office/drawing/2014/main" id="{D5000BD9-629A-447D-8EB8-8060FAE5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15" name="text-715-225">
            <a:extLst xmlns:a="http://schemas.openxmlformats.org/drawingml/2006/main">
              <a:ext uri="{FF2B5EF4-FFF2-40B4-BE49-F238E27FC236}">
                <a16:creationId xmlns:a16="http://schemas.microsoft.com/office/drawing/2014/main" id="{1DF571F5-E4D1-4F0A-8875-FEC82A4B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431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Какие данные подтверждают результат?</a:t>
            </a:r>
          </a:p>
        </p:txBody>
      </p:sp>
      <p:sp>
        <p:nvSpPr>
          <p:cNvPr id="16" name="text-650-290">
            <a:extLst xmlns:a="http://schemas.openxmlformats.org/drawingml/2006/main">
              <a:ext uri="{FF2B5EF4-FFF2-40B4-BE49-F238E27FC236}">
                <a16:creationId xmlns:a16="http://schemas.microsoft.com/office/drawing/2014/main" id="{9E36B703-46E7-4056-B8EE-C40FAD7D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7" name="text-715-290">
            <a:extLst xmlns:a="http://schemas.openxmlformats.org/drawingml/2006/main">
              <a:ext uri="{FF2B5EF4-FFF2-40B4-BE49-F238E27FC236}">
                <a16:creationId xmlns:a16="http://schemas.microsoft.com/office/drawing/2014/main" id="{2AB89836-C1A1-4B29-B6DF-F9BDBC03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ОСТАНОВКА</a:t>
            </a:r>
          </a:p>
        </p:txBody>
      </p:sp>
      <p:sp>
        <p:nvSpPr>
          <p:cNvPr id="18" name="text-715-325">
            <a:extLst xmlns:a="http://schemas.openxmlformats.org/drawingml/2006/main">
              <a:ext uri="{FF2B5EF4-FFF2-40B4-BE49-F238E27FC236}">
                <a16:creationId xmlns:a16="http://schemas.microsoft.com/office/drawing/2014/main" id="{03DF5653-E0E6-45FA-9B1D-E7FE8111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956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произойдёт при ошибке или зацикливании?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BF449-68ED-4D86-8C17-3E3F1ABD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810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00-548">
            <a:extLst xmlns:a="http://schemas.openxmlformats.org/drawingml/2006/main">
              <a:ext uri="{FF2B5EF4-FFF2-40B4-BE49-F238E27FC236}">
                <a16:creationId xmlns:a16="http://schemas.microsoft.com/office/drawing/2014/main" id="{5710D194-2D67-41D8-AB86-AFDD8EC6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Это чек-лист для разбора архитектуры, рисков и качества агента — не вопросы к самой модели.</a:t>
            </a:r>
          </a:p>
        </p:txBody>
      </p:sp>
      <p:sp>
        <p:nvSpPr>
          <p:cNvPr id="21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56B6AE4F-3092-4233-BBCF-07E0FECE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8546242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41-34">
            <a:extLst xmlns:a="http://schemas.openxmlformats.org/drawingml/2006/main">
              <a:ext uri="{FF2B5EF4-FFF2-40B4-BE49-F238E27FC236}">
                <a16:creationId xmlns:a16="http://schemas.microsoft.com/office/drawing/2014/main" id="{A9D05EC1-CF8A-4F48-A7CA-41D5EFC5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ФИНАЛ</a:t>
            </a:r>
          </a:p>
        </p:txBody>
      </p:sp>
      <p:sp>
        <p:nvSpPr>
          <p:cNvPr id="2" name="text-41-68">
            <a:extLst xmlns:a="http://schemas.openxmlformats.org/drawingml/2006/main">
              <a:ext uri="{FF2B5EF4-FFF2-40B4-BE49-F238E27FC236}">
                <a16:creationId xmlns:a16="http://schemas.microsoft.com/office/drawing/2014/main" id="{5A696315-E3A6-4648-9F3B-DFCC6F20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7700"/>
            <a:ext cx="110966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Рабочий агент = модель + цикл + контроль +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E22DD-8D05-4012-B01B-FDDE8908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F9901-470F-4E98-8896-8BC15D28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70-262">
            <a:extLst xmlns:a="http://schemas.openxmlformats.org/drawingml/2006/main">
              <a:ext uri="{FF2B5EF4-FFF2-40B4-BE49-F238E27FC236}">
                <a16:creationId xmlns:a16="http://schemas.microsoft.com/office/drawing/2014/main" id="{CDD16575-B280-49F7-B03D-F52144E3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</a:t>
            </a:r>
          </a:p>
        </p:txBody>
      </p:sp>
      <p:sp>
        <p:nvSpPr>
          <p:cNvPr id="6" name="text-301-256">
            <a:extLst xmlns:a="http://schemas.openxmlformats.org/drawingml/2006/main">
              <a:ext uri="{FF2B5EF4-FFF2-40B4-BE49-F238E27FC236}">
                <a16:creationId xmlns:a16="http://schemas.microsoft.com/office/drawing/2014/main" id="{2EBDB0C3-471C-41A6-BC30-8CF5C23A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38400"/>
            <a:ext cx="361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05540-583B-4594-BAEB-812BDCA0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60-262">
            <a:extLst xmlns:a="http://schemas.openxmlformats.org/drawingml/2006/main">
              <a:ext uri="{FF2B5EF4-FFF2-40B4-BE49-F238E27FC236}">
                <a16:creationId xmlns:a16="http://schemas.microsoft.com/office/drawing/2014/main" id="{DEB525CD-F28F-42E2-A141-6707832E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ЦИКЛ</a:t>
            </a:r>
          </a:p>
        </p:txBody>
      </p:sp>
      <p:sp>
        <p:nvSpPr>
          <p:cNvPr id="9" name="text-591-256">
            <a:extLst xmlns:a="http://schemas.openxmlformats.org/drawingml/2006/main">
              <a:ext uri="{FF2B5EF4-FFF2-40B4-BE49-F238E27FC236}">
                <a16:creationId xmlns:a16="http://schemas.microsoft.com/office/drawing/2014/main" id="{B20F2466-9679-4ADD-AB30-D3CEA036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438400"/>
            <a:ext cx="361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6405A-C7E2-435E-979C-76533C50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50-262">
            <a:extLst xmlns:a="http://schemas.openxmlformats.org/drawingml/2006/main">
              <a:ext uri="{FF2B5EF4-FFF2-40B4-BE49-F238E27FC236}">
                <a16:creationId xmlns:a16="http://schemas.microsoft.com/office/drawing/2014/main" id="{F6457541-2861-411B-B45C-470BF279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КОНТРОЛЬ</a:t>
            </a:r>
          </a:p>
        </p:txBody>
      </p:sp>
      <p:sp>
        <p:nvSpPr>
          <p:cNvPr id="12" name="text-881-256">
            <a:extLst xmlns:a="http://schemas.openxmlformats.org/drawingml/2006/main">
              <a:ext uri="{FF2B5EF4-FFF2-40B4-BE49-F238E27FC236}">
                <a16:creationId xmlns:a16="http://schemas.microsoft.com/office/drawing/2014/main" id="{DE6E2127-CE87-434D-8761-1032840F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38400"/>
            <a:ext cx="361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EC670-98AD-49FA-8A82-6F4AE7F7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940-262">
            <a:extLst xmlns:a="http://schemas.openxmlformats.org/drawingml/2006/main">
              <a:ext uri="{FF2B5EF4-FFF2-40B4-BE49-F238E27FC236}">
                <a16:creationId xmlns:a16="http://schemas.microsoft.com/office/drawing/2014/main" id="{69D7B6FF-4FDD-4DF9-A641-0033B32C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955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4303E-51DB-431D-8960-3F02D848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05-420">
            <a:extLst xmlns:a="http://schemas.openxmlformats.org/drawingml/2006/main">
              <a:ext uri="{FF2B5EF4-FFF2-40B4-BE49-F238E27FC236}">
                <a16:creationId xmlns:a16="http://schemas.microsoft.com/office/drawing/2014/main" id="{8E6AF64C-7904-4FE5-BEED-DB0FC943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1019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Модель предлагает следующий шаг. Система решает, можно ли его выполнить,
когда нужен человек и чем подтвердить результат.</a:t>
            </a:r>
          </a:p>
        </p:txBody>
      </p:sp>
      <p:sp>
        <p:nvSpPr>
          <p:cNvPr id="17" name="text-160-575">
            <a:extLst xmlns:a="http://schemas.openxmlformats.org/drawingml/2006/main">
              <a:ext uri="{FF2B5EF4-FFF2-40B4-BE49-F238E27FC236}">
                <a16:creationId xmlns:a16="http://schemas.microsoft.com/office/drawing/2014/main" id="{9C00A47F-4C40-4F8B-978B-F8F06748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 курса: измерять это на воспроизводимых evals.</a:t>
            </a:r>
          </a:p>
        </p:txBody>
      </p:sp>
      <p:sp>
        <p:nvSpPr>
          <p:cNvPr id="18" name="text-1184-665">
            <a:extLst xmlns:a="http://schemas.openxmlformats.org/drawingml/2006/main">
              <a:ext uri="{FF2B5EF4-FFF2-40B4-BE49-F238E27FC236}">
                <a16:creationId xmlns:a16="http://schemas.microsoft.com/office/drawing/2014/main" id="{A8EBFF5F-582A-425B-87AE-BB1ACEB4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23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0"/>
                </a:solidFill>
                <a:latin typeface="Helvetica Neue"/>
                <a:ea typeface="Helvetica Neue"/>
                <a:cs typeface="Helvetica Neue"/>
              </a:defRPr>
            </a:pPr>
            <a: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5130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2026-08-27T11:43:43.6340000Z</dcterms:created>
  <dcterms:modified xsi:type="dcterms:W3CDTF">2026-08-27T11:43:43.6340000Z</dcterms:modified>
</coreProperties>
</file>